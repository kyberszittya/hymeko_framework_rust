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91" r:id="rId3"/>
    <p:sldId id="290" r:id="rId4"/>
    <p:sldId id="257" r:id="rId5"/>
    <p:sldId id="289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96" r:id="rId17"/>
    <p:sldId id="268" r:id="rId18"/>
    <p:sldId id="269" r:id="rId19"/>
    <p:sldId id="270" r:id="rId20"/>
    <p:sldId id="271" r:id="rId21"/>
    <p:sldId id="272" r:id="rId22"/>
    <p:sldId id="285" r:id="rId23"/>
    <p:sldId id="273" r:id="rId24"/>
    <p:sldId id="286" r:id="rId25"/>
    <p:sldId id="274" r:id="rId26"/>
    <p:sldId id="275" r:id="rId27"/>
    <p:sldId id="276" r:id="rId28"/>
    <p:sldId id="284" r:id="rId29"/>
    <p:sldId id="277" r:id="rId30"/>
    <p:sldId id="281" r:id="rId31"/>
    <p:sldId id="288" r:id="rId32"/>
    <p:sldId id="279" r:id="rId33"/>
    <p:sldId id="293" r:id="rId34"/>
    <p:sldId id="294" r:id="rId35"/>
    <p:sldId id="295" r:id="rId36"/>
    <p:sldId id="292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8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01A40"/>
                </a:solidFill>
                <a:latin typeface="Bahnschrift"/>
              </a:defRPr>
            </a:pPr>
            <a:r>
              <a:rPr lang="hu-HU" sz="1200" b="0" i="0" u="none" strike="noStrike">
                <a:solidFill>
                  <a:srgbClr val="201A40"/>
                </a:solidFill>
                <a:latin typeface="Bahnschrift"/>
              </a:rPr>
              <a:t>Gömb-strict vs supervised baselines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Gömb-strict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Bitcoin α</c:v>
                </c:pt>
                <c:pt idx="1">
                  <c:v>Bitcoin OTC</c:v>
                </c:pt>
                <c:pt idx="2">
                  <c:v>Slashdot</c:v>
                </c:pt>
                <c:pt idx="3">
                  <c:v>Epinions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0.89700000000000002</c:v>
                </c:pt>
                <c:pt idx="1">
                  <c:v>0.91500000000000004</c:v>
                </c:pt>
                <c:pt idx="2">
                  <c:v>0.90200000000000002</c:v>
                </c:pt>
                <c:pt idx="3">
                  <c:v>0.94299999999999995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D2-4724-A24E-77121406FF0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SGCN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Bitcoin α</c:v>
                </c:pt>
                <c:pt idx="1">
                  <c:v>Bitcoin OTC</c:v>
                </c:pt>
                <c:pt idx="2">
                  <c:v>Slashdot</c:v>
                </c:pt>
                <c:pt idx="3">
                  <c:v>Epinions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0.92900000000000005</c:v>
                </c:pt>
                <c:pt idx="1">
                  <c:v>0.94199999999999995</c:v>
                </c:pt>
                <c:pt idx="2">
                  <c:v>0.91900000000000004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D2-4724-A24E-77121406FF0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SiGAT</c:v>
                </c:pt>
              </c:strCache>
            </c:strRef>
          </c:tx>
          <c:spPr>
            <a:solidFill>
              <a:srgbClr val="6FA0F7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Bitcoin α</c:v>
                </c:pt>
                <c:pt idx="1">
                  <c:v>Bitcoin OTC</c:v>
                </c:pt>
                <c:pt idx="2">
                  <c:v>Slashdot</c:v>
                </c:pt>
                <c:pt idx="3">
                  <c:v>Epinions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0.90300000000000002</c:v>
                </c:pt>
                <c:pt idx="1">
                  <c:v>0.93200000000000005</c:v>
                </c:pt>
                <c:pt idx="2">
                  <c:v>0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0D2-4724-A24E-77121406F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5"/>
        </c:scaling>
        <c:delete val="0"/>
        <c:axPos val="l"/>
        <c:majorGridlines>
          <c:spPr>
            <a:ln w="6350" cap="flat">
              <a:solidFill>
                <a:srgbClr val="E4DF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01A4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B5-439F-9C86-BA42540B8FBF}"/>
              </c:ext>
            </c:extLst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6B5-439F-9C86-BA42540B8FBF}"/>
              </c:ext>
            </c:extLst>
          </c:dPt>
          <c:cat>
            <c:strRef>
              <c:f>Sheet1!$A$2:$A$3</c:f>
              <c:strCache>
                <c:ptCount val="2"/>
                <c:pt idx="0">
                  <c:v>optuna-best (lean, h=4)
30.5 ms</c:v>
                </c:pt>
                <c:pt idx="1">
                  <c:v>joint mix (h=16)
342 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</c:v>
                </c:pt>
                <c:pt idx="1">
                  <c:v>342.3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6B5-439F-9C86-BA42540B8F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01A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918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23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PhD SEMINAR · KATO LABORATORY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155448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HyMeKo</a:t>
            </a:r>
            <a:endParaRPr lang="en-US" sz="8800" dirty="0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9D6E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Hypergraph Model Cognition Framework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640080" y="3703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From declarative hypergraph structure to structural-prior learning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4846320"/>
            <a:ext cx="73152" cy="640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Csaba Hajdu</a:t>
            </a:r>
            <a:endParaRPr lang="en-US" sz="1600" dirty="0"/>
          </a:p>
          <a:p>
            <a:pPr marL="0" indent="0"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Hypergraph systems · signed-graph learning · June 2026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900" dirty="0"/>
          </a:p>
        </p:txBody>
      </p:sp>
      <p:pic>
        <p:nvPicPr>
          <p:cNvPr id="33" name="Picture 32" descr="deco_h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83080"/>
            <a:ext cx="3383280" cy="3001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Contributions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49961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DSL + Rust compiler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declarative hypergraph language with a SIMD-lexed, LALRPOP-parsed pipeline to a hashed hypergraph 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5968" y="12801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44568" y="150876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4456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47488" y="149961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Star-expansion zero-copy pipeline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4568" y="2240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O(|E|·d) incidence path that streams hypergraphs into PyTorch with sub-100-µs, topology-gated updates.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9016" y="12801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357616" y="150876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5761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60536" y="149961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Query-driven codegen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57616" y="2240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query+template mechanism emits URDF, SDF, MJCF, DOT, ROS 2 launch and torch modules — no recompile.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502152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730752"/>
            <a:ext cx="384048" cy="38404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37216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Structural-prior model family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44622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SignedKAN / HSiKAN / Gömb: cycle-pool priors with KAN activations at SOTA-range AUC and lean parameters.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15968" y="3502152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44568" y="3730752"/>
            <a:ext cx="384048" cy="38404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44568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47488" y="37216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Honest-protocol methodology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44568" y="44622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Label-shuffle leakage audits, 5-seed paired significance, and artifact-backed evidence discipline.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29016" y="3502152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357616" y="3730752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357616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860536" y="37216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unified substrate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57616" y="44622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same hypergraph IR underlies both the engineering and the learning — structure as a first-class prior.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201A40"/>
                </a:solidFill>
                <a:latin typeface="Futura"/>
              </a:rPr>
              <a:t>HyMeKo, in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Hypergraph Model Cognition — one substrate for representing and learning from structured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247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201A40"/>
                </a:solidFill>
                <a:latin typeface="Bahnschrift"/>
              </a:rPr>
              <a:t>HyMeKo treats the hypergraph as a first-class object. A small declarative language describes a system's parts and the signed, hierarchical, many-to-many relations among them; one engine both renders that structure to many target formats and exposes it to models that learn from the graph's own cycles — so the structure the framework compiles is the structure the model reasons over.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611880"/>
            <a:ext cx="2706624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3867912"/>
            <a:ext cx="23408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Declarative DSL +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2340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.hymeko → canonical hypergraph IR with Blake3 content-hash identity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10712" y="3611880"/>
            <a:ext cx="2706624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93592" y="3867912"/>
            <a:ext cx="23408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Cross-view codegen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4663440"/>
            <a:ext cx="2340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one query + template engine → URDF · SDF · MJCF · SysML v2 · PyTorch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8504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18504" y="3611880"/>
            <a:ext cx="2706624" cy="9144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3867912"/>
            <a:ext cx="23408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Zero-copy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4663440"/>
            <a:ext cx="2340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O(|E|·d) star expansion streamed to PyTorch via Arrow / DLPack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26296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226296" y="3611880"/>
            <a:ext cx="2706624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09176" y="3867912"/>
            <a:ext cx="23408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Structural-prior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6" y="4663440"/>
            <a:ext cx="2340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SignedKAN → HSiKAN → Gömb; cycles as a KAN inductive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Why hypergraphs?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Real systems are n-ary, not pairwise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robot joint couples a parent and child link and an axis; a trust vote ties voter, target and sign; a chemical unit binds many reactants; a neural layer fuses many input tensors.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Forcing these relations into pairwise edges means clique projection — every k-ary relation becomes a fully-connected subgraph.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cost is twofold: the projected adjacency explodes as O(|E|·d²), and the identity of the relation itself is lost.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92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Two needs follow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52303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represent and operate on hypergraphs faithfully    ·    learn from their structure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60920" y="118872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pic>
        <p:nvPicPr>
          <p:cNvPr id="32" name="Picture 31" descr="motiv_5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517" y="1348740"/>
            <a:ext cx="363648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900" b="1" i="0">
                <a:solidFill>
                  <a:srgbClr val="201A40"/>
                </a:solidFill>
                <a:latin typeface="Futura"/>
              </a:rPr>
              <a:t>Typical hypergraphs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6B6690"/>
                </a:solidFill>
                <a:latin typeface="Bahnschrift"/>
              </a:rPr>
              <a:t>From the textbook to the engine — each is a .hymeko fixture in data/typical_graphs/, drawn here as hyperedge sets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6207" y="1600200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4187952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36207" y="4187952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91640"/>
            <a:ext cx="5166359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Fano plane (Steiner triple S(2,3,7))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2057400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52928" y="2112264"/>
            <a:ext cx="2944367" cy="1691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fano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n0 n1 n2 n3 n4 n5 n6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@e0 (~n0,~n1,~n3);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@e1 (~n0,~n2,~n6);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@e2 (~n0,~n4,~n5);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@e3 (~n1,~n2,~n4);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@e4 (~n2,~n3,~n5);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@e5 (~n3,~n4,~n6);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@e6 (~n1,~n5,~n6);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691640"/>
            <a:ext cx="5166359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Generic hypergraph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76488" y="2057400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86215" y="2112264"/>
            <a:ext cx="2944367" cy="1691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generic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a b c d e f g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@e0 (~a,~b,~c);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@e1 (~c,~d,~f);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@e2 (~d,~e);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@e3 (~c,~g,~f);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5166359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Complete 3-uniform  K4(3)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645152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52928" y="4700016"/>
            <a:ext cx="2944367" cy="1691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k4_3uniform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v1 v2 v3 v4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@f123 (~v1,~v2,~v3);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@f124 (~v1,~v2,~v4);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@f134 (~v1,~v3,~v4);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@f234 (~v2,~v3,~v4);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279392"/>
            <a:ext cx="5166359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Sunflower (Δ-system)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4645152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86215" y="4700016"/>
            <a:ext cx="2944367" cy="1691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sunflower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core_a core_b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p1a p1b p2a p2b p3a p3b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@petal1 (~core_a,~core_b,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         ~p1a,~p1b);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@petal2 (~core_a,~core_b,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         ~p2a,~p2b);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@petal3 (~core_a,~core_b,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         ~p3a,~p3b);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34" y="2066543"/>
            <a:ext cx="1958491" cy="1755648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40714"/>
            <a:ext cx="2002536" cy="1589019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67" y="4645152"/>
            <a:ext cx="1705825" cy="1755648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817" y="4645152"/>
            <a:ext cx="183650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hyperedge and its signed incidence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star expansion is the bipartite Levi / Berge incidence — one hub per hyperedge, with signed + / − arcs to its member vertices</a:t>
            </a:r>
            <a:endParaRPr lang="en-US" sz="1450" dirty="0"/>
          </a:p>
        </p:txBody>
      </p:sp>
      <p:pic>
        <p:nvPicPr>
          <p:cNvPr id="4" name="Image 0" descr="levi_hyper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984" y="1874520"/>
            <a:ext cx="7863840" cy="3858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587044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Left: the hypergraph (hyperedges e_a, e_b over vertices). Right: each hyperedge becomes a hub; + / − arcs encode the signed incidence — the O(|E|·d) star tensor the engine streams to PyTorch.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One substrate, two payoffs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thesis in a single picture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717036" y="1691640"/>
            <a:ext cx="4754880" cy="1051560"/>
          </a:xfrm>
          <a:prstGeom prst="roundRect">
            <a:avLst>
              <a:gd name="adj" fmla="val 8696"/>
            </a:avLst>
          </a:prstGeom>
          <a:solidFill>
            <a:srgbClr val="F4F1FC"/>
          </a:solidFill>
          <a:ln w="1905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717036" y="1691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hypergraph substrate
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DSL · one IR · structure as a first-class object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448556" y="2743200"/>
            <a:ext cx="0" cy="114300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40396" y="2743200"/>
            <a:ext cx="1645920" cy="1143000"/>
          </a:xfrm>
          <a:prstGeom prst="line">
            <a:avLst/>
          </a:prstGeom>
          <a:noFill/>
          <a:ln w="31750">
            <a:solidFill>
              <a:srgbClr val="0E9D6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3931920"/>
            <a:ext cx="49377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3931920"/>
            <a:ext cx="91440" cy="2103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Declarative DSL + Rust compiler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Star-expansion zero-copy pipeline → PyTorch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Query-driven robotics codegen (URDF/SDF/MJCF/ROS 2)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3931920"/>
            <a:ext cx="49377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46520" y="3931920"/>
            <a:ext cx="91440" cy="210312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LEARNING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 priors: cycles &amp; walks as tuples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SignedKAN / HSiKAN / Gömb architectures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SOTA-range signed-graph link prediction, lean params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What HyMeKo describes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declarative model of structured systems as signed, hierarchical hypergraphs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captures a system's parts and the n-ary, signed, hierarchical relations among them in one canonical hypergraph IR with content-hash identity — then renders that single description into many views.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697480"/>
            <a:ext cx="2624328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990088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Robotic &amp; cyber-physical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04088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links · joints · axes · signs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URDF · SDF · MJCF · Gazebo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5848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55848" y="2697480"/>
            <a:ext cx="2624328" cy="10972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84448" y="2990088"/>
            <a:ext cx="310896" cy="3108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57016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Systems engineering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57016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components · ports · flows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57016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SysML v2 · MBSE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08776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08776" y="2697480"/>
            <a:ext cx="2624328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37376" y="2990088"/>
            <a:ext cx="310896" cy="310896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9944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 relational graphs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9944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trust votes · balance · cycles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9944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link prediction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061704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061704" y="2697480"/>
            <a:ext cx="2624328" cy="10972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290304" y="2990088"/>
            <a:ext cx="310896" cy="310896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62872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Neural dataflow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2872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tensors · layers · signed hyperarcs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62872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78BF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torch module · NAS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" y="5257800"/>
            <a:ext cx="11201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canonical hypergraph IR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 ·   Blake3 structural identity   ·   cross-view consistency across every emitted target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Goals at two levels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 the language aims to do, and what the infrastructure underneath aims to deliver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86400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language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2478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MODELLING GOALS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4773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declarative source of truth for n-ary, signed, hierarchical structure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Cross-view consistency — many targets, one IR, provably the same system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Canonical hashing for structural identity and equality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Bridge model-based systems engineering (SysML) with executable robotics &amp; ML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9632" y="16916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99632" y="1691640"/>
            <a:ext cx="5486400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19672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infrastructure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37960" y="2478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ENGINE GOALS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65392" y="2971800"/>
            <a:ext cx="4773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High-performance Rust engine — SIMD lexer, ~15 crates, 500+ passing tests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Real-time zero-copy streaming to PyTorch — O(|E|·d) star, sub-100-µs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Multi-surface: PyO3 wheel · WebAssembly editor · MCP server · REST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Reproducibility: benchmark harness, paired-seed evidence, 16 GB memory budget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27432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HyMeKo Framework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6868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domain-specific language and a high-performance Rust engine for hypergraphs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pic>
        <p:nvPicPr>
          <p:cNvPr id="22" name="Picture 21" descr="deco_h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566160" cy="3163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declarative language for hypergraphs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Hyperedges are first-class</a:t>
            </a:r>
            <a:endParaRPr lang="en-US" sz="150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edges connect arbitrary numbers of nodes, not just pairs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Hierarchical paths</a:t>
            </a:r>
            <a:endParaRPr lang="en-US" sz="150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nodes nest; references resolve through dot-paths like Root.A.B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 arc bindings</a:t>
            </a:r>
            <a:endParaRPr lang="en-US" sz="150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+/− mark the orientation of a relation (parent/child, in/out)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Tags = roles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&lt;link&gt;, &lt;input&gt;, &lt;dataflow&gt; classify a node's semantics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06440" y="1234440"/>
            <a:ext cx="5897880" cy="4434840"/>
          </a:xfrm>
          <a:prstGeom prst="roundRect">
            <a:avLst>
              <a:gd name="adj" fmla="val 1237"/>
            </a:avLst>
          </a:prstGeom>
          <a:solidFill>
            <a:srgbClr val="241B4A"/>
          </a:solidFill>
          <a:ln/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0" y="14173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robot.hymeko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5257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 {}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{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   : link  { mass 2.0;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arm    : link  { mass 0.6;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wheel  : link  { mass 0.3;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@shoulder : rev_joint {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(+base, -arm);       // parent + / child -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axis [0, 0, 1];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@hub : conti_joint {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(+base, -wheel);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From source text to a hypergraph IR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complete compiler pipeline, written in Rust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41605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292608" cy="29260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88720" y="43159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Blake3
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content-hash node identity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297680" y="41605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26280" y="4389120"/>
            <a:ext cx="292608" cy="29260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43159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Symbol interning
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memory-efficient paths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92440" y="41605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321040" y="4389120"/>
            <a:ext cx="292608" cy="29260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778240" y="43159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 / clique
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two tensor expansions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  <p:pic>
        <p:nvPicPr>
          <p:cNvPr id="36" name="Picture 35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045" y="1874519"/>
            <a:ext cx="86948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Star vs clique: the efficiency argument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Same 50-node / 50-edge / 0.30-density hypergraph, two materialisations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91440" cy="109728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/>
              <p:nvPr/>
            </p:nvSpPr>
            <p:spPr>
              <a:xfrm>
                <a:off x="777240" y="1783080"/>
                <a:ext cx="493776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500" b="1" dirty="0">
                    <a:solidFill>
                      <a:srgbClr val="0E9D6E"/>
                    </a:solidFill>
                    <a:latin typeface="Bahnschrift" pitchFamily="34" charset="0"/>
                    <a:ea typeface="Bahnschrift" pitchFamily="34" charset="-122"/>
                    <a:cs typeface="Bahnschrift" pitchFamily="34" charset="-120"/>
                  </a:rPr>
                  <a:t>STAR · incidence   </a:t>
                </a:r>
                <a14:m>
                  <m:oMath xmlns:m="http://schemas.openxmlformats.org/officeDocument/2006/math"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𝑂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(|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𝐸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|·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𝑑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)</m:t>
                    </m:r>
                  </m:oMath>
                </a14:m>
                <a:endParaRPr lang="en-US" sz="1500" dirty="0"/>
              </a:p>
            </p:txBody>
          </p:sp>
        </mc:Choice>
        <mc:Fallback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783080"/>
                <a:ext cx="4937760" cy="365760"/>
              </a:xfrm>
              <a:prstGeom prst="rect">
                <a:avLst/>
              </a:prstGeom>
              <a:blipFill>
                <a:blip r:embed="rId3"/>
                <a:stretch>
                  <a:fillRect l="-2346" b="-1166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7"/>
          <p:cNvSpPr/>
          <p:nvPr/>
        </p:nvSpPr>
        <p:spPr>
          <a:xfrm>
            <a:off x="777240" y="22128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1,498 NNZ      </a:t>
            </a:r>
            <a:r>
              <a:rPr lang="en-US" sz="17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79.7 ms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9144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/>
              <p:nvPr/>
            </p:nvSpPr>
            <p:spPr>
              <a:xfrm>
                <a:off x="6583680" y="1783080"/>
                <a:ext cx="493776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500" b="1" dirty="0">
                    <a:solidFill>
                      <a:srgbClr val="2563EB"/>
                    </a:solidFill>
                    <a:latin typeface="Bahnschrift" pitchFamily="34" charset="0"/>
                    <a:ea typeface="Bahnschrift" pitchFamily="34" charset="-122"/>
                    <a:cs typeface="Bahnschrift" pitchFamily="34" charset="-120"/>
                  </a:rPr>
                  <a:t>CLIQUE · projected adjacency   </a:t>
                </a:r>
                <a14:m>
                  <m:oMath xmlns:m="http://schemas.openxmlformats.org/officeDocument/2006/math"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𝑂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(|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𝐸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|·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𝑑</m:t>
                    </m:r>
                    <m:r>
                      <a:rPr lang="en-US" sz="1300" i="1" dirty="0" smtClean="0">
                        <a:solidFill>
                          <a:srgbClr val="6B6690"/>
                        </a:solidFill>
                        <a:latin typeface="Cambria Math" panose="02040503050406030204" pitchFamily="18" charset="0"/>
                        <a:ea typeface="Bahnschrift" pitchFamily="34" charset="-122"/>
                        <a:cs typeface="Bahnschrift" pitchFamily="34" charset="-120"/>
                      </a:rPr>
                      <m:t>²)</m:t>
                    </m:r>
                  </m:oMath>
                </a14:m>
                <a:endParaRPr lang="en-US" sz="1500" dirty="0"/>
              </a:p>
            </p:txBody>
          </p:sp>
        </mc:Choice>
        <mc:Fallback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783080"/>
                <a:ext cx="4937760" cy="365760"/>
              </a:xfrm>
              <a:prstGeom prst="rect">
                <a:avLst/>
              </a:prstGeom>
              <a:blipFill>
                <a:blip r:embed="rId4"/>
                <a:stretch>
                  <a:fillRect l="-2346" b="-1166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11"/>
          <p:cNvSpPr/>
          <p:nvPr/>
        </p:nvSpPr>
        <p:spPr>
          <a:xfrm>
            <a:off x="6583680" y="22128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10,991 NNZ      </a:t>
            </a:r>
            <a:r>
              <a:rPr lang="en-US" sz="17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496 ms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0292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 expansion is what keeps hypergraph neural networks scalable.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endParaRPr lang="en-US" sz="900" dirty="0"/>
          </a:p>
        </p:txBody>
      </p:sp>
      <p:pic>
        <p:nvPicPr>
          <p:cNvPr id="21" name="Picture 20" descr="tensor_pane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0950" y="2880360"/>
            <a:ext cx="6247051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zero-copy bridge to the GPU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Control plane and data plane are separated; topology changes and weight streams take different paths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82296" cy="1417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2084832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Rust core + daemon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Blake3 topology hash · Iceoryx2 service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01568" y="2628900"/>
            <a:ext cx="283464" cy="0"/>
          </a:xfrm>
          <a:prstGeom prst="line">
            <a:avLst/>
          </a:prstGeom>
          <a:noFill/>
          <a:ln w="2540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703320" y="192024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703320" y="1920240"/>
            <a:ext cx="82296" cy="141732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04488" y="2084832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Shared memory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Apache Arrow record batches in /dev/shm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01968" y="2628900"/>
            <a:ext cx="283464" cy="0"/>
          </a:xfrm>
          <a:prstGeom prst="line">
            <a:avLst/>
          </a:prstGeom>
          <a:noFill/>
          <a:ln w="2540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903720" y="192024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903720" y="1920240"/>
            <a:ext cx="82296" cy="141732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04888" y="2084832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PyO3 + DLPack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 pointer · zero-copy handshake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02368" y="2628900"/>
            <a:ext cx="283464" cy="0"/>
          </a:xfrm>
          <a:prstGeom prst="line">
            <a:avLst/>
          </a:prstGeom>
          <a:noFill/>
          <a:ln w="2540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104120" y="1920240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104120" y="1920240"/>
            <a:ext cx="82296" cy="141732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305288" y="2084832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PyTorch GPU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training loop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3886200"/>
            <a:ext cx="11201400" cy="1783080"/>
          </a:xfrm>
          <a:prstGeom prst="roundRect">
            <a:avLst>
              <a:gd name="adj" fmla="val 4103"/>
            </a:avLst>
          </a:prstGeom>
          <a:solidFill>
            <a:srgbClr val="F4F1FC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topology-hash gate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434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hash changed → 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 update: re-emit Arrow mapping (k, i, j), subscriber re-maps memory.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" y="48463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hash same → 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 path: stream raw f32 weights only — no re-allocation, no serialization.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464040" y="4069080"/>
            <a:ext cx="2011680" cy="13716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464040" y="422452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&lt; 100 µs
</a:t>
            </a:r>
            <a:endParaRPr lang="en-US" sz="2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9E2F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memory injection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is modelled in SysML 2 — control-plane / data-plane, sequence, and state views.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Query-driven transforms: one graph, many targets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compiled hypergraph becomes any text output through a </a:t>
            </a: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query + template</a:t>
            </a: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pair.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Rust, no recompile — the engine stays domain-neutral.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606040"/>
            <a:ext cx="5486400" cy="3017520"/>
          </a:xfrm>
          <a:prstGeom prst="roundRect">
            <a:avLst>
              <a:gd name="adj" fmla="val 2121"/>
            </a:avLst>
          </a:prstGeom>
          <a:solidFill>
            <a:srgbClr val="241B4A"/>
          </a:solidFill>
          <a:ln/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queries.hymeko  +  template.urdf.xml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5074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links:            link        {}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@revolute_joints: rev_joint   {}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{{#each revolute_joints}}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&lt;joint name="{{name}}" type="revolute"&gt;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&lt;parent link="{{bind:+:0}}"/&gt;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&lt;child  link="{{bind:-:0}}"/&gt;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&lt;/joint&gt;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{{/each}}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58064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6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hymeko transform robot.hymeko -t urdf -o robot.urdf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46520" y="1280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IR, many targets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66420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Pair-wise converters (N×M) collapse to a hub-and-spoke (N+M) around the canonical IR.</a:t>
            </a:r>
            <a:endParaRPr lang="en-US" sz="1150" dirty="0"/>
          </a:p>
        </p:txBody>
      </p:sp>
      <p:pic>
        <p:nvPicPr>
          <p:cNvPr id="12" name="Image 0" descr="pairwise_vs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331720"/>
            <a:ext cx="5285232" cy="18653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530352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050" i="1">
                <a:solidFill>
                  <a:srgbClr val="6B6690"/>
                </a:solidFill>
                <a:latin typeface="Bahnschrift"/>
              </a:rPr>
              <a:t>Cross-format invariant: one source → consistent outputs, one canonical hash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336" y="4498848"/>
            <a:ext cx="4213887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202035"/>
                </a:solidFill>
                <a:latin typeface="Futura"/>
              </a:rPr>
              <a:t>How compact is the DSL?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Bahnschrift"/>
              </a:rPr>
              <a:t>PART I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06070"/>
                </a:solidFill>
                <a:latin typeface="Bahnschrift"/>
              </a:rPr>
              <a:t>Same kinematic structure, character counts — HyMeKo vs the XML schemas it compiles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E6B4F"/>
                </a:solidFill>
                <a:latin typeface="Bahnschrift"/>
              </a:rPr>
              <a:t>Consistently shorter than URDF — ~1.8× (full 6-DoF arm) to ~2.5× (minimal links).</a:t>
            </a:r>
          </a:p>
          <a:p>
            <a:r>
              <a:rPr sz="1200">
                <a:solidFill>
                  <a:srgbClr val="505060"/>
                </a:solidFill>
                <a:latin typeface="Bahnschrift"/>
              </a:rPr>
              <a:t>6-DoF row = same robot at parity: links, joints, geometry, inertia and the source's colours/origins in every format (MJCF colours emitted as materials). Sensor &amp; control blocks excluded — URDF/MJCF can't express them. One source → URDF / SDF / MJCF / DOT / Mermaid.  (PhD defense, Thesis I.)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A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090A0"/>
                </a:solidFill>
                <a:latin typeface="Bahnschrift"/>
              </a:rPr>
              <a:t>16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2011680"/>
            <a:ext cx="2788920" cy="20916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0" y="4158234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606070"/>
                </a:solidFill>
                <a:latin typeface="Bahnschrift"/>
              </a:rPr>
              <a:t>The generated robot, simulated in MuJoCo — compiled from the same .hymeko source.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2880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Kinematic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HyMeKo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URDF (XML)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MuJoCo (XML)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2-joint connection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E6B4F"/>
                          </a:solidFill>
                          <a:latin typeface="Bahnschrift"/>
                        </a:rP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91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SCARA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E6B4F"/>
                          </a:solidFill>
                          <a:latin typeface="Bahnschrift"/>
                        </a:rP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252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129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6-DoF arm (anthropomorphic)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E6B4F"/>
                          </a:solidFill>
                          <a:latin typeface="Bahnschrift"/>
                        </a:rPr>
                        <a:t>2,779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5,088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35"/>
                          </a:solidFill>
                          <a:latin typeface="Bahnschrift"/>
                        </a:rPr>
                        <a:t>1,733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Built like a system, not a script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Systems-engineering discipline is part of the contribution, not an afterthought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18562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SysML 2 models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225856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architecture view — use-case, sequence, state, layered — has a formal SysML 2 companion beside its Mermaid rendering.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73952" y="18562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Workspace of crates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7490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37490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58952" y="3913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Core protection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58952" y="431596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CORE.YAML contract marks load-bearing modules read-only; any core change requires a written plan and migration path first.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73952" y="3913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Plan-first protocol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73952" y="431596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Non-trivial changes ship a four-format plan (LaTeX, PDF, TikZ, Mermaid) before code — an audit trail, not improvisation.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17</a:t>
            </a:r>
            <a:endParaRPr lang="en-US" sz="900" dirty="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2304288"/>
            <a:ext cx="5074920" cy="103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3952" y="3376624"/>
            <a:ext cx="502920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050" i="1">
                <a:solidFill>
                  <a:srgbClr val="6B6690"/>
                </a:solidFill>
                <a:latin typeface="Bahnschrift"/>
              </a:rPr>
              <a:t>~25 hymeko_* crates · explicit dependency boundaries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27432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Learning on Structure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6868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When the graph's own cycles become the model's inductive prior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18</a:t>
            </a:r>
            <a:endParaRPr lang="en-US" sz="900" dirty="0"/>
          </a:p>
        </p:txBody>
      </p:sp>
      <p:pic>
        <p:nvPicPr>
          <p:cNvPr id="22" name="Picture 21" descr="deco_h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566160" cy="31636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From structure to inductive prior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532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 graphs</a:t>
            </a:r>
            <a:endParaRPr lang="en-US" sz="135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trust networks with +/− edges (Bitcoin, Slashdot, Epinions, Wikipedia votes).</a:t>
            </a:r>
            <a:endParaRPr lang="en-US" sz="13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structural signal</a:t>
            </a:r>
            <a:endParaRPr lang="en-US" sz="135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balance theory lives in cycles — the product of signs around a cycle predicts a missing edge's sign. Cycles and walks become tuples.</a:t>
            </a:r>
            <a:endParaRPr lang="en-US" sz="13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Kolmogorov–Arnold activations</a:t>
            </a:r>
            <a:endParaRPr lang="en-US" sz="13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SignedKAN / HSiKAN replace ReLU with learnable Catmull–Rom basis activations over those tuples.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358444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Cycle-arity compass — the mechanism-family fingerprint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1234440"/>
            <a:ext cx="5440680" cy="4434840"/>
          </a:xfrm>
          <a:prstGeom prst="roundRect">
            <a:avLst>
              <a:gd name="adj" fmla="val 1443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same substrate expresses the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92240" y="17830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HSiKAN's architecture and training loop are written in .hymeko — layers are nodes, the dataflow is signed hyperarcs: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92240" y="2606040"/>
            <a:ext cx="5029200" cy="1828800"/>
          </a:xfrm>
          <a:prstGeom prst="roundRect">
            <a:avLst>
              <a:gd name="adj" fmla="val 2500"/>
            </a:avLst>
          </a:prstGeom>
          <a:solidFill>
            <a:srgbClr val="241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675120" y="274320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sk_k3 : signedkan_layer { arity 3;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sk_k4 : signedkan_layer { arity 4;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mixer : arity_mixer { mix_K 2;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@flow_k3  (+t_in, ~sk_k3, -t_emb_k3);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@flow_mix (+t_emb_k3, +t_emb_k4,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~mixer, -t_emb);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92240" y="45720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search even becomes a P-graph feasibility problem on the same IR.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19</a:t>
            </a:r>
            <a:endParaRPr lang="en-US" sz="900" dirty="0"/>
          </a:p>
        </p:txBody>
      </p:sp>
      <p:pic>
        <p:nvPicPr>
          <p:cNvPr id="16" name="Picture 15" descr="kcycl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6692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model family: SignedKAN → HSiKAN → Gömb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Three layers of the same idea — learnable spline activations driven by graph structure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611880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0756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SignedKAN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49808" y="256946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BASE LAYER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2935224"/>
            <a:ext cx="31181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Kolmogorov–Arnold layer for signed graphs: learnable Catmull–Rom spline activations replace fixed ReLU, applied to signed edge / cycle features.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4251960"/>
            <a:ext cx="3118104" cy="411480"/>
          </a:xfrm>
          <a:prstGeom prst="roundRect">
            <a:avLst>
              <a:gd name="adj" fmla="val 1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KAN activations on signed features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33088" y="3291840"/>
            <a:ext cx="210312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61688" y="178308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61688" y="1783080"/>
            <a:ext cx="3611880" cy="10972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90288" y="20756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HSiKAN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608576" y="256946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 SIGNED-GRAPH KAN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08576" y="2935224"/>
            <a:ext cx="31181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Lifts SignedKAN to hyperedges and mixed arity: per-arity layers (k = 3, 4, …) over cycle &amp; walk tuples, fused by an arity mixer; per-edge CR recipe.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08576" y="4251960"/>
            <a:ext cx="3118104" cy="411480"/>
          </a:xfrm>
          <a:prstGeom prst="roundRect">
            <a:avLst>
              <a:gd name="adj" fmla="val 1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27448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 hyperedges · mixed arity · per-edge CR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91856" y="3291840"/>
            <a:ext cx="210312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220456" y="178308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0E9D6E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220456" y="1783080"/>
            <a:ext cx="3611880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449056" y="20756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Gömb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8467344" y="256946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STRICT CASCADE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467344" y="2935224"/>
            <a:ext cx="31181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deployable configuration: FIR → HSiKAN-CR → CPML, with the cycle pool enumerated over training edges only — SOTA-range, lean, leakage-free.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67344" y="4251960"/>
            <a:ext cx="3118104" cy="411480"/>
          </a:xfrm>
          <a:prstGeom prst="roundRect">
            <a:avLst>
              <a:gd name="adj" fmla="val 1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862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+ 3-shell cascade · strict cycle pool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50749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step strictly contains the previous one and adds structure — never a different code path bolted on.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Gömb: a strict structural-prior cascade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three-shell cascade in which the cycle pool is enumerated over training edges only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39112" y="2148840"/>
            <a:ext cx="585216" cy="58521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39112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218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Finite-impulse signed filter over the edge neighbourhood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69080" y="2834640"/>
            <a:ext cx="411480" cy="0"/>
          </a:xfrm>
          <a:prstGeom prst="line">
            <a:avLst/>
          </a:prstGeom>
          <a:noFill/>
          <a:ln w="25400">
            <a:solidFill>
              <a:srgbClr val="6B66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26280" y="192024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E9D6E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25312" y="2148840"/>
            <a:ext cx="585216" cy="585216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25312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091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HSiKAN-CR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3218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Hyper-signed KAN with per-edge Catmull–Rom activations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955280" y="2834640"/>
            <a:ext cx="411480" cy="0"/>
          </a:xfrm>
          <a:prstGeom prst="line">
            <a:avLst/>
          </a:prstGeom>
          <a:noFill/>
          <a:ln w="25400">
            <a:solidFill>
              <a:srgbClr val="6B66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412480" y="192024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811512" y="2148840"/>
            <a:ext cx="585216" cy="5852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811512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953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CPML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41080" y="3218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Cycle-pool message layer — the strict structural read-out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160520"/>
            <a:ext cx="8686800" cy="1508760"/>
          </a:xfrm>
          <a:prstGeom prst="roundRect">
            <a:avLst>
              <a:gd name="adj" fmla="val 4848"/>
            </a:avLst>
          </a:prstGeom>
          <a:solidFill>
            <a:srgbClr val="E6F6EF"/>
          </a:solidFill>
          <a:ln w="12700">
            <a:solidFill>
              <a:srgbClr val="5FD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Strict by construction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8680" y="470916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Because the cycle pool never sees a test-edge sign, Gömb has </a:t>
            </a: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transductive σ-leakage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. A label-shuffle test collapses it to chance (0.540 AUC) — proof the architecture is a structural predictor, not a leak.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21</a:t>
            </a:r>
            <a:endParaRPr lang="en-US" sz="900" dirty="0"/>
          </a:p>
        </p:txBody>
      </p:sp>
      <p:pic>
        <p:nvPicPr>
          <p:cNvPr id="28" name="Picture 27" descr="gomb_sphe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11480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201A40"/>
                </a:solidFill>
                <a:latin typeface="Futura"/>
              </a:rPr>
              <a:t>What is k-enumeration? Why HSiKAN needs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6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Enumerating the closed cycles (and short walks) of each arity k that become the model's structural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E9D6E"/>
                </a:solidFill>
                <a:latin typeface="Bahnschrift"/>
              </a:rPr>
              <a:t>Tuples:  </a:t>
            </a:r>
            <a:r>
              <a:rPr sz="1300" b="0" i="0">
                <a:solidFill>
                  <a:srgbClr val="201A40"/>
                </a:solidFill>
                <a:latin typeface="Bahnschrift"/>
              </a:rPr>
              <a:t>cycles c3 · c4 · c5  and short walks w2 · w3 — one SignedKAN layer per arity, fused by the arity mixer.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2331720"/>
            <a:ext cx="82296" cy="324612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2514600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What it enumerates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008376"/>
            <a:ext cx="3108960" cy="2377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k-enumeration finds the closed cycles of length k in the signed graph — the k-ary tuples c3, c4, c5 (plus short walks w2, w3). Each tuple is a candidate structural feature carrying a sign-product.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3317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15968" y="2331720"/>
            <a:ext cx="82296" cy="32461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514600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Why HSiKAN needs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008376"/>
            <a:ext cx="3108960" cy="2377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HSiKAN builds its prediction from these tuples: a SignedKAN layer per arity, fused by the arity mixer. With no enumerated cycles there are no structural features and the network collapses to a blind MLP. Balance theory lives in cycles — a missing edge's sign is read from the σ-products of the cycles that would close through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3317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29016" y="2331720"/>
            <a:ext cx="82296" cy="3246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How it is 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008376"/>
            <a:ext cx="3108960" cy="2377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Enumeration is the combinatorial bottleneck. HSiKAN caps it: per-vertex top-k by a scorer (e.g. fraction-negative) and per-arity caps (max_k). Strict mode enumerates over training edges only — which is also what prevents the leakage on the previous slide.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Inside HSiKAN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middle shell — learnable spline activations over signed cycle &amp; walk tuples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657600"/>
            <a:ext cx="37947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02920" y="3657600"/>
            <a:ext cx="82296" cy="196596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3232" y="38039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Catmull–Rom activation</a:t>
            </a:r>
            <a:endParaRPr lang="en-US" sz="1400" dirty="0"/>
          </a:p>
        </p:txBody>
      </p:sp>
      <p:pic>
        <p:nvPicPr>
          <p:cNvPr id="33" name="Image 0" descr="catmull_r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69664"/>
            <a:ext cx="3310128" cy="137160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45262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526280" y="3657600"/>
            <a:ext cx="82296" cy="196596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764024" y="3840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Mixed arity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4764024" y="43342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Independent layers for k = 3 and k = 4 over cycle &amp; walk tuples, fused by an arity mixer.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1838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8183880" y="3657600"/>
            <a:ext cx="82296" cy="196596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8421624" y="3840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Quaternion sign-attention</a:t>
            </a:r>
            <a:endParaRPr lang="en-US" sz="1450" dirty="0"/>
          </a:p>
        </p:txBody>
      </p:sp>
      <p:sp>
        <p:nvSpPr>
          <p:cNvPr id="41" name="Text 38"/>
          <p:cNvSpPr/>
          <p:nvPr/>
        </p:nvSpPr>
        <p:spPr>
          <a:xfrm>
            <a:off x="8421624" y="43342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Multi-head; hidden / 4 independent quaternions per head; scores anchor, consecutive and pair signs along each cycle.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23</a:t>
            </a:r>
            <a:endParaRPr lang="en-US" sz="900" dirty="0"/>
          </a:p>
        </p:txBody>
      </p:sp>
      <p:pic>
        <p:nvPicPr>
          <p:cNvPr id="44" name="Picture 43" descr="hsik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0756" y="1755648"/>
            <a:ext cx="4227438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01A40"/>
                </a:solidFill>
                <a:latin typeface="Futura"/>
              </a:rPr>
              <a:t>HSiKAN, learned: αₖ regime and ROC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Real output of the link-prediction inference demo on the trained Bitcoin-OTC checkpoint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54864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82296" cy="416052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1051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Learned αₖ — per-arity weight</a:t>
            </a:r>
          </a:p>
        </p:txBody>
      </p:sp>
      <p:pic>
        <p:nvPicPr>
          <p:cNvPr id="9" name="Picture 8" descr="alpha_k_bitcoin_o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4937760" cy="32499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99632" y="1645920"/>
            <a:ext cx="54864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99632" y="1645920"/>
            <a:ext cx="82296" cy="4160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2" y="181051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ROC — AUROC 0.9957</a:t>
            </a:r>
          </a:p>
        </p:txBody>
      </p:sp>
      <p:pic>
        <p:nvPicPr>
          <p:cNvPr id="13" name="Picture 12" descr="ROC_bitcoin_ot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2240280"/>
            <a:ext cx="3301479" cy="3291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6B6690"/>
                </a:solidFill>
                <a:latin typeface="Bahnschrift"/>
              </a:rPr>
              <a:t>The αₖ compass concentrates on c2 / w3; AUROC 0.9957 is the standard transductive convention (optuna_best) — the strict-protocol baseline is on the results slide.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Clifford-FIR and quaternion machinery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Geometric algebra under the cascade — and a visual-cortex analogy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6263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82296" cy="2103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874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Clifford-FIR filter banks · outer shell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 parallel Clifford-FIR banks. The cycle arity sets the FIR filter length; each bank's Clifford coefficients are staggered at initialisation. Built on the hymeko_clifford autograd backend — multivectors, blade products, a (p, q) metric signature.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62636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3977640"/>
            <a:ext cx="82296" cy="178308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4160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Quaternion sign-attention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" y="457200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sign structure along a cycle is scored with Hamilton-product (quaternion) attention; a multi-head variant runs hidden / 4 independent quaternions per head, and carries the highway gate on the Bitcoin-OTC configuration.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90372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Three shells ≈ a visual-cortex stack</a:t>
            </a:r>
            <a:endParaRPr lang="en-US" sz="1400" dirty="0"/>
          </a:p>
        </p:txBody>
      </p:sp>
      <p:pic>
        <p:nvPicPr>
          <p:cNvPr id="15" name="Image 0" descr="gomb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48840"/>
            <a:ext cx="4846320" cy="29352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903720" y="5175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Clifford-FIR (V1) → HSiKAN-CR (V4) → CPML (IT), wrapped by cognitive information routing.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Signed-graph link prediction results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Held-out test ROC–AUC, mean over 5 seeds · Gömb-strict (honest protocol)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6400800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Model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Bitcoin α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Bitcoin OTC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Slashdot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Epinions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Gömb-strict (ours)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0.897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0.915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0.902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0.943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Gömb + fine-tune (ours)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0.953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SGCN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0.929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0.942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0.919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SiGAT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0.903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0.932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~0.95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MLP (blind)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0.892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0.908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0.888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617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Two more SNAP signed graphs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49560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wiki_elec  0.911 ± 0.001   ·   wikisigned  0.894 ± 0.002   — same config, no re-tuning.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54406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Under the field's standard transductive convention, the tuned optuna_best lifts Bitcoin to 0.996 / 0.993.</a:t>
            </a:r>
            <a:endParaRPr lang="en-US" sz="11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178040" y="1691640"/>
          <a:ext cx="4572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SOTA range — at a fraction of the cost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structural prior does the heavy lifting, so the network can stay small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2697480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9D6E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30,487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40080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Bitcoin α optuna_best — about ½ the joint baseline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47288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47288" y="1664208"/>
            <a:ext cx="2697480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84448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563EB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11</a:t>
            </a:r>
            <a:r>
              <a:rPr lang="hu-HU" sz="3600" b="1" dirty="0">
                <a:solidFill>
                  <a:srgbClr val="2563EB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x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84448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faster forward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30168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Bitcoin OTC lean model vs the h=16 joint mix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91656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91656" y="1664208"/>
            <a:ext cx="2697480" cy="10972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28816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¼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528816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parameters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7453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OTC at 23,815 params, yet higher AUC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36024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36024" y="1664208"/>
            <a:ext cx="2697480" cy="10972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73184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A78BFA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5 seeds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473184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number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51890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paired-Δ significance before any paper promotion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3703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Forward latency · Bitcoin OTC (lower is better)</a:t>
            </a:r>
            <a:endParaRPr lang="en-US" sz="13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411480" y="4069080"/>
          <a:ext cx="557784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5"/>
          <p:cNvSpPr/>
          <p:nvPr/>
        </p:nvSpPr>
        <p:spPr>
          <a:xfrm>
            <a:off x="6263640" y="3822192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37960" y="3986784"/>
            <a:ext cx="49834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30.5 ms vs 342 ms
</a:t>
            </a: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lean model runs ~11× faster at forward than the h=16 joint mix, at ¼ the parameters and equal-or-better AUC. Inference cost scales with the structural prior, not with network width.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55566"/>
                </a:solidFill>
                <a:latin typeface="Bahnschrift"/>
              </a:rPr>
              <a:t>Compute: large-scale multi-seed runs use the Komondor supercomputer (KIFÜ, NVIDIA A100); the lean models above also fit a single 8 GB GPU.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201A40"/>
                </a:solidFill>
                <a:latin typeface="Futura"/>
              </a:rPr>
              <a:t>What is leakage? Why it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6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Test-set information slipping into training — and why a benchmark can't be trusted until it's ruled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82296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" y="20116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505456"/>
            <a:ext cx="5010912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Leakage is when a model gains access — directly or indirectly — to information about the held-out test labels while it trains. The reported score then measures memorisation of that leaked signal, not genuine generalisation to unseen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2880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99632" y="1828800"/>
            <a:ext cx="82296" cy="24688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37376" y="20116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In signed graphs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505456"/>
            <a:ext cx="5010912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Under the transductive convention a cycle's sign-product σ can include the sign of a test edge. A cycle feature then silently carries the very label being predicted — leakage through structure, not through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2628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645152"/>
            <a:ext cx="106527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E9D6E"/>
                </a:solidFill>
                <a:latin typeface="Bahnschrift"/>
              </a:rPr>
              <a:t>Why it matters.  </a:t>
            </a:r>
            <a:r>
              <a:rPr sz="1300" b="0" i="0">
                <a:solidFill>
                  <a:srgbClr val="201A40"/>
                </a:solidFill>
                <a:latin typeface="Bahnschrift"/>
              </a:rPr>
              <a:t>Inflated, non-reproducible numbers; a model that looks state-of-the-art but fails on truly unseen edges; unfair comparison between methods; lost trust. Detecting leakage (label-shuffle → AUROC ≈ 0.5) and removing it (a train-only cycle pool) is exactly what makes a result honest.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Honesty as a protocol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Strong numbers are only worth as much as the discipline that audits them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18379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Label-shuffle diagnostic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58952" y="2221992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Shuffle training signs: a true structural predictor collapses to chance. Gömb → 0.540 (clean); leaky variants stay near 0.99 — the test that separates prior from leakage.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73952" y="18379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Leakage audit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73952" y="2221992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external audit found σ-leakage in early HSiKAN tuned numbers. The strict cycle-pool variant became the honest architectural baseline reported here.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758184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3758184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58952" y="3904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Bug-vs-honest correction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58952" y="4288536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detection-metric bug had inflated a vision mAP to 0.723 ± 0.180; the corrected COCO matching gives 0.504 ± 0.039 — published as the honest reference.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758184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758184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73952" y="3904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Evidence discipline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73952" y="4288536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result row maps to an on-disk artifact path; an in-flight claim must cite a growing log file. No number floats free of its file.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How we know it isn't leakage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label-shuffle test — and what transductive σ-leakage looks like</a:t>
            </a:r>
            <a:endParaRPr lang="en-US" sz="1450" dirty="0"/>
          </a:p>
        </p:txBody>
      </p:sp>
      <p:pic>
        <p:nvPicPr>
          <p:cNvPr id="6" name="Image 0" descr="leakage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0515600" cy="2724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466344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4773168"/>
            <a:ext cx="10652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metric.  </a:t>
            </a:r>
            <a:r>
              <a:rPr lang="en-US" sz="13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Re-train with the training-edge signs randomly permuted. A model using only legitimate structure must fall to chance (AUROC ≈ 0.5); one that secretly reads test-edge signs — through the σ-products of cycles that pass through a test edge — stays high.  </a:t>
            </a: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Gömb collapses to 0.540</a:t>
            </a:r>
            <a:r>
              <a:rPr lang="en-US" sz="13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(strict by construction); early tuned HSiKAN stayed near 0.99, exposing σ-leakage — so the strict cycle pool, enumerated over training edges only, is the honest baseline.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01A40"/>
                </a:solidFill>
                <a:latin typeface="Futura"/>
              </a:rPr>
              <a:t>HyMeYOLO: detections on Cluttered MNIST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4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6B6690"/>
                </a:solidFill>
                <a:latin typeface="Bahnschrift"/>
              </a:rPr>
              <a:t>Input with ground-truth boxes (cyan) vs the + ricci-mod detector's predictions (red / orange, score ≥ 0.30)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6212" y="1591056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anel_00_se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076" y="1645920"/>
            <a:ext cx="4114800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68212" y="1591056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panel_01_see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645920"/>
            <a:ext cx="4114800" cy="2057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696212" y="3904488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anel_03_see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076" y="3959352"/>
            <a:ext cx="4114800" cy="2057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8212" y="3904488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panel_05_see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3959352"/>
            <a:ext cx="4114800" cy="2057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6B6690"/>
                </a:solidFill>
                <a:latin typeface="Bahnschrift"/>
              </a:rPr>
              <a:t>Single-scale detector, honest mAP_50 ≈ 0.90 (Stage-B HSiKAN-CR). The HSiKAN-CR activation localises digits in clutter at parity with a ReLU backbone.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bridge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Framework and science are one idea seen at two altitudes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.hymeko structure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6809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robot · trust graph · neural dataflow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9544" y="2400300"/>
            <a:ext cx="201168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4728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3016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4845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Hypergraph IR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64845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Blake3 identity · star expansion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9904" y="2400300"/>
            <a:ext cx="201168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2764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0E9D6E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1052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9D6E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2881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Sparse incidence tensor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52881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O(|E|·d), zero-copy to PyTorch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70264" y="2400300"/>
            <a:ext cx="201168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20800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39088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40917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Structural-prior model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40917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cycles &amp; walks → KAN activations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3611880"/>
            <a:ext cx="6446520" cy="2194560"/>
          </a:xfrm>
          <a:prstGeom prst="roundRect">
            <a:avLst>
              <a:gd name="adj" fmla="val 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3794760"/>
            <a:ext cx="5989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DSL describes the robot and the network that reasons about it.
</a:t>
            </a:r>
            <a:endParaRPr lang="en-US" sz="14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hypergraph that the framework compiles is the same hypergraph whose cycles the model learns from — and the same kinematic structure HSiKAN predicts from graph topology alone.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269480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Live demo · HSiKAN graph-only kinematics vs MuJoCo (~5 cm L2)</a:t>
            </a:r>
            <a:endParaRPr lang="en-US" sz="1050" dirty="0"/>
          </a:p>
        </p:txBody>
      </p:sp>
      <p:pic>
        <p:nvPicPr>
          <p:cNvPr id="26" name="Image 0" descr="mujoco_st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3639312"/>
            <a:ext cx="3246120" cy="2432304"/>
          </a:xfrm>
          <a:prstGeom prst="rect">
            <a:avLst/>
          </a:prstGeom>
        </p:spPr>
      </p:pic>
      <p:pic>
        <p:nvPicPr>
          <p:cNvPr id="27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82128" y="3639312"/>
            <a:ext cx="3246120" cy="243230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72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4B2E83"/>
                </a:solidFill>
                <a:latin typeface="Century Gothic"/>
              </a:rPr>
              <a:t>Publications &amp; submissions (2026)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097280"/>
            <a:ext cx="3291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1B6CA8"/>
                </a:solidFill>
                <a:latin typeface="Bahnschrift"/>
              </a:rPr>
              <a:t>[submitted] HyMeKo: Canonical-Hypergraph Infrastructure for CPS engineering — IEEE SMC 2026 (conf)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B6CA8"/>
                </a:solidFill>
                <a:latin typeface="Bahnschrift"/>
              </a:rPr>
              <a:t>[submitted] HSiKAN: Mixed-Arity Signed Kolmogorov–Arnold Networks — IEEE SMC 2026 (WIP)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97A16"/>
                </a:solidFill>
                <a:latin typeface="Bahnschrift"/>
              </a:rPr>
              <a:t>[in prep] AC-HSiKAN: signed-link prediction — Elsevier journal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B6CA8"/>
                </a:solidFill>
                <a:latin typeface="Bahnschrift"/>
              </a:rPr>
              <a:t>[submitted] Cycles vs. Walks: two inductive biases in Signed KAN — IEEE SISY 2026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97A16"/>
                </a:solidFill>
                <a:latin typeface="Bahnschrift"/>
              </a:rPr>
              <a:t>[in prep] HyMeKo (journal extension, independent of SMC conf) — IEEE T-SMC: Systems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97A16"/>
                </a:solidFill>
                <a:latin typeface="Bahnschrift"/>
              </a:rPr>
              <a:t>[in prep] Spectral-entropy regularization, Lyapunov schedule — IEEE T-SMC: Cybernetics</a:t>
            </a:r>
          </a:p>
          <a:p>
            <a:pPr>
              <a:spcAft>
                <a:spcPts val="400"/>
              </a:spcAft>
            </a:pPr>
            <a:r>
              <a:rPr sz="900" b="1">
                <a:solidFill>
                  <a:srgbClr val="C97A16"/>
                </a:solidFill>
                <a:latin typeface="Bahnschrift"/>
              </a:rPr>
              <a:t>★ [in prep] Signed-hypergraph structural priors for relational learning — IEEE TPAMI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97A16"/>
                </a:solidFill>
                <a:latin typeface="Bahnschrift"/>
              </a:rPr>
              <a:t>[in prep] HSiKAN + honest σ-masked protocol for signed-graph link prediction — Nature Communications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97A16"/>
                </a:solidFill>
                <a:latin typeface="Bahnschrift"/>
              </a:rPr>
              <a:t>[in prep] GPU-kernels journal extension (independent) — IEEE T-SMC: Systems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B6CA8"/>
                </a:solidFill>
                <a:latin typeface="Bahnschrift"/>
              </a:rPr>
              <a:t>[submitted] HyMeKo live demo (built) — MDPI Technologies</a:t>
            </a:r>
          </a:p>
        </p:txBody>
      </p:sp>
      <p:pic>
        <p:nvPicPr>
          <p:cNvPr id="5" name="Picture 4" descr="pub_ne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28700"/>
            <a:ext cx="8046720" cy="4993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0" y="6053328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B2E83"/>
                </a:solidFill>
                <a:latin typeface="Bahnschrift"/>
              </a:rPr>
              <a:t>Co-authors: László Környei · Katalin Kovács · Ádám Csapó · and others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42900"/>
            <a:ext cx="10728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4B2E83"/>
                </a:solidFill>
                <a:latin typeface="Century Gothic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latin typeface="Bahnschrift"/>
              </a:rPr>
              <a:t>•  σ-masked strict protocol — finish the sign-aware leakage audit + 5-seed grid; lock the honest operating point.</a:t>
            </a:r>
          </a:p>
          <a:p>
            <a:pPr>
              <a:spcAft>
                <a:spcPts val="600"/>
              </a:spcAft>
            </a:pPr>
            <a:r>
              <a:rPr sz="1700">
                <a:latin typeface="Bahnschrift"/>
              </a:rPr>
              <a:t>•  Round-trip .hymeko → torch.nn — structural parity holds; next: runnable round-trip + faithful Soma vision (Hodge/stim/patch).</a:t>
            </a:r>
          </a:p>
          <a:p>
            <a:pPr>
              <a:spcAft>
                <a:spcPts val="600"/>
              </a:spcAft>
            </a:pPr>
            <a:r>
              <a:rPr sz="1700">
                <a:latin typeface="Bahnschrift"/>
              </a:rPr>
              <a:t>•  Broader transform targets — task emitters (BehaviorTree.CPP / PDDL / ROS 2 actions) for the .hymeko task layer.</a:t>
            </a:r>
          </a:p>
          <a:p>
            <a:pPr>
              <a:spcAft>
                <a:spcPts val="600"/>
              </a:spcAft>
            </a:pPr>
            <a:r>
              <a:rPr sz="1700">
                <a:latin typeface="Bahnschrift"/>
              </a:rPr>
              <a:t>•  Larger-scale corpora — bigger signed-graph &amp; vision datasets under the 16 GB RSS discipline.</a:t>
            </a:r>
          </a:p>
          <a:p>
            <a:pPr>
              <a:spcAft>
                <a:spcPts val="600"/>
              </a:spcAft>
            </a:pPr>
            <a:r>
              <a:rPr sz="1700">
                <a:latin typeface="Bahnschrift"/>
              </a:rPr>
              <a:t>•  HSMM → FPGA — Nagare dataflow → HSMM abstract machine → Zynq (theory → systems → compiler).</a:t>
            </a:r>
          </a:p>
          <a:p>
            <a:pPr>
              <a:spcAft>
                <a:spcPts val="600"/>
              </a:spcAft>
            </a:pPr>
            <a:r>
              <a:rPr sz="1700">
                <a:latin typeface="Bahnschrift"/>
              </a:rPr>
              <a:t>•  Authoring surface — in-browser editor: multi-file imports &amp; profiles, parametric generators, arc-value editing.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892040"/>
            <a:ext cx="2510028" cy="969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989320"/>
            <a:ext cx="25100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4B2E83"/>
                </a:solidFill>
                <a:latin typeface="Bahnschrift"/>
              </a:rPr>
              <a:t>broader transform targets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148" y="4892040"/>
            <a:ext cx="2510028" cy="63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0148" y="5989320"/>
            <a:ext cx="25100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4B2E83"/>
                </a:solidFill>
                <a:latin typeface="Bahnschrift"/>
              </a:rPr>
              <a:t>runnable .hymeko → torch.nn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443" y="4892040"/>
            <a:ext cx="1730692" cy="1051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8776" y="5989320"/>
            <a:ext cx="25100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4B2E83"/>
                </a:solidFill>
                <a:latin typeface="Bahnschrift"/>
              </a:rPr>
              <a:t>faithful Soma vision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424" y="4892040"/>
            <a:ext cx="1099987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47404" y="5989320"/>
            <a:ext cx="25100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4B2E83"/>
                </a:solidFill>
                <a:latin typeface="Bahnschrift"/>
              </a:rPr>
              <a:t>parametric generators / authoring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42900"/>
            <a:ext cx="10728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4B2E83"/>
                </a:solidFill>
                <a:latin typeface="Century Gothic"/>
              </a:rPr>
              <a:t>Minimum demo &amp;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6294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latin typeface="Bahnschrift"/>
              </a:rPr>
              <a:t>•  Minimum working demo: .hymeko → IR → star expansion → PyTorch / URDF; plus a HSiKAN graph-only kinematics demo.</a:t>
            </a:r>
          </a:p>
          <a:p>
            <a:pPr>
              <a:spcAft>
                <a:spcPts val="600"/>
              </a:spcAft>
            </a:pPr>
            <a:r>
              <a:rPr sz="1600">
                <a:latin typeface="Bahnschrift"/>
              </a:rPr>
              <a:t>•  One source, many targets: URDF / SDF / MJCF / SysML / PyTorch from a single IR.</a:t>
            </a:r>
          </a:p>
          <a:p>
            <a:pPr>
              <a:spcAft>
                <a:spcPts val="600"/>
              </a:spcAft>
            </a:pPr>
            <a:r>
              <a:rPr sz="1600">
                <a:latin typeface="Bahnschrift"/>
              </a:rPr>
              <a:t>•  Efficiency anchor: star vs clique = 1,498 vs 10,991 NNZ; 79.7 ms vs 496 ms.</a:t>
            </a:r>
          </a:p>
          <a:p>
            <a:pPr>
              <a:spcAft>
                <a:spcPts val="600"/>
              </a:spcAft>
            </a:pPr>
            <a:r>
              <a:rPr sz="1600">
                <a:latin typeface="Bahnschrift"/>
              </a:rPr>
              <a:t>•  Collaboration: robot-structure learning — encode morphology + task in HyMeKo; test whether structural priors improve sample efficiency / generalization in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43800" y="187451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B2E83"/>
                </a:solidFill>
                <a:latin typeface="Bahnschrift"/>
              </a:rPr>
              <a:t>Live demo · HSiKAN graph-only kinematics vs MuJoCo</a:t>
            </a:r>
          </a:p>
        </p:txBody>
      </p:sp>
      <p:pic>
        <p:nvPicPr>
          <p:cNvPr id="5" name="mjc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26679" y="2514600"/>
            <a:ext cx="3931920" cy="2948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Conclusion &amp; outlook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22960" y="1600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is one hypergraph substrate with two payoffs: a production-grade Rust framework for representing and transforming hypergraphs, and a family of structural-prior models that turn a graph's own cycles into an inductive bias.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2296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Open directions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33832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σ-masked strict protocol that fixes the over-aggressive filter artifact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under-explored above-1.0 Ricci-modulation regime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Round-trip codegen: compile a .hymeko architecture straight to a torch.nn module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Broader transform targets and larger signed-graph corpora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 — questions welcome.    </a:t>
            </a: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Csaba Hajdu · Kato Laboratory seminar · June 2026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</a:t>
            </a:r>
            <a:endParaRPr lang="en-US" sz="900" dirty="0"/>
          </a:p>
        </p:txBody>
      </p:sp>
      <p:pic>
        <p:nvPicPr>
          <p:cNvPr id="26" name="Picture 21" descr="deco_hg.png">
            <a:extLst>
              <a:ext uri="{FF2B5EF4-FFF2-40B4-BE49-F238E27FC236}">
                <a16:creationId xmlns:a16="http://schemas.microsoft.com/office/drawing/2014/main" id="{CAAF3238-5AA3-BBE3-4CBF-4A71E9CD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566160" cy="316363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50292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4B2E83"/>
                </a:solidFill>
                <a:latin typeface="Bahnschrift"/>
              </a:rPr>
              <a:t>I would be especially interested in discussing how this representation could connect to ongoing work in cognitive robotics and learning systems at Kato Laboratory.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163056"/>
            <a:ext cx="10424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6CA8"/>
                </a:solidFill>
                <a:latin typeface="Bahnschrift"/>
              </a:rPr>
              <a:t>Code &amp; docs:  github.com/kyberszittya/hymeko_framework_rust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182880"/>
            <a:ext cx="1554480" cy="13790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4356</Words>
  <Application>Microsoft Office PowerPoint</Application>
  <PresentationFormat>Szélesvásznú</PresentationFormat>
  <Paragraphs>547</Paragraphs>
  <Slides>36</Slides>
  <Notes>26</Notes>
  <HiddenSlides>0</HiddenSlides>
  <MMClips>2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36</vt:i4>
      </vt:variant>
    </vt:vector>
  </HeadingPairs>
  <TitlesOfParts>
    <vt:vector size="43" baseType="lpstr">
      <vt:lpstr>Arial</vt:lpstr>
      <vt:lpstr>Bahnschrift</vt:lpstr>
      <vt:lpstr>Cambria Math</vt:lpstr>
      <vt:lpstr>Century Gothic</vt:lpstr>
      <vt:lpstr>Consolas</vt:lpstr>
      <vt:lpstr>Futura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HyMeKo — A Hypergraph Model Cognition Framework</dc:title>
  <dc:subject>PptxGenJS Presentation</dc:subject>
  <dc:creator>Csaba Hajdu</dc:creator>
  <cp:lastModifiedBy>Hajdu Csaba</cp:lastModifiedBy>
  <cp:revision>4</cp:revision>
  <dcterms:created xsi:type="dcterms:W3CDTF">2026-06-09T17:50:31Z</dcterms:created>
  <dcterms:modified xsi:type="dcterms:W3CDTF">2026-06-15T19:07:08Z</dcterms:modified>
</cp:coreProperties>
</file>