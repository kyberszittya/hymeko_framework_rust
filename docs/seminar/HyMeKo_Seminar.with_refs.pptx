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301" r:id="rId3"/>
    <p:sldId id="291" r:id="rId4"/>
    <p:sldId id="290" r:id="rId5"/>
    <p:sldId id="257" r:id="rId6"/>
    <p:sldId id="289" r:id="rId7"/>
    <p:sldId id="258" r:id="rId8"/>
    <p:sldId id="259" r:id="rId9"/>
    <p:sldId id="260" r:id="rId10"/>
    <p:sldId id="261" r:id="rId11"/>
    <p:sldId id="297" r:id="rId12"/>
    <p:sldId id="262" r:id="rId13"/>
    <p:sldId id="263" r:id="rId14"/>
    <p:sldId id="264" r:id="rId15"/>
    <p:sldId id="265" r:id="rId16"/>
    <p:sldId id="266" r:id="rId17"/>
    <p:sldId id="267" r:id="rId18"/>
    <p:sldId id="296" r:id="rId19"/>
    <p:sldId id="268" r:id="rId20"/>
    <p:sldId id="269" r:id="rId21"/>
    <p:sldId id="270" r:id="rId22"/>
    <p:sldId id="271" r:id="rId23"/>
    <p:sldId id="272" r:id="rId24"/>
    <p:sldId id="285" r:id="rId25"/>
    <p:sldId id="273" r:id="rId26"/>
    <p:sldId id="286" r:id="rId27"/>
    <p:sldId id="274" r:id="rId28"/>
    <p:sldId id="275" r:id="rId29"/>
    <p:sldId id="276" r:id="rId30"/>
    <p:sldId id="300" r:id="rId31"/>
    <p:sldId id="284" r:id="rId32"/>
    <p:sldId id="277" r:id="rId33"/>
    <p:sldId id="281" r:id="rId34"/>
    <p:sldId id="288" r:id="rId35"/>
    <p:sldId id="279" r:id="rId36"/>
    <p:sldId id="299" r:id="rId37"/>
    <p:sldId id="293" r:id="rId38"/>
    <p:sldId id="294" r:id="rId39"/>
    <p:sldId id="298" r:id="rId40"/>
    <p:sldId id="29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1A40"/>
                </a:solidFill>
                <a:latin typeface="Bahnschrift"/>
              </a:defRPr>
            </a:pPr>
            <a:r>
              <a:rPr lang="en-US" sz="1200" b="0" i="0" u="none" strike="noStrike" noProof="0" dirty="0" err="1">
                <a:solidFill>
                  <a:srgbClr val="201A40"/>
                </a:solidFill>
                <a:latin typeface="Bahnschrift"/>
              </a:rPr>
              <a:t>Gömb</a:t>
            </a:r>
            <a:r>
              <a:rPr lang="en-US" sz="1200" b="0" i="0" u="none" strike="noStrike" noProof="0" dirty="0">
                <a:solidFill>
                  <a:srgbClr val="201A40"/>
                </a:solidFill>
                <a:latin typeface="Bahnschrift"/>
              </a:rPr>
              <a:t>-strict vs supervised baselines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Gömb-strict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0.89700000000000002</c:v>
                </c:pt>
                <c:pt idx="1">
                  <c:v>0.91500000000000004</c:v>
                </c:pt>
                <c:pt idx="2">
                  <c:v>0.90200000000000002</c:v>
                </c:pt>
                <c:pt idx="3">
                  <c:v>0.94299999999999995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2-4724-A24E-77121406FF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SGCN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0.92900000000000005</c:v>
                </c:pt>
                <c:pt idx="1">
                  <c:v>0.94199999999999995</c:v>
                </c:pt>
                <c:pt idx="2">
                  <c:v>0.91900000000000004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2-4724-A24E-77121406FF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SiGAT</c:v>
                </c:pt>
              </c:strCache>
            </c:strRef>
          </c:tx>
          <c:spPr>
            <a:solidFill>
              <a:srgbClr val="6FA0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Bitcoin α</c:v>
                </c:pt>
                <c:pt idx="1">
                  <c:v>Bitcoin OTC</c:v>
                </c:pt>
                <c:pt idx="2">
                  <c:v>Slashdot</c:v>
                </c:pt>
                <c:pt idx="3">
                  <c:v>Epinions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0.90300000000000002</c:v>
                </c:pt>
                <c:pt idx="1">
                  <c:v>0.93200000000000005</c:v>
                </c:pt>
                <c:pt idx="2">
                  <c:v>0</c:v>
                </c:pt>
                <c:pt idx="3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D2-4724-A24E-77121406F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4D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01A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E9D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B5-439F-9C86-BA42540B8FBF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B5-439F-9C86-BA42540B8FBF}"/>
              </c:ext>
            </c:extLst>
          </c:dPt>
          <c:cat>
            <c:strRef>
              <c:f>Sheet1!$A$2:$A$3</c:f>
              <c:strCache>
                <c:ptCount val="2"/>
                <c:pt idx="0">
                  <c:v>optuna-best (lean, h=4)
30.5 ms</c:v>
                </c:pt>
                <c:pt idx="1">
                  <c:v>joint mix (h=16)
342 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342.3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B5-439F-9C86-BA42540B8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01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18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PhD SEMINAR · KATO LABORATORY</a:t>
            </a:r>
            <a:endParaRPr lang="en-US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566928" y="15544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noProof="0" dirty="0" err="1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HyMeKo</a:t>
            </a:r>
            <a:endParaRPr lang="en-US" sz="8800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noProof="0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Hypergraph Model Cognition Framework</a:t>
            </a:r>
            <a:endParaRPr lang="en-US" sz="2500" noProof="0" dirty="0"/>
          </a:p>
        </p:txBody>
      </p:sp>
      <p:sp>
        <p:nvSpPr>
          <p:cNvPr id="28" name="Text 26"/>
          <p:cNvSpPr/>
          <p:nvPr/>
        </p:nvSpPr>
        <p:spPr>
          <a:xfrm>
            <a:off x="64008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From declarative hypergraph structure to structural-prior learning</a:t>
            </a:r>
            <a:endParaRPr lang="en-US" sz="1600" noProof="0" dirty="0"/>
          </a:p>
        </p:txBody>
      </p:sp>
      <p:sp>
        <p:nvSpPr>
          <p:cNvPr id="29" name="Shape 27"/>
          <p:cNvSpPr/>
          <p:nvPr/>
        </p:nvSpPr>
        <p:spPr>
          <a:xfrm>
            <a:off x="658368" y="484632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Csaba Hajdu</a:t>
            </a:r>
            <a:endParaRPr lang="en-US" sz="1600" noProof="0" dirty="0"/>
          </a:p>
          <a:p>
            <a:pPr marL="0" indent="0"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Hypergraph systems · signed-graph learning · June 2026</a:t>
            </a:r>
            <a:endParaRPr lang="en-US" sz="1600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900" noProof="0" dirty="0"/>
          </a:p>
        </p:txBody>
      </p:sp>
      <p:pic>
        <p:nvPicPr>
          <p:cNvPr id="33" name="Picture 32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3383280" cy="3001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C29AE336-0624-4999-0BB3-AF41C618C0FB}"/>
              </a:ext>
            </a:extLst>
          </p:cNvPr>
          <p:cNvSpPr/>
          <p:nvPr/>
        </p:nvSpPr>
        <p:spPr>
          <a:xfrm>
            <a:off x="-32226" y="1265820"/>
            <a:ext cx="6128226" cy="5592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D6610FF-DC0D-F2A5-4BA2-A325D0610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74" y="1358750"/>
            <a:ext cx="4941932" cy="497673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3C35E24-3F53-0C51-D520-6BEA17033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178" y="1358751"/>
            <a:ext cx="4941932" cy="4976734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BB3DA24-AF6E-8A9E-CB9D-DF902F3229FB}"/>
              </a:ext>
            </a:extLst>
          </p:cNvPr>
          <p:cNvSpPr txBox="1"/>
          <p:nvPr/>
        </p:nvSpPr>
        <p:spPr>
          <a:xfrm>
            <a:off x="504444" y="468927"/>
            <a:ext cx="11183112" cy="47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lang="hu-HU" sz="3000" b="1" i="0" noProof="0" dirty="0" err="1">
                <a:solidFill>
                  <a:srgbClr val="201A40"/>
                </a:solidFill>
                <a:latin typeface="Futura"/>
              </a:rPr>
              <a:t>Handout</a:t>
            </a:r>
            <a:r>
              <a:rPr lang="hu-HU" sz="3000" b="1" i="0" noProof="0" dirty="0">
                <a:solidFill>
                  <a:srgbClr val="201A40"/>
                </a:solidFill>
                <a:latin typeface="Futura"/>
              </a:rPr>
              <a:t> </a:t>
            </a:r>
            <a:r>
              <a:rPr lang="hu-HU" sz="3000" b="1" i="0" noProof="0" dirty="0" err="1">
                <a:solidFill>
                  <a:srgbClr val="201A40"/>
                </a:solidFill>
                <a:latin typeface="Futura"/>
              </a:rPr>
              <a:t>links</a:t>
            </a:r>
            <a:endParaRPr lang="en-US" sz="3000" b="1" i="0" noProof="0" dirty="0">
              <a:solidFill>
                <a:srgbClr val="201A40"/>
              </a:solidFill>
              <a:latin typeface="Futura"/>
            </a:endParaRPr>
          </a:p>
        </p:txBody>
      </p:sp>
      <p:pic>
        <p:nvPicPr>
          <p:cNvPr id="8" name="Kép 7" descr="Flag of Japan Red Sun Disc on White Field, Hinomaru, National Symbol of ...">
            <a:extLst>
              <a:ext uri="{FF2B5EF4-FFF2-40B4-BE49-F238E27FC236}">
                <a16:creationId xmlns:a16="http://schemas.microsoft.com/office/drawing/2014/main" id="{1C2DCE63-40A0-9D30-71AC-7978ABA48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206" y="6053456"/>
            <a:ext cx="1124878" cy="74991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477AAE30-01C0-FAFA-C58D-A5C69F7E0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171" y="5994812"/>
            <a:ext cx="1467888" cy="77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Contributions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1234440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3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DSL + Rust compiler</a:t>
            </a:r>
            <a:endParaRPr lang="en-US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declarative hypergraph language with a SIMD-</a:t>
            </a: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lexed</a:t>
            </a: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LALRPOP-parsed pipeline to a hashed hypergraph IR.</a:t>
            </a:r>
            <a:endParaRPr lang="en-US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4315968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544568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454456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5047488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Star-expansion zero-copy pipeline</a:t>
            </a:r>
            <a:endParaRPr lang="en-US" sz="135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4544568" y="2240280"/>
                <a:ext cx="31546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08000"/>
                  </a:lnSpc>
                  <a:buNone/>
                </a:pPr>
                <a:r>
                  <a:rPr lang="en-US" sz="1150" noProof="0" dirty="0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An </a:t>
                </a:r>
                <a14:m>
                  <m:oMath xmlns:m="http://schemas.openxmlformats.org/officeDocument/2006/math">
                    <m:r>
                      <a:rPr lang="en-US" sz="115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𝑂</m:t>
                    </m:r>
                    <m:r>
                      <a:rPr lang="en-US" sz="115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(|</m:t>
                    </m:r>
                    <m:r>
                      <a:rPr lang="en-US" sz="115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𝐸</m:t>
                    </m:r>
                    <m:r>
                      <a:rPr lang="en-US" sz="115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|·</m:t>
                    </m:r>
                    <m:r>
                      <a:rPr lang="en-US" sz="115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𝑑</m:t>
                    </m:r>
                    <m:r>
                      <a:rPr lang="en-US" sz="115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)</m:t>
                    </m:r>
                  </m:oMath>
                </a14:m>
                <a:r>
                  <a:rPr lang="en-US" sz="1150" noProof="0" dirty="0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 incidence path that streams hypergraphs into </a:t>
                </a:r>
                <a:r>
                  <a:rPr lang="en-US" sz="1150" noProof="0" dirty="0" err="1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PyTorch</a:t>
                </a:r>
                <a:r>
                  <a:rPr lang="en-US" sz="1150" noProof="0" dirty="0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 with sub-100-µs, topology-gated updates.</a:t>
                </a:r>
                <a:endParaRPr lang="en-US" sz="1150" noProof="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568" y="2240280"/>
                <a:ext cx="3154680" cy="868680"/>
              </a:xfrm>
              <a:prstGeom prst="rect">
                <a:avLst/>
              </a:prstGeom>
              <a:blipFill>
                <a:blip r:embed="rId3"/>
                <a:stretch>
                  <a:fillRect l="-290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8129016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8357616" y="15087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835761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8860536" y="149961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Query-driven </a:t>
            </a:r>
            <a:r>
              <a:rPr lang="en-US" sz="135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codegen</a:t>
            </a:r>
            <a:endParaRPr lang="en-US" sz="1350" noProof="0" dirty="0"/>
          </a:p>
        </p:txBody>
      </p:sp>
      <p:sp>
        <p:nvSpPr>
          <p:cNvPr id="17" name="Text 15"/>
          <p:cNvSpPr/>
          <p:nvPr/>
        </p:nvSpPr>
        <p:spPr>
          <a:xfrm>
            <a:off x="8357616" y="22402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</a:t>
            </a: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query+template</a:t>
            </a: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mechanism emits URDF, SDF, MJCF, DOT, ROS 2 launch and torch modules — no recompile.</a:t>
            </a:r>
            <a:endParaRPr lang="en-US" sz="1150" noProof="0" dirty="0"/>
          </a:p>
        </p:txBody>
      </p:sp>
      <p:sp>
        <p:nvSpPr>
          <p:cNvPr id="18" name="Shape 16"/>
          <p:cNvSpPr/>
          <p:nvPr/>
        </p:nvSpPr>
        <p:spPr>
          <a:xfrm>
            <a:off x="502920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731520" y="3730752"/>
            <a:ext cx="384048" cy="38404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73152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1234440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Structural-prior model family</a:t>
            </a:r>
            <a:endParaRPr lang="en-US" sz="1350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</a:t>
            </a: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/ </a:t>
            </a: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/ </a:t>
            </a: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</a:t>
            </a: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: cycle-pool priors with KAN activations at SOTA-range AUC and lean parameters.</a:t>
            </a:r>
            <a:endParaRPr lang="en-US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4315968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Shape 22"/>
          <p:cNvSpPr/>
          <p:nvPr/>
        </p:nvSpPr>
        <p:spPr>
          <a:xfrm>
            <a:off x="4544568" y="3730752"/>
            <a:ext cx="384048" cy="38404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Text 23"/>
          <p:cNvSpPr/>
          <p:nvPr/>
        </p:nvSpPr>
        <p:spPr>
          <a:xfrm>
            <a:off x="454456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5047488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Honest-protocol methodology</a:t>
            </a:r>
            <a:endParaRPr lang="en-US" sz="1350" noProof="0" dirty="0"/>
          </a:p>
        </p:txBody>
      </p:sp>
      <p:sp>
        <p:nvSpPr>
          <p:cNvPr id="27" name="Text 25"/>
          <p:cNvSpPr/>
          <p:nvPr/>
        </p:nvSpPr>
        <p:spPr>
          <a:xfrm>
            <a:off x="4544568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Label-shuffle leakage audits, 5-seed paired significance, and artifact-backed evidence discipline.</a:t>
            </a:r>
            <a:endParaRPr lang="en-US" sz="1150" noProof="0" dirty="0"/>
          </a:p>
        </p:txBody>
      </p:sp>
      <p:sp>
        <p:nvSpPr>
          <p:cNvPr id="28" name="Shape 26"/>
          <p:cNvSpPr/>
          <p:nvPr/>
        </p:nvSpPr>
        <p:spPr>
          <a:xfrm>
            <a:off x="8129016" y="350215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Shape 27"/>
          <p:cNvSpPr/>
          <p:nvPr/>
        </p:nvSpPr>
        <p:spPr>
          <a:xfrm>
            <a:off x="8357616" y="3730752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Text 28"/>
          <p:cNvSpPr/>
          <p:nvPr/>
        </p:nvSpPr>
        <p:spPr>
          <a:xfrm>
            <a:off x="8357616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</a:t>
            </a:r>
            <a:endParaRPr lang="en-US" sz="1600" noProof="0" dirty="0"/>
          </a:p>
        </p:txBody>
      </p:sp>
      <p:sp>
        <p:nvSpPr>
          <p:cNvPr id="31" name="Text 29"/>
          <p:cNvSpPr/>
          <p:nvPr/>
        </p:nvSpPr>
        <p:spPr>
          <a:xfrm>
            <a:off x="8860536" y="37216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unified substrate</a:t>
            </a:r>
            <a:endParaRPr lang="en-US" sz="1350" noProof="0" dirty="0"/>
          </a:p>
        </p:txBody>
      </p:sp>
      <p:sp>
        <p:nvSpPr>
          <p:cNvPr id="32" name="Text 30"/>
          <p:cNvSpPr/>
          <p:nvPr/>
        </p:nvSpPr>
        <p:spPr>
          <a:xfrm>
            <a:off x="8357616" y="446227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same hypergraph IR underlies both the engineering and the learning — structure as a first-class prior.</a:t>
            </a:r>
            <a:endParaRPr lang="en-US" sz="1150" noProof="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3000" b="1" i="0" noProof="0" dirty="0" err="1">
                <a:solidFill>
                  <a:srgbClr val="201A40"/>
                </a:solidFill>
                <a:latin typeface="Futura"/>
              </a:rPr>
              <a:t>HyMeKo</a:t>
            </a:r>
            <a:r>
              <a:rPr lang="en-US" sz="3000" b="1" i="0" noProof="0" dirty="0">
                <a:solidFill>
                  <a:srgbClr val="201A40"/>
                </a:solidFill>
                <a:latin typeface="Futura"/>
              </a:rPr>
              <a:t>, in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450" b="0" i="1" noProof="0" dirty="0">
                <a:solidFill>
                  <a:srgbClr val="6B6690"/>
                </a:solidFill>
                <a:latin typeface="Bahnschrift"/>
              </a:rPr>
              <a:t>Hypergraph Model Cognition — one substrate for representing and learning from structured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1550" b="0" i="0" noProof="0" dirty="0" err="1">
                <a:solidFill>
                  <a:srgbClr val="201A40"/>
                </a:solidFill>
                <a:latin typeface="Bahnschrift"/>
              </a:rPr>
              <a:t>HyMeKo</a:t>
            </a:r>
            <a:r>
              <a:rPr lang="en-US" sz="1550" b="0" i="0" noProof="0" dirty="0">
                <a:solidFill>
                  <a:srgbClr val="201A40"/>
                </a:solidFill>
                <a:latin typeface="Bahnschrift"/>
              </a:rPr>
              <a:t> treats the hypergraph as a first-class object. A small declarative language describes a system's parts and the signed, hierarchical, many-to-many relations among them; one engine both renders that structure to many target formats and exposes it to models that learn from the graph's own cycles — so the structure the framework compiles is the structure the model reasons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502920" y="3611880"/>
            <a:ext cx="2706624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201A40"/>
                </a:solidFill>
                <a:latin typeface="Bahnschrift"/>
              </a:rPr>
              <a:t>Declarative DSL + 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.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 → canonical hypergraph IR with Blake3 content-hash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3410712" y="3611880"/>
            <a:ext cx="2706624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593592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201A40"/>
                </a:solidFill>
                <a:latin typeface="Bahnschrift"/>
              </a:rPr>
              <a:t>Cross-view </a:t>
            </a:r>
            <a:r>
              <a:rPr lang="en-US" sz="1400" b="1" i="0" noProof="0" dirty="0" err="1">
                <a:solidFill>
                  <a:srgbClr val="201A40"/>
                </a:solidFill>
                <a:latin typeface="Bahnschrift"/>
              </a:rPr>
              <a:t>codegen</a:t>
            </a:r>
            <a:endParaRPr lang="en-US" sz="1400" b="1" i="0" noProof="0" dirty="0">
              <a:solidFill>
                <a:srgbClr val="201A40"/>
              </a:solidFill>
              <a:latin typeface="Bahnschrif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3592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one query + template engine → URDF · SDF · MJCF · 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SysML</a:t>
            </a: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 v2 · 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PyTorch</a:t>
            </a:r>
            <a:endParaRPr lang="en-US" sz="1150" b="0" i="0" noProof="0" dirty="0">
              <a:solidFill>
                <a:srgbClr val="6B6690"/>
              </a:solidFill>
              <a:latin typeface="Bahnschrif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18504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6318504" y="3611880"/>
            <a:ext cx="2706624" cy="9144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501384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201A40"/>
                </a:solidFill>
                <a:latin typeface="Bahnschrift"/>
              </a:rPr>
              <a:t>Zero-copy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O(|E|·d) star expansion streamed to 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PyTorch</a:t>
            </a: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 via Arrow / 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DLPack</a:t>
            </a:r>
            <a:endParaRPr lang="en-US" sz="1150" b="0" i="0" noProof="0" dirty="0">
              <a:solidFill>
                <a:srgbClr val="6B6690"/>
              </a:solidFill>
              <a:latin typeface="Bahnschrif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226296" y="361188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/>
          <p:cNvSpPr/>
          <p:nvPr/>
        </p:nvSpPr>
        <p:spPr>
          <a:xfrm>
            <a:off x="9226296" y="3611880"/>
            <a:ext cx="2706624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409176" y="3867912"/>
            <a:ext cx="23408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201A40"/>
                </a:solidFill>
                <a:latin typeface="Bahnschrift"/>
              </a:rPr>
              <a:t>Structural-prior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466344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SignedKAN</a:t>
            </a: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 → 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HSiKAN</a:t>
            </a: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 → </a:t>
            </a:r>
            <a:r>
              <a:rPr lang="en-US" sz="1150" b="0" i="0" noProof="0" dirty="0" err="1">
                <a:solidFill>
                  <a:srgbClr val="6B6690"/>
                </a:solidFill>
                <a:latin typeface="Bahnschrift"/>
              </a:rPr>
              <a:t>Gömb</a:t>
            </a:r>
            <a:r>
              <a:rPr lang="en-US" sz="1150" b="0" i="0" noProof="0" dirty="0">
                <a:solidFill>
                  <a:srgbClr val="6B6690"/>
                </a:solidFill>
                <a:latin typeface="Bahnschrift"/>
              </a:rPr>
              <a:t>; cycles as a KAN inductive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90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 · PhD Seminar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noProof="0" dirty="0">
                <a:solidFill>
                  <a:srgbClr val="6B6690"/>
                </a:solidFill>
                <a:latin typeface="Bahnschrif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Why hypergraphs?</a:t>
            </a:r>
            <a:endParaRPr lang="en-US" sz="29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 systems are n-</a:t>
            </a:r>
            <a:r>
              <a:rPr lang="en-US" sz="1800" b="1" noProof="0" dirty="0" err="1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ary</a:t>
            </a:r>
            <a:r>
              <a:rPr lang="en-US" sz="18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not pairwise</a:t>
            </a:r>
            <a:endParaRPr lang="en-US" sz="18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robot joint couples a parent and child link and an axis; a trust vote ties voter, target and sign; a chemical unit binds many reactants; a neural layer fuses many input tensors.</a:t>
            </a:r>
            <a:endParaRPr lang="en-US" sz="1500" noProof="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Forcing these relations into pairwise edges means clique projection — every k-</a:t>
            </a:r>
            <a:r>
              <a:rPr lang="en-US" sz="15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ary</a:t>
            </a: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relation becomes a fully-connected subgraph.</a:t>
            </a:r>
            <a:endParaRPr lang="en-US" sz="150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cost is twofold: the projected adjacency explodes as O(|E|·d²), and the identity of the relation itself is lost.</a:t>
            </a:r>
            <a:endParaRPr lang="en-US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needs follow</a:t>
            </a:r>
            <a:endParaRPr lang="en-U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5230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represent and operate on hypergraphs faithfully    ·    learn from their structure</a:t>
            </a:r>
            <a:endParaRPr lang="en-US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7360920" y="11887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pic>
        <p:nvPicPr>
          <p:cNvPr id="32" name="Picture 31" descr="motiv_5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517" y="1348740"/>
            <a:ext cx="363648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900" b="1" i="0" noProof="0" dirty="0">
                <a:solidFill>
                  <a:srgbClr val="201A40"/>
                </a:solidFill>
                <a:latin typeface="Futura"/>
              </a:rPr>
              <a:t>Typical hypergraphs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1" noProof="0" dirty="0">
                <a:solidFill>
                  <a:srgbClr val="6B6690"/>
                </a:solidFill>
                <a:latin typeface="Bahnschrift"/>
              </a:rPr>
              <a:t>From the textbook to the engine — each is a .</a:t>
            </a:r>
            <a:r>
              <a:rPr lang="en-US" sz="1400" b="0" i="1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1400" b="0" i="1" noProof="0" dirty="0">
                <a:solidFill>
                  <a:srgbClr val="6B6690"/>
                </a:solidFill>
                <a:latin typeface="Bahnschrift"/>
              </a:rPr>
              <a:t> fixture in data/</a:t>
            </a:r>
            <a:r>
              <a:rPr lang="en-US" sz="1400" b="0" i="1" noProof="0" dirty="0" err="1">
                <a:solidFill>
                  <a:srgbClr val="6B6690"/>
                </a:solidFill>
                <a:latin typeface="Bahnschrift"/>
              </a:rPr>
              <a:t>typical_graphs</a:t>
            </a:r>
            <a:r>
              <a:rPr lang="en-US" sz="1400" b="0" i="1" noProof="0" dirty="0">
                <a:solidFill>
                  <a:srgbClr val="6B6690"/>
                </a:solidFill>
                <a:latin typeface="Bahnschrift"/>
              </a:rPr>
              <a:t>/, drawn here as hyperedge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6236207" y="160020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4187952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6236207" y="4187952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 · PhD 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noProof="0" dirty="0">
                <a:solidFill>
                  <a:srgbClr val="6B6690"/>
                </a:solidFill>
                <a:latin typeface="Bahnschrif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9164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noProof="0" dirty="0">
                <a:solidFill>
                  <a:srgbClr val="201A40"/>
                </a:solidFill>
                <a:latin typeface="Bahnschrift"/>
              </a:rPr>
              <a:t>Fano plane (Steiner triple S(2,3,7))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057400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852928" y="2112264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fano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{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n0 n1 n2 n3 n4 n5 n6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@e0 (~n0,~n1,~n3);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@e1 (~n0,~n2,~n6);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@e2 (~n0,~n4,~n5);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@e3 (~n1,~n2,~n4);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@e4 (~n2,~n3,~n5);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@e5 (~n3,~n4,~n6);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@e6 (~n1,~n5,~n6);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69164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noProof="0" dirty="0">
                <a:solidFill>
                  <a:srgbClr val="201A40"/>
                </a:solidFill>
                <a:latin typeface="Bahnschrift"/>
              </a:rPr>
              <a:t>Generic hypergraph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2057400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586215" y="2112264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generic {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a b c d e f g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@e0 (~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a,~b,~c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@e1 (~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c,~d,~f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@e2 (~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d,~e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@e3 (~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c,~g,~f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noProof="0" dirty="0">
                <a:solidFill>
                  <a:srgbClr val="201A40"/>
                </a:solidFill>
                <a:latin typeface="Bahnschrift"/>
              </a:rPr>
              <a:t>Complete 3-uniform  K4(3)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645152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2852928" y="4700016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k4_3uniform {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v1 v2 v3 v4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@f123 (~v1,~v2,~v3);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@f124 (~v1,~v2,~v4);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@f134 (~v1,~v3,~v4);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@f234 (~v2,~v3,~v4);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27939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noProof="0" dirty="0">
                <a:solidFill>
                  <a:srgbClr val="201A40"/>
                </a:solidFill>
                <a:latin typeface="Bahnschrift"/>
              </a:rPr>
              <a:t>Sunflower (Δ-system)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4645152"/>
            <a:ext cx="3127247" cy="1755648"/>
          </a:xfrm>
          <a:prstGeom prst="roundRect">
            <a:avLst>
              <a:gd name="adj" fmla="val 6000"/>
            </a:avLst>
          </a:prstGeom>
          <a:solidFill>
            <a:srgbClr val="24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8586215" y="4700016"/>
            <a:ext cx="2944367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sunflower {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core_a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core_b</a:t>
            </a:r>
            <a:endParaRPr lang="en-US" sz="850" b="0" noProof="0" dirty="0">
              <a:solidFill>
                <a:srgbClr val="ECE9FB"/>
              </a:solidFill>
              <a:latin typeface="Consolas"/>
            </a:endParaRP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p1a p1b p2a p2b p3a p3b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@petal1 (~core_a,~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core_b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,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         ~p1a,~p1b);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@petal2 (~core_a,~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core_b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,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         ~p2a,~p2b);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@petal3 (~core_a,~</a:t>
            </a:r>
            <a:r>
              <a:rPr lang="en-US" sz="850" b="0" noProof="0" dirty="0" err="1">
                <a:solidFill>
                  <a:srgbClr val="ECE9FB"/>
                </a:solidFill>
                <a:latin typeface="Consolas"/>
              </a:rPr>
              <a:t>core_b</a:t>
            </a: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,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           ~p3a,~p3b);</a:t>
            </a:r>
          </a:p>
          <a:p>
            <a:pPr algn="l">
              <a:lnSpc>
                <a:spcPct val="96000"/>
              </a:lnSpc>
            </a:pPr>
            <a:r>
              <a:rPr lang="en-US" sz="850" b="0" noProof="0" dirty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pic>
        <p:nvPicPr>
          <p:cNvPr id="34" name="Picture 33" descr="hg_f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28" y="2066543"/>
            <a:ext cx="1871502" cy="1755648"/>
          </a:xfrm>
          <a:prstGeom prst="rect">
            <a:avLst/>
          </a:prstGeom>
        </p:spPr>
      </p:pic>
      <p:pic>
        <p:nvPicPr>
          <p:cNvPr id="35" name="Picture 34" descr="hg_gene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0714"/>
            <a:ext cx="2002535" cy="1589019"/>
          </a:xfrm>
          <a:prstGeom prst="rect">
            <a:avLst/>
          </a:prstGeom>
        </p:spPr>
      </p:pic>
      <p:pic>
        <p:nvPicPr>
          <p:cNvPr id="36" name="Picture 35" descr="hg_kuni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67" y="4645152"/>
            <a:ext cx="1705825" cy="1755647"/>
          </a:xfrm>
          <a:prstGeom prst="rect">
            <a:avLst/>
          </a:prstGeom>
        </p:spPr>
      </p:pic>
      <p:pic>
        <p:nvPicPr>
          <p:cNvPr id="37" name="Picture 36" descr="hg_sunfl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817" y="4684189"/>
            <a:ext cx="1836499" cy="16775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hyperedge and its signed incidence</a:t>
            </a:r>
            <a:endParaRPr lang="en-US" sz="29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star expansion is the bipartite Levi / Berge incidence — one hub per hyperedge, with signed + / − arcs to its member vertices</a:t>
            </a:r>
            <a:endParaRPr lang="en-US" sz="1450" noProof="0" dirty="0"/>
          </a:p>
        </p:txBody>
      </p:sp>
      <p:pic>
        <p:nvPicPr>
          <p:cNvPr id="4" name="Image 0" descr="levi_hyper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1874520"/>
            <a:ext cx="7863840" cy="3858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87044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Left: the hypergraph (hyperedges </a:t>
            </a:r>
            <a:r>
              <a:rPr lang="en-US" sz="120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e_a</a:t>
            </a:r>
            <a:r>
              <a:rPr lang="en-US" sz="12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</a:t>
            </a:r>
            <a:r>
              <a:rPr lang="en-US" sz="120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e_b</a:t>
            </a:r>
            <a:r>
              <a:rPr lang="en-US" sz="12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over vertices). Right: each hyperedge becomes a hub; + / − arcs encode the signed incidence — the O(|E|·d) star tensor the engine streams to </a:t>
            </a:r>
            <a:r>
              <a:rPr lang="en-US" sz="120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</a:t>
            </a:r>
            <a:r>
              <a:rPr lang="en-US" sz="12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</a:t>
            </a:r>
            <a:endParaRPr lang="en-US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</a:t>
            </a:r>
            <a:endParaRPr lang="en-US" sz="900" noProof="0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7038AE4-DCFE-CD42-378D-BA231B5E40C5}"/>
              </a:ext>
            </a:extLst>
          </p:cNvPr>
          <p:cNvSpPr/>
          <p:nvPr/>
        </p:nvSpPr>
        <p:spPr>
          <a:xfrm>
            <a:off x="8121178" y="367357"/>
            <a:ext cx="3801291" cy="676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Same underlying graph, different views!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One substrate, two payoffs</a:t>
            </a:r>
            <a:endParaRPr lang="en-US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thesis in a single picture</a:t>
            </a:r>
            <a:endParaRPr lang="en-U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3717036" y="169164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4F1FC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3717036" y="1691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noProof="0" dirty="0" err="1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70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hypergraph substrate
</a:t>
            </a:r>
            <a:endParaRPr lang="en-US" sz="1700" noProof="0" dirty="0"/>
          </a:p>
          <a:p>
            <a:pPr marL="0" indent="0" algn="ctr">
              <a:buNone/>
            </a:pP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DSL · one IR · structure as a first-class object</a:t>
            </a:r>
            <a:endParaRPr lang="en-US" sz="1700" noProof="0" dirty="0"/>
          </a:p>
        </p:txBody>
      </p:sp>
      <p:sp>
        <p:nvSpPr>
          <p:cNvPr id="6" name="Shape 4"/>
          <p:cNvSpPr/>
          <p:nvPr/>
        </p:nvSpPr>
        <p:spPr>
          <a:xfrm>
            <a:off x="4448556" y="2743200"/>
            <a:ext cx="0" cy="114300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740396" y="2743200"/>
            <a:ext cx="1645920" cy="1143000"/>
          </a:xfrm>
          <a:prstGeom prst="line">
            <a:avLst/>
          </a:prstGeom>
          <a:noFill/>
          <a:ln w="31750">
            <a:solidFill>
              <a:srgbClr val="0E9D6E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91440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105156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ENGINEERING</a:t>
            </a:r>
            <a:endParaRPr lang="en-US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105156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Declarative DSL + Rust compiler
</a:t>
            </a:r>
            <a:endParaRPr lang="en-US" sz="14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Star-expansion zero-copy pipeline →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
</a:t>
            </a:r>
            <a:endParaRPr lang="en-US" sz="14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Query-driven robotics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codegen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(URDF/SDF/MJCF/ROS 2)</a:t>
            </a:r>
            <a:endParaRPr lang="en-US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4652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6446520" y="3931920"/>
            <a:ext cx="91440" cy="210312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LEARNING</a:t>
            </a:r>
            <a:endParaRPr lang="en-US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 priors: cycles &amp; walks as tuples
</a:t>
            </a:r>
            <a:endParaRPr lang="en-US" sz="14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/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/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architectures
</a:t>
            </a:r>
            <a:endParaRPr lang="en-US" sz="14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SOTA-range signed-graph link prediction, lean params</a:t>
            </a:r>
            <a:endParaRPr lang="en-US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What </a:t>
            </a:r>
            <a:r>
              <a:rPr lang="en-US" sz="29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HyMeKo</a:t>
            </a: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 describes</a:t>
            </a:r>
            <a:endParaRPr lang="en-US" sz="29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declarative model of structured systems as signed, hierarchical hypergraphs</a:t>
            </a:r>
            <a:endParaRPr lang="en-US" sz="15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captures a system's parts and the n-</a:t>
            </a:r>
            <a:r>
              <a:rPr lang="en-US" sz="15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ary</a:t>
            </a: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signed, hierarchical relations among them in one canonical hypergraph IR with content-hash identity — then renders that single description into many views.</a:t>
            </a:r>
            <a:endParaRPr lang="en-US" sz="15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2624328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31520" y="2990088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04088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Robotic &amp; cyber-physical</a:t>
            </a:r>
            <a:endParaRPr lang="en-US" sz="1450" noProof="0" dirty="0"/>
          </a:p>
        </p:txBody>
      </p:sp>
      <p:sp>
        <p:nvSpPr>
          <p:cNvPr id="9" name="Text 7"/>
          <p:cNvSpPr/>
          <p:nvPr/>
        </p:nvSpPr>
        <p:spPr>
          <a:xfrm>
            <a:off x="704088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links · joints · axes · signs</a:t>
            </a:r>
            <a:endParaRPr lang="en-US" sz="1150" noProof="0" dirty="0"/>
          </a:p>
        </p:txBody>
      </p:sp>
      <p:sp>
        <p:nvSpPr>
          <p:cNvPr id="10" name="Text 8"/>
          <p:cNvSpPr/>
          <p:nvPr/>
        </p:nvSpPr>
        <p:spPr>
          <a:xfrm>
            <a:off x="704088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URDF · SDF · MJCF · Gazebo</a:t>
            </a:r>
            <a:endParaRPr lang="en-US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3355848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3355848" y="2697480"/>
            <a:ext cx="2624328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3584448" y="2990088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3557016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Systems engineering</a:t>
            </a:r>
            <a:endParaRPr lang="en-US" sz="1450" noProof="0" dirty="0"/>
          </a:p>
        </p:txBody>
      </p:sp>
      <p:sp>
        <p:nvSpPr>
          <p:cNvPr id="15" name="Text 13"/>
          <p:cNvSpPr/>
          <p:nvPr/>
        </p:nvSpPr>
        <p:spPr>
          <a:xfrm>
            <a:off x="3557016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components · ports · flows</a:t>
            </a:r>
            <a:endParaRPr lang="en-US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3557016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</a:t>
            </a:r>
            <a:r>
              <a:rPr lang="en-US" sz="1150" b="1" noProof="0" dirty="0" err="1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</a:t>
            </a:r>
            <a:r>
              <a:rPr lang="en-US" sz="115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v2 · MBSE</a:t>
            </a:r>
            <a:endParaRPr lang="en-US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6208776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6"/>
          <p:cNvSpPr/>
          <p:nvPr/>
        </p:nvSpPr>
        <p:spPr>
          <a:xfrm>
            <a:off x="6208776" y="2697480"/>
            <a:ext cx="2624328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6437376" y="2990088"/>
            <a:ext cx="310896" cy="310896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6409944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relational graphs</a:t>
            </a:r>
            <a:endParaRPr lang="en-US" sz="1450" noProof="0" dirty="0"/>
          </a:p>
        </p:txBody>
      </p:sp>
      <p:sp>
        <p:nvSpPr>
          <p:cNvPr id="21" name="Text 19"/>
          <p:cNvSpPr/>
          <p:nvPr/>
        </p:nvSpPr>
        <p:spPr>
          <a:xfrm>
            <a:off x="6409944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trust votes · balance · cycles</a:t>
            </a:r>
            <a:endParaRPr lang="en-US" sz="1150" noProof="0" dirty="0"/>
          </a:p>
        </p:txBody>
      </p:sp>
      <p:sp>
        <p:nvSpPr>
          <p:cNvPr id="22" name="Text 20"/>
          <p:cNvSpPr/>
          <p:nvPr/>
        </p:nvSpPr>
        <p:spPr>
          <a:xfrm>
            <a:off x="6409944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link prediction</a:t>
            </a:r>
            <a:endParaRPr lang="en-US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9061704" y="2697480"/>
            <a:ext cx="262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Shape 22"/>
          <p:cNvSpPr/>
          <p:nvPr/>
        </p:nvSpPr>
        <p:spPr>
          <a:xfrm>
            <a:off x="9061704" y="2697480"/>
            <a:ext cx="26243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Shape 23"/>
          <p:cNvSpPr/>
          <p:nvPr/>
        </p:nvSpPr>
        <p:spPr>
          <a:xfrm>
            <a:off x="9290304" y="2990088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24"/>
          <p:cNvSpPr/>
          <p:nvPr/>
        </p:nvSpPr>
        <p:spPr>
          <a:xfrm>
            <a:off x="9262872" y="341071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Neural dataflow</a:t>
            </a:r>
            <a:endParaRPr lang="en-US" sz="1450" noProof="0" dirty="0"/>
          </a:p>
        </p:txBody>
      </p:sp>
      <p:sp>
        <p:nvSpPr>
          <p:cNvPr id="27" name="Text 25"/>
          <p:cNvSpPr/>
          <p:nvPr/>
        </p:nvSpPr>
        <p:spPr>
          <a:xfrm>
            <a:off x="9262872" y="40690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tensors · layers · signed hyperarcs</a:t>
            </a:r>
            <a:endParaRPr lang="en-US" sz="1150" noProof="0" dirty="0"/>
          </a:p>
        </p:txBody>
      </p:sp>
      <p:sp>
        <p:nvSpPr>
          <p:cNvPr id="28" name="Text 26"/>
          <p:cNvSpPr/>
          <p:nvPr/>
        </p:nvSpPr>
        <p:spPr>
          <a:xfrm>
            <a:off x="9262872" y="45720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noProof="0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torch module · NAS</a:t>
            </a:r>
            <a:endParaRPr lang="en-US" sz="1150" noProof="0" dirty="0"/>
          </a:p>
        </p:txBody>
      </p:sp>
      <p:sp>
        <p:nvSpPr>
          <p:cNvPr id="29" name="Shape 27"/>
          <p:cNvSpPr/>
          <p:nvPr/>
        </p:nvSpPr>
        <p:spPr>
          <a:xfrm>
            <a:off x="502920" y="525780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Text 28"/>
          <p:cNvSpPr/>
          <p:nvPr/>
        </p:nvSpPr>
        <p:spPr>
          <a:xfrm>
            <a:off x="502920" y="525780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canonical hypergraph IR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 ·   Blake3 structural identity   ·   cross-view consistency across every emitted target</a:t>
            </a:r>
            <a:endParaRPr lang="en-US" sz="1350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Goals at two levels</a:t>
            </a:r>
            <a:endParaRPr lang="en-US" sz="29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the language aims to do, and what the infrastructure underneath aims to deliver</a:t>
            </a:r>
            <a:endParaRPr lang="en-US" sz="15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language</a:t>
            </a:r>
            <a:endParaRPr lang="en-US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MODELLING GOALS</a:t>
            </a:r>
            <a:endParaRPr lang="en-US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declarative source of truth for n-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ary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signed, hierarchical structure</a:t>
            </a:r>
            <a:endParaRPr lang="en-US" sz="1400" noProof="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Cross-view consistency — many targets, one IR, provably the same system</a:t>
            </a:r>
            <a:endParaRPr lang="en-US" sz="1400" noProof="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Canonical hashing for structural identity and equality</a:t>
            </a:r>
            <a:endParaRPr lang="en-US" sz="1400" noProof="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Bridge model-based systems engineering (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) with executable robotics &amp; ML</a:t>
            </a:r>
            <a:endParaRPr lang="en-US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8640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6519672" y="1984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infrastructure</a:t>
            </a:r>
            <a:endParaRPr lang="en-US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653796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ENGINE GOALS</a:t>
            </a:r>
            <a:endParaRPr lang="en-US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6565392" y="297180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High-performance Rust engine — SIMD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lexer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~15 crates, 500+ passing tests</a:t>
            </a:r>
            <a:endParaRPr lang="en-US" sz="1400" noProof="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Real-time zero-copy streaming to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— O(|E|·d) star, sub-100-µs</a:t>
            </a:r>
            <a:endParaRPr lang="en-US" sz="1400" noProof="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Multi-surface: PyO3 wheel · </a:t>
            </a:r>
            <a:r>
              <a:rPr lang="en-US" sz="14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WebAssembly</a:t>
            </a: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editor · MCP server · REST</a:t>
            </a:r>
            <a:endParaRPr lang="en-US" sz="1400" noProof="0" dirty="0"/>
          </a:p>
          <a:p>
            <a:pPr marL="203200" indent="-2032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Reproducibility: benchmark harness, paired-seed evidence, 16 GB memory budget</a:t>
            </a:r>
            <a:endParaRPr lang="en-US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900" b="1" noProof="0" dirty="0">
                <a:solidFill>
                  <a:srgbClr val="202035"/>
                </a:solidFill>
                <a:latin typeface="Futura"/>
              </a:rPr>
              <a:t>The </a:t>
            </a:r>
            <a:r>
              <a:rPr lang="en-US" sz="2900" b="1" noProof="0" dirty="0" err="1">
                <a:solidFill>
                  <a:srgbClr val="202035"/>
                </a:solidFill>
                <a:latin typeface="Futura"/>
              </a:rPr>
              <a:t>HyMeKo</a:t>
            </a:r>
            <a:r>
              <a:rPr lang="en-US" sz="2900" b="1" noProof="0" dirty="0">
                <a:solidFill>
                  <a:srgbClr val="202035"/>
                </a:solidFill>
                <a:latin typeface="Futura"/>
              </a:rPr>
              <a:t> workflow —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i="1" noProof="0" dirty="0">
                <a:solidFill>
                  <a:srgbClr val="606070"/>
                </a:solidFill>
                <a:latin typeface="Bahnschrift"/>
              </a:rPr>
              <a:t>From a declarative source to every target format — and to a structural-prior model — through one canonical IR.</a:t>
            </a:r>
          </a:p>
        </p:txBody>
      </p:sp>
      <p:pic>
        <p:nvPicPr>
          <p:cNvPr id="4" name="Picture 3" descr="w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76" y="1600200"/>
            <a:ext cx="912139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noProof="0" dirty="0" err="1">
                <a:solidFill>
                  <a:srgbClr val="9090A0"/>
                </a:solidFill>
                <a:latin typeface="Bahnschrift"/>
              </a:rPr>
              <a:t>HyMeKo</a:t>
            </a:r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 · PhD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</a:t>
            </a:r>
            <a:endParaRPr lang="en-US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</a:t>
            </a:r>
            <a:r>
              <a:rPr lang="en-US" sz="48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HyMeKo</a:t>
            </a:r>
            <a:r>
              <a:rPr lang="en-US" sz="48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 Framework</a:t>
            </a:r>
            <a:endParaRPr lang="en-US" sz="4800" noProof="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domain-specific language and a high-performance Rust engine for hypergraphs</a:t>
            </a:r>
            <a:endParaRPr lang="en-US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00" noProof="0" dirty="0"/>
          </a:p>
        </p:txBody>
      </p:sp>
      <p:pic>
        <p:nvPicPr>
          <p:cNvPr id="22" name="Picture 21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declarative language for hypergraphs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Hyperedges are first-class</a:t>
            </a:r>
            <a:endParaRPr lang="en-US" sz="1500" noProof="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edges connect arbitrary numbers of nodes, not just pairs</a:t>
            </a:r>
            <a:endParaRPr lang="en-US" sz="15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Hierarchical paths</a:t>
            </a:r>
            <a:endParaRPr lang="en-US" sz="1500" noProof="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nodes nest; references resolve through dot-paths like </a:t>
            </a:r>
            <a:r>
              <a:rPr lang="en-US" sz="12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Root.A.B</a:t>
            </a:r>
            <a:endParaRPr lang="en-US" sz="15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arc bindings</a:t>
            </a:r>
            <a:endParaRPr lang="en-US" sz="1500" noProof="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+/− mark the orientation of a relation (parent/child, in/out)</a:t>
            </a:r>
            <a:endParaRPr lang="en-US" sz="15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Tags = roles</a:t>
            </a:r>
            <a:endParaRPr lang="en-US" sz="15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&lt;link&gt;, &lt;input&gt;, &lt;dataflow&gt; classify a node's semantics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806440" y="1234440"/>
            <a:ext cx="5897880" cy="4434840"/>
          </a:xfrm>
          <a:prstGeom prst="roundRect">
            <a:avLst>
              <a:gd name="adj" fmla="val 1237"/>
            </a:avLst>
          </a:prstGeom>
          <a:solidFill>
            <a:srgbClr val="241B4A"/>
          </a:solidFill>
          <a:ln/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 err="1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reuse_arm.hymeko</a:t>
            </a:r>
            <a:endParaRPr lang="en-US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5257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arm_reuse_description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{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@"meta_kinematics.hymeko";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using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kinematics.elements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as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el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using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kinematics.geometry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as geo;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using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kinematics.axes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as ax;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}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robot: 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el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, geo, ax {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base: 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el.link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{ mass 2.0;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 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: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geo.cylinder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{ dimension [0.075,0.2]; }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  visual -&gt;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 collision -&gt;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 }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forearm: 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el.link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{ mass 0.6;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 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: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geo.cylinder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{ dimension [0.05,0.3]; }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  visual -&gt;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 collision -&gt;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 }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wheel: 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el.link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{ mass 0.3;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 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: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geo.cylinder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{ dimension [0.1,0.05]; }</a:t>
            </a:r>
          </a:p>
          <a:p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    visual -&gt;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 collision -&gt; </a:t>
            </a:r>
            <a:r>
              <a:rPr lang="en-US" sz="1100" noProof="0" dirty="0" err="1">
                <a:solidFill>
                  <a:srgbClr val="9BE8C0"/>
                </a:solidFill>
                <a:latin typeface="Consolas"/>
              </a:rPr>
              <a:t>link_geometry</a:t>
            </a:r>
            <a:r>
              <a:rPr lang="en-US" sz="1100" noProof="0" dirty="0">
                <a:solidFill>
                  <a:srgbClr val="9BE8C0"/>
                </a:solidFill>
                <a:latin typeface="Consolas"/>
              </a:rPr>
              <a:t>; }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@shoulder: 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meta_kinematics.kinematics.rev_joint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{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  (+ base [[0,0,0.2],[0,0,0]], -forearm, -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ax.AXIS_Z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); }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@hub: 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meta_kinematics.kinematics.conti_joint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{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    (+ base [[0.1,0,0],[0,0,0]], -wheel, -</a:t>
            </a:r>
            <a:r>
              <a:rPr lang="en-US" sz="1100" noProof="0" dirty="0" err="1">
                <a:solidFill>
                  <a:srgbClr val="ECE9FB"/>
                </a:solidFill>
                <a:latin typeface="Consolas"/>
              </a:rPr>
              <a:t>ax.AXIS_Y</a:t>
            </a:r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); }</a:t>
            </a:r>
          </a:p>
          <a:p>
            <a:r>
              <a:rPr lang="en-US" sz="1100" noProof="0" dirty="0">
                <a:solidFill>
                  <a:srgbClr val="ECE9FB"/>
                </a:solidFill>
                <a:latin typeface="Consolas"/>
              </a:rPr>
              <a:t>}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9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806440" y="5742432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0E6B4F"/>
                </a:solidFill>
                <a:latin typeface="Bahnschrift"/>
              </a:rPr>
              <a:t>Compiles as-is (grammar: parser/</a:t>
            </a:r>
            <a:r>
              <a:rPr lang="en-US" sz="1200" b="1" noProof="0" dirty="0" err="1">
                <a:solidFill>
                  <a:srgbClr val="0E6B4F"/>
                </a:solidFill>
                <a:latin typeface="Bahnschrift"/>
              </a:rPr>
              <a:t>src</a:t>
            </a:r>
            <a:r>
              <a:rPr lang="en-US" sz="1200" b="1" noProof="0" dirty="0">
                <a:solidFill>
                  <a:srgbClr val="0E6B4F"/>
                </a:solidFill>
                <a:latin typeface="Bahnschrift"/>
              </a:rPr>
              <a:t>/</a:t>
            </a:r>
            <a:r>
              <a:rPr lang="en-US" sz="1200" b="1" noProof="0" dirty="0" err="1">
                <a:solidFill>
                  <a:srgbClr val="0E6B4F"/>
                </a:solidFill>
                <a:latin typeface="Bahnschrift"/>
              </a:rPr>
              <a:t>hymeko.lalrpop</a:t>
            </a:r>
            <a:r>
              <a:rPr lang="en-US" sz="1200" b="1" noProof="0" dirty="0">
                <a:solidFill>
                  <a:srgbClr val="0E6B4F"/>
                </a:solidFill>
                <a:latin typeface="Bahnschrift"/>
              </a:rPr>
              <a:t>; cf. data/profiles/</a:t>
            </a:r>
            <a:r>
              <a:rPr lang="en-US" sz="1200" b="1" noProof="0" dirty="0" err="1">
                <a:solidFill>
                  <a:srgbClr val="0E6B4F"/>
                </a:solidFill>
                <a:latin typeface="Bahnschrift"/>
              </a:rPr>
              <a:t>robot_arm.hymeko</a:t>
            </a:r>
            <a:r>
              <a:rPr lang="en-US" sz="1200" b="1" noProof="0" dirty="0">
                <a:solidFill>
                  <a:srgbClr val="0E6B4F"/>
                </a:solidFill>
                <a:latin typeface="Bahnschrift"/>
              </a:rPr>
              <a:t>). One import + one geometry per link, referenced by visual + collision — defined once, no duplication.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source text to a hypergraph IR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complete compiler pipeline, written in Rust</a:t>
            </a:r>
            <a:endParaRPr lang="en-US" sz="1500" noProof="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4"/>
          <p:cNvSpPr/>
          <p:nvPr/>
        </p:nvSpPr>
        <p:spPr>
          <a:xfrm>
            <a:off x="73152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5"/>
          <p:cNvSpPr/>
          <p:nvPr/>
        </p:nvSpPr>
        <p:spPr>
          <a:xfrm>
            <a:off x="118872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
</a:t>
            </a:r>
            <a:endParaRPr lang="en-US" sz="1500" noProof="0" dirty="0"/>
          </a:p>
          <a:p>
            <a:pPr marL="0" indent="0"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content-hash node identity</a:t>
            </a:r>
            <a:endParaRPr lang="en-US" sz="1500" noProof="0" dirty="0"/>
          </a:p>
        </p:txBody>
      </p:sp>
      <p:sp>
        <p:nvSpPr>
          <p:cNvPr id="28" name="Shape 26"/>
          <p:cNvSpPr/>
          <p:nvPr/>
        </p:nvSpPr>
        <p:spPr>
          <a:xfrm>
            <a:off x="429768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Shape 27"/>
          <p:cNvSpPr/>
          <p:nvPr/>
        </p:nvSpPr>
        <p:spPr>
          <a:xfrm>
            <a:off x="452628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Text 28"/>
          <p:cNvSpPr/>
          <p:nvPr/>
        </p:nvSpPr>
        <p:spPr>
          <a:xfrm>
            <a:off x="498348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Symbol interning
</a:t>
            </a:r>
            <a:endParaRPr lang="en-US" sz="1500" noProof="0" dirty="0"/>
          </a:p>
          <a:p>
            <a:pPr marL="0" indent="0"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memory-efficient paths</a:t>
            </a:r>
            <a:endParaRPr lang="en-US" sz="1500" noProof="0" dirty="0"/>
          </a:p>
        </p:txBody>
      </p:sp>
      <p:sp>
        <p:nvSpPr>
          <p:cNvPr id="31" name="Shape 29"/>
          <p:cNvSpPr/>
          <p:nvPr/>
        </p:nvSpPr>
        <p:spPr>
          <a:xfrm>
            <a:off x="8092440" y="41605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Shape 30"/>
          <p:cNvSpPr/>
          <p:nvPr/>
        </p:nvSpPr>
        <p:spPr>
          <a:xfrm>
            <a:off x="8321040" y="4389120"/>
            <a:ext cx="292608" cy="292608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Text 31"/>
          <p:cNvSpPr/>
          <p:nvPr/>
        </p:nvSpPr>
        <p:spPr>
          <a:xfrm>
            <a:off x="8778240" y="4315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/ clique
</a:t>
            </a:r>
            <a:endParaRPr lang="en-US" sz="1500" noProof="0" dirty="0"/>
          </a:p>
          <a:p>
            <a:pPr marL="0" indent="0"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tensor expansions</a:t>
            </a:r>
            <a:endParaRPr lang="en-US" sz="1500" noProof="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900" noProof="0" dirty="0"/>
          </a:p>
        </p:txBody>
      </p:sp>
      <p:pic>
        <p:nvPicPr>
          <p:cNvPr id="36" name="Picture 35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045" y="1874519"/>
            <a:ext cx="86948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Star vs clique: the efficiency argument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50-node / 50-edge / 0.30-density hypergraph, two </a:t>
            </a:r>
            <a:r>
              <a:rPr lang="en-US" sz="150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materialisations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91440" cy="109728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777240" y="1783080"/>
                <a:ext cx="49377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noProof="0" dirty="0">
                    <a:solidFill>
                      <a:srgbClr val="0E9D6E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STAR · incidence   </a:t>
                </a:r>
                <a14:m>
                  <m:oMath xmlns:m="http://schemas.openxmlformats.org/officeDocument/2006/math"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𝑂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(|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𝐸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|·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𝑑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)</m:t>
                    </m:r>
                  </m:oMath>
                </a14:m>
                <a:endParaRPr lang="en-US" sz="1500" noProof="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783080"/>
                <a:ext cx="4937760" cy="365760"/>
              </a:xfrm>
              <a:prstGeom prst="rect">
                <a:avLst/>
              </a:prstGeom>
              <a:blipFill>
                <a:blip r:embed="rId3"/>
                <a:stretch>
                  <a:fillRect l="-2346" b="-1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777240" y="2212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1,498 NNZ      </a:t>
            </a:r>
            <a:r>
              <a:rPr lang="en-US" sz="17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79.7 </a:t>
            </a:r>
            <a:r>
              <a:rPr lang="en-US" sz="1700" b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ms</a:t>
            </a:r>
            <a:endParaRPr lang="en-US" sz="1700" noProof="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9144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6583680" y="1783080"/>
                <a:ext cx="493776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noProof="0" dirty="0">
                    <a:solidFill>
                      <a:srgbClr val="2563EB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CLIQUE · projected adjacency   </a:t>
                </a:r>
                <a14:m>
                  <m:oMath xmlns:m="http://schemas.openxmlformats.org/officeDocument/2006/math"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𝑂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(|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𝐸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|·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𝑑</m:t>
                    </m:r>
                    <m:r>
                      <a:rPr lang="en-US" sz="1300" i="1" noProof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²)</m:t>
                    </m:r>
                  </m:oMath>
                </a14:m>
                <a:endParaRPr lang="en-US" sz="1500" noProof="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783080"/>
                <a:ext cx="4937760" cy="365760"/>
              </a:xfrm>
              <a:prstGeom prst="rect">
                <a:avLst/>
              </a:prstGeom>
              <a:blipFill>
                <a:blip r:embed="rId4"/>
                <a:stretch>
                  <a:fillRect l="-2346" b="-1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6583680" y="22128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10,991 NNZ      </a:t>
            </a:r>
            <a:r>
              <a:rPr lang="en-US" sz="17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496 </a:t>
            </a:r>
            <a:r>
              <a:rPr lang="en-US" sz="1700" b="1" noProof="0" dirty="0" err="1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ms</a:t>
            </a:r>
            <a:endParaRPr lang="en-US" sz="1700" noProof="0" dirty="0"/>
          </a:p>
        </p:txBody>
      </p:sp>
      <p:sp>
        <p:nvSpPr>
          <p:cNvPr id="18" name="Text 14"/>
          <p:cNvSpPr/>
          <p:nvPr/>
        </p:nvSpPr>
        <p:spPr>
          <a:xfrm>
            <a:off x="50292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Star expansion is what keeps hypergraph neural networks scalable.</a:t>
            </a:r>
            <a:endParaRPr lang="en-US" sz="1350" noProof="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900" noProof="0" dirty="0"/>
          </a:p>
        </p:txBody>
      </p:sp>
      <p:pic>
        <p:nvPicPr>
          <p:cNvPr id="21" name="Picture 20" descr="tensor_pane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950" y="2880360"/>
            <a:ext cx="6247051" cy="2926080"/>
          </a:xfrm>
          <a:prstGeom prst="rect">
            <a:avLst/>
          </a:prstGeom>
        </p:spPr>
      </p:pic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56719F5F-2448-2DEA-B75F-10D808F1F7BA}"/>
              </a:ext>
            </a:extLst>
          </p:cNvPr>
          <p:cNvSpPr/>
          <p:nvPr/>
        </p:nvSpPr>
        <p:spPr>
          <a:xfrm>
            <a:off x="401320" y="3863340"/>
            <a:ext cx="23876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Still: same graph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24AA25C6-5824-8DB9-97FF-654A96CAF050}"/>
              </a:ext>
            </a:extLst>
          </p:cNvPr>
          <p:cNvSpPr/>
          <p:nvPr/>
        </p:nvSpPr>
        <p:spPr>
          <a:xfrm>
            <a:off x="9308593" y="3863340"/>
            <a:ext cx="2331720" cy="9144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Different tensor view</a:t>
            </a: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FC30C8A4-4C70-8CD8-EC1C-D9239ED5A523}"/>
              </a:ext>
            </a:extLst>
          </p:cNvPr>
          <p:cNvSpPr/>
          <p:nvPr/>
        </p:nvSpPr>
        <p:spPr>
          <a:xfrm>
            <a:off x="401320" y="5257800"/>
            <a:ext cx="2387600" cy="914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Star expansion keeps structure</a:t>
            </a:r>
          </a:p>
        </p:txBody>
      </p:sp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BB6077D4-65FD-BBD1-F818-FABA95ED9CA1}"/>
              </a:ext>
            </a:extLst>
          </p:cNvPr>
          <p:cNvSpPr/>
          <p:nvPr/>
        </p:nvSpPr>
        <p:spPr>
          <a:xfrm>
            <a:off x="9280652" y="5257800"/>
            <a:ext cx="2387600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0" dirty="0">
                <a:latin typeface="Futura" panose="02020800000000000000" pitchFamily="18" charset="0"/>
                <a:ea typeface="Futura" panose="02020800000000000000" pitchFamily="18" charset="0"/>
                <a:cs typeface="Futura" panose="02020800000000000000" pitchFamily="18" charset="0"/>
              </a:rPr>
              <a:t>Clique expansion algebraic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 zero-copy bridge to the GPU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Control plane and data plane are separated; topology changes and weight streams take different paths</a:t>
            </a:r>
            <a:endParaRPr lang="en-US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82296" cy="1417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040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Rust core + daemon
</a:t>
            </a:r>
            <a:endParaRPr lang="en-US" sz="1400" noProof="0" dirty="0"/>
          </a:p>
          <a:p>
            <a:pPr marL="0" indent="0"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 topology hash · Iceoryx2 service</a:t>
            </a:r>
            <a:endParaRPr lang="en-US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34015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37033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82296" cy="1417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39044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Shared memory
</a:t>
            </a:r>
            <a:endParaRPr lang="en-US" sz="1400" noProof="0" dirty="0"/>
          </a:p>
          <a:p>
            <a:pPr marL="0" indent="0"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Apache Arrow record batches in /dev/</a:t>
            </a:r>
            <a:r>
              <a:rPr lang="en-US" sz="11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shm</a:t>
            </a:r>
            <a:endParaRPr lang="en-US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66019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903720" y="192024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6903720" y="1920240"/>
            <a:ext cx="82296" cy="14173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104888" y="20848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PyO3 + </a:t>
            </a:r>
            <a:r>
              <a:rPr lang="en-US" sz="140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DLPack</a:t>
            </a: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
</a:t>
            </a:r>
            <a:endParaRPr lang="en-US" sz="1400" noProof="0" dirty="0"/>
          </a:p>
          <a:p>
            <a:pPr marL="0" indent="0"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 pointer · zero-copy handshake</a:t>
            </a:r>
            <a:endParaRPr lang="en-US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9802368" y="2628900"/>
            <a:ext cx="28346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6"/>
          <p:cNvSpPr/>
          <p:nvPr/>
        </p:nvSpPr>
        <p:spPr>
          <a:xfrm>
            <a:off x="10104120" y="19202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10104120" y="1920240"/>
            <a:ext cx="82296" cy="141732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10305288" y="2084832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</a:t>
            </a: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GPU
</a:t>
            </a:r>
            <a:endParaRPr lang="en-US" sz="1400" noProof="0" dirty="0"/>
          </a:p>
          <a:p>
            <a:pPr marL="0" indent="0"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training loop</a:t>
            </a:r>
            <a:endParaRPr lang="en-US" sz="1400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11201400" cy="1783080"/>
          </a:xfrm>
          <a:prstGeom prst="roundRect">
            <a:avLst>
              <a:gd name="adj" fmla="val 4103"/>
            </a:avLst>
          </a:prstGeom>
          <a:solidFill>
            <a:srgbClr val="F4F1FC"/>
          </a:solidFill>
          <a:ln w="12700">
            <a:solidFill>
              <a:srgbClr val="E4DFF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topology-hash gate</a:t>
            </a:r>
            <a:endParaRPr lang="en-US" sz="14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21"/>
              <p:cNvSpPr/>
              <p:nvPr/>
            </p:nvSpPr>
            <p:spPr>
              <a:xfrm>
                <a:off x="731520" y="4434840"/>
                <a:ext cx="1060704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50" b="1" noProof="0" dirty="0">
                    <a:solidFill>
                      <a:srgbClr val="2563EB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hash changed → </a:t>
                </a:r>
                <a:r>
                  <a:rPr lang="en-US" sz="1350" noProof="0" dirty="0">
                    <a:solidFill>
                      <a:srgbClr val="201A4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Structural update: re-emit Arrow mapping </a:t>
                </a:r>
                <a14:m>
                  <m:oMath xmlns:m="http://schemas.openxmlformats.org/officeDocument/2006/math">
                    <m:r>
                      <a:rPr lang="en-US" sz="1350" i="1" noProof="0" dirty="0" smtClean="0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</m:t>
                    </m:r>
                    <m:r>
                      <a:rPr lang="en-US" sz="1350" i="1" noProof="0" dirty="0" smtClean="0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𝑘</m:t>
                    </m:r>
                    <m:r>
                      <a:rPr lang="en-US" sz="1350" i="1" noProof="0" dirty="0" smtClean="0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, </m:t>
                    </m:r>
                    <m:r>
                      <a:rPr lang="en-US" sz="1350" i="1" noProof="0" dirty="0" err="1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𝑖</m:t>
                    </m:r>
                    <m:r>
                      <a:rPr lang="en-US" sz="1350" i="1" noProof="0" dirty="0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, </m:t>
                    </m:r>
                    <m:r>
                      <a:rPr lang="en-US" sz="1350" i="1" noProof="0" dirty="0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𝑗</m:t>
                    </m:r>
                    <m:r>
                      <a:rPr lang="en-US" sz="1350" i="1" noProof="0" dirty="0">
                        <a:solidFill>
                          <a:srgbClr val="201A4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)</m:t>
                    </m:r>
                  </m:oMath>
                </a14:m>
                <a:r>
                  <a:rPr lang="en-US" sz="1350" noProof="0" dirty="0">
                    <a:solidFill>
                      <a:srgbClr val="201A4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, subscriber re-maps memory.</a:t>
                </a:r>
                <a:endParaRPr lang="en-US" sz="1350" noProof="0" dirty="0"/>
              </a:p>
            </p:txBody>
          </p:sp>
        </mc:Choice>
        <mc:Fallback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434840"/>
                <a:ext cx="10607040" cy="411480"/>
              </a:xfrm>
              <a:prstGeom prst="rect">
                <a:avLst/>
              </a:prstGeom>
              <a:blipFill>
                <a:blip r:embed="rId3"/>
                <a:stretch>
                  <a:fillRect l="-977" b="-14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73152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hash same → 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 path: stream raw f32 weights only — no re-allocation, no serialization.</a:t>
            </a:r>
            <a:endParaRPr lang="en-US" sz="1350" noProof="0" dirty="0"/>
          </a:p>
        </p:txBody>
      </p:sp>
      <p:sp>
        <p:nvSpPr>
          <p:cNvPr id="25" name="Shape 23"/>
          <p:cNvSpPr/>
          <p:nvPr/>
        </p:nvSpPr>
        <p:spPr>
          <a:xfrm>
            <a:off x="9464040" y="4069080"/>
            <a:ext cx="2011680" cy="13716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24"/>
          <p:cNvSpPr/>
          <p:nvPr/>
        </p:nvSpPr>
        <p:spPr>
          <a:xfrm>
            <a:off x="9464040" y="42245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 100 µs
</a:t>
            </a:r>
            <a:endParaRPr lang="en-US" sz="22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E9E2F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memory injection</a:t>
            </a:r>
            <a:endParaRPr lang="en-US" sz="2200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is modelled in </a:t>
            </a:r>
            <a:r>
              <a:rPr lang="en-US" sz="125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</a:t>
            </a:r>
            <a:r>
              <a:rPr lang="en-US" sz="12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2 — control-plane / data-plane, sequence, and state views.</a:t>
            </a:r>
            <a:endParaRPr lang="en-US" sz="125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Query-driven transforms: one graph, many targets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compiled hypergraph becomes any text output through a </a:t>
            </a:r>
            <a:r>
              <a:rPr lang="en-US" sz="15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query + template</a:t>
            </a: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pair.</a:t>
            </a:r>
            <a:endParaRPr lang="en-US" sz="15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Rust, no recompile — the engine stays domain-neutral.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5486400" cy="3017520"/>
          </a:xfrm>
          <a:prstGeom prst="roundRect">
            <a:avLst>
              <a:gd name="adj" fmla="val 2121"/>
            </a:avLst>
          </a:prstGeom>
          <a:solidFill>
            <a:srgbClr val="241B4A"/>
          </a:solidFill>
          <a:ln/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 err="1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queries.hymeko</a:t>
            </a:r>
            <a:r>
              <a:rPr lang="en-US" sz="1200" noProof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template.urdf.xml</a:t>
            </a:r>
            <a:endParaRPr lang="en-US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links:            link        {}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@revolute_joints: </a:t>
            </a:r>
            <a:r>
              <a:rPr lang="en-US" sz="12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rev_joint</a:t>
            </a: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{}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{{#each </a:t>
            </a:r>
            <a:r>
              <a:rPr lang="en-US" sz="12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revolute_joints</a:t>
            </a: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&lt;joint name="{{name}}" type="revolute"&gt;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&lt;parent link="{{bind:+:0}}"/&gt;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&lt;child  link="{{bind:-:0}}"/&gt;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&lt;/joint&gt;</a:t>
            </a:r>
            <a:endParaRPr lang="en-US" sz="125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{{/each}}</a:t>
            </a:r>
            <a:endParaRPr lang="en-US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noProof="0" dirty="0" err="1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hymeko</a:t>
            </a:r>
            <a:r>
              <a:rPr lang="en-US" sz="1150" i="1" noProof="0" dirty="0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transform </a:t>
            </a:r>
            <a:r>
              <a:rPr lang="en-US" sz="1150" i="1" noProof="0" dirty="0" err="1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robot.hymeko</a:t>
            </a:r>
            <a:r>
              <a:rPr lang="en-US" sz="1150" i="1" noProof="0" dirty="0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-t </a:t>
            </a:r>
            <a:r>
              <a:rPr lang="en-US" sz="1150" i="1" noProof="0" dirty="0" err="1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urdf</a:t>
            </a:r>
            <a:r>
              <a:rPr lang="en-US" sz="1150" i="1" noProof="0" dirty="0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-o </a:t>
            </a:r>
            <a:r>
              <a:rPr lang="en-US" sz="1150" i="1" noProof="0" dirty="0" err="1">
                <a:solidFill>
                  <a:srgbClr val="6B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robot.urdf</a:t>
            </a:r>
            <a:endParaRPr lang="en-US" sz="1150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IR, many targets</a:t>
            </a:r>
            <a:endParaRPr lang="en-US" sz="15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6446520" y="1664208"/>
                <a:ext cx="53035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05000"/>
                  </a:lnSpc>
                  <a:buNone/>
                </a:pPr>
                <a:r>
                  <a:rPr lang="en-US" sz="1150" noProof="0" dirty="0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Pair-wise converters </a:t>
                </a:r>
                <a14:m>
                  <m:oMath xmlns:m="http://schemas.openxmlformats.org/officeDocument/2006/math"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𝑁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×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𝑀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) </m:t>
                    </m:r>
                  </m:oMath>
                </a14:m>
                <a:r>
                  <a:rPr lang="en-US" sz="1150" noProof="0" dirty="0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collapse to a hub-and-spoke </a:t>
                </a:r>
                <a14:m>
                  <m:oMath xmlns:m="http://schemas.openxmlformats.org/officeDocument/2006/math"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(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𝑁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+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𝑀</m:t>
                    </m:r>
                    <m:r>
                      <a:rPr lang="en-US" sz="1150" i="1" noProof="0" dirty="0" smtClean="0">
                        <a:solidFill>
                          <a:srgbClr val="6B6690"/>
                        </a:solidFill>
                        <a:latin typeface="Cambria Math" panose="02040503050406030204" pitchFamily="18" charset="0"/>
                        <a:ea typeface="Bahnschrift" pitchFamily="34" charset="-122"/>
                        <a:cs typeface="Bahnschrift" pitchFamily="34" charset="-120"/>
                      </a:rPr>
                      <m:t>)</m:t>
                    </m:r>
                  </m:oMath>
                </a14:m>
                <a:r>
                  <a:rPr lang="en-US" sz="1150" noProof="0" dirty="0">
                    <a:solidFill>
                      <a:srgbClr val="6B6690"/>
                    </a:solidFill>
                    <a:latin typeface="Bahnschrift" pitchFamily="34" charset="0"/>
                    <a:ea typeface="Bahnschrift" pitchFamily="34" charset="-122"/>
                    <a:cs typeface="Bahnschrift" pitchFamily="34" charset="-120"/>
                  </a:rPr>
                  <a:t> around the canonical IR.</a:t>
                </a:r>
                <a:endParaRPr lang="en-US" sz="1150" noProof="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1664208"/>
                <a:ext cx="5303520" cy="548640"/>
              </a:xfrm>
              <a:prstGeom prst="rect">
                <a:avLst/>
              </a:prstGeom>
              <a:blipFill>
                <a:blip r:embed="rId3"/>
                <a:stretch>
                  <a:fillRect l="-1724" r="-2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0" descr="pairwise_vs_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331720"/>
            <a:ext cx="5285232" cy="18653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</a:t>
            </a:r>
            <a:endParaRPr lang="en-US" sz="900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30352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US" sz="1050" i="1" noProof="0" dirty="0">
                <a:solidFill>
                  <a:srgbClr val="6B6690"/>
                </a:solidFill>
                <a:latin typeface="Bahnschrift"/>
              </a:rPr>
              <a:t>Cross-format invariant: one source → consistent outputs, one canonical hash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336" y="4498848"/>
            <a:ext cx="4213887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900" b="1" noProof="0" dirty="0">
                <a:solidFill>
                  <a:srgbClr val="202035"/>
                </a:solidFill>
                <a:latin typeface="Futura"/>
              </a:rPr>
              <a:t>How compact is the DSL?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100" b="1" noProof="0" dirty="0">
                <a:solidFill>
                  <a:srgbClr val="2563EB"/>
                </a:solidFill>
                <a:latin typeface="Bahnschrift"/>
              </a:rPr>
              <a:t>PART I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i="1" noProof="0" dirty="0">
                <a:solidFill>
                  <a:srgbClr val="606070"/>
                </a:solidFill>
                <a:latin typeface="Bahnschrift"/>
              </a:rPr>
              <a:t>Same robot, full description — </a:t>
            </a:r>
            <a:r>
              <a:rPr lang="en-US" sz="1400" i="1" noProof="0" dirty="0" err="1">
                <a:solidFill>
                  <a:srgbClr val="606070"/>
                </a:solidFill>
                <a:latin typeface="Bahnschrift"/>
              </a:rPr>
              <a:t>HyMeKo</a:t>
            </a:r>
            <a:r>
              <a:rPr lang="en-US" sz="1400" i="1" noProof="0" dirty="0">
                <a:solidFill>
                  <a:srgbClr val="606070"/>
                </a:solidFill>
                <a:latin typeface="Bahnschrift"/>
              </a:rPr>
              <a:t> (one source) vs what each ecosystem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 err="1">
                <a:solidFill>
                  <a:srgbClr val="0E6B4F"/>
                </a:solidFill>
                <a:latin typeface="Bahnschrift"/>
              </a:rPr>
              <a:t>HyMeKo</a:t>
            </a:r>
            <a:r>
              <a:rPr lang="en-US" sz="1600" b="1" noProof="0" dirty="0">
                <a:solidFill>
                  <a:srgbClr val="0E6B4F"/>
                </a:solidFill>
                <a:latin typeface="Bahnschrift"/>
              </a:rPr>
              <a:t> says the whole deployable system once — in one file, with reuse.</a:t>
            </a:r>
          </a:p>
          <a:p>
            <a:r>
              <a:rPr lang="en-US" sz="1200" b="0" noProof="0" dirty="0">
                <a:solidFill>
                  <a:srgbClr val="505060"/>
                </a:solidFill>
                <a:latin typeface="Bahnschrift"/>
              </a:rPr>
              <a:t>The 6-DoF source carries mechanism + control interfaces + limits + sensors + Gazebo sim + a trajectory controller, with a single control definition reused across all six joints and one geometry per link (visual + collision). The ROS/Gazebo equivalent is a bundle — URDF + world SDF + launch + ros2_control YAML (~10 kB, ~4 hand-synced files).</a:t>
            </a:r>
          </a:p>
          <a:p>
            <a:r>
              <a:rPr lang="en-US" sz="1200" b="0" noProof="0" dirty="0" err="1">
                <a:solidFill>
                  <a:srgbClr val="505060"/>
                </a:solidFill>
                <a:latin typeface="Bahnschrift"/>
              </a:rPr>
              <a:t>MuJoCo's</a:t>
            </a:r>
            <a:r>
              <a:rPr lang="en-US" sz="1200" b="0" noProof="0" dirty="0">
                <a:solidFill>
                  <a:srgbClr val="505060"/>
                </a:solidFill>
                <a:latin typeface="Bahnschrift"/>
              </a:rPr>
              <a:t> MJCF can't express the ros2_control interfaces, controller or plugins at all; even approximating the interfaces takes 18 actuators + 12 sensors — one per joint per interface, no reuse.  (PhD defense, Thesis I.)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noProof="0" dirty="0" err="1">
                <a:solidFill>
                  <a:srgbClr val="9090A0"/>
                </a:solidFill>
                <a:latin typeface="Bahnschrift"/>
              </a:rPr>
              <a:t>HyMeKo</a:t>
            </a:r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 · PhD Seminar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17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011680"/>
            <a:ext cx="2788920" cy="20916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0" y="415823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noProof="0" dirty="0">
                <a:solidFill>
                  <a:srgbClr val="606070"/>
                </a:solidFill>
                <a:latin typeface="Bahnschrift"/>
              </a:rPr>
              <a:t>The generated robot, simulated in </a:t>
            </a:r>
            <a:r>
              <a:rPr lang="en-US" sz="1000" i="1" noProof="0" dirty="0" err="1">
                <a:solidFill>
                  <a:srgbClr val="606070"/>
                </a:solidFill>
                <a:latin typeface="Bahnschrift"/>
              </a:rPr>
              <a:t>MuJoCo</a:t>
            </a:r>
            <a:r>
              <a:rPr lang="en-US" sz="1000" i="1" noProof="0" dirty="0">
                <a:solidFill>
                  <a:srgbClr val="606070"/>
                </a:solidFill>
                <a:latin typeface="Bahnschrift"/>
              </a:rPr>
              <a:t> — compiled from the same .</a:t>
            </a:r>
            <a:r>
              <a:rPr lang="en-US" sz="1000" i="1" noProof="0" dirty="0" err="1">
                <a:solidFill>
                  <a:srgbClr val="606070"/>
                </a:solidFill>
                <a:latin typeface="Bahnschrift"/>
              </a:rPr>
              <a:t>hymeko</a:t>
            </a:r>
            <a:r>
              <a:rPr lang="en-US" sz="1000" i="1" noProof="0" dirty="0">
                <a:solidFill>
                  <a:srgbClr val="606070"/>
                </a:solidFill>
                <a:latin typeface="Bahnschrift"/>
              </a:rPr>
              <a:t> source.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673171"/>
              </p:ext>
            </p:extLst>
          </p:nvPr>
        </p:nvGraphicFramePr>
        <p:xfrm>
          <a:off x="502920" y="1828800"/>
          <a:ext cx="8229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lang="en-US" sz="15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Kinematic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 err="1">
                          <a:solidFill>
                            <a:srgbClr val="FFFFFF"/>
                          </a:solidFill>
                          <a:latin typeface="Bahnschrift"/>
                        </a:rPr>
                        <a:t>HyMeKo</a:t>
                      </a:r>
                      <a:endParaRPr lang="en-US" sz="1500" b="1" noProof="0" dirty="0">
                        <a:solidFill>
                          <a:srgbClr val="FFFFFF"/>
                        </a:solidFill>
                        <a:latin typeface="Bahnschrif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URDF + ROS/Gazebo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 err="1">
                          <a:solidFill>
                            <a:srgbClr val="FFFFFF"/>
                          </a:solidFill>
                          <a:latin typeface="Bahnschrift"/>
                        </a:rPr>
                        <a:t>MuJoCo</a:t>
                      </a:r>
                      <a:r>
                        <a:rPr lang="en-US" sz="14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 (MJCF)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lang="en-US" sz="15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2-joint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lang="en-US" sz="15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SCARA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6-DoF arm + control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6,134</a:t>
                      </a:r>
                    </a:p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(1 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≈10 k</a:t>
                      </a:r>
                    </a:p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(4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can't</a:t>
                      </a:r>
                    </a:p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(mech.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Built like a system, not a script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 · FRAMEWORK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Systems-engineering discipline is part of the contribution, not an afterthought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</a:t>
            </a:r>
            <a:r>
              <a:rPr lang="en-US" sz="16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2 models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758952" y="22585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architecture view — use-case, sequence, state, layered — has a formal </a:t>
            </a:r>
            <a:r>
              <a:rPr lang="en-US" sz="12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SysML</a:t>
            </a: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2 companion beside its Mermaid rendering.</a:t>
            </a:r>
            <a:endParaRPr lang="en-US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6473952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Workspace of crates</a:t>
            </a:r>
            <a:endParaRPr lang="en-US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5895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protection</a:t>
            </a:r>
            <a:endParaRPr lang="en-US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758952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CORE.YAML contract marks load-bearing modules read-only; any core change requires a written plan and migration path first.</a:t>
            </a:r>
            <a:endParaRPr lang="en-US" sz="1250" noProof="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82296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647395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Plan-first protocol</a:t>
            </a:r>
            <a:endParaRPr lang="en-US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6473952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Non-trivial changes ship a four-format plan (LaTeX, PDF, </a:t>
            </a:r>
            <a:r>
              <a:rPr lang="en-US" sz="12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TikZ</a:t>
            </a: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Mermaid) before code — an audit trail, not improvisation.</a:t>
            </a:r>
            <a:endParaRPr lang="en-US" sz="1250" noProof="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</a:t>
            </a:r>
            <a:endParaRPr lang="en-US" sz="900" noProof="0"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304288"/>
            <a:ext cx="5074920" cy="103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73952" y="3376624"/>
            <a:ext cx="50292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US" sz="1050" i="1" noProof="0" dirty="0">
                <a:solidFill>
                  <a:srgbClr val="6B6690"/>
                </a:solidFill>
                <a:latin typeface="Bahnschrift"/>
              </a:rPr>
              <a:t>~25 </a:t>
            </a:r>
            <a:r>
              <a:rPr lang="en-US" sz="1050" i="1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1050" i="1" noProof="0" dirty="0">
                <a:solidFill>
                  <a:srgbClr val="6B6690"/>
                </a:solidFill>
                <a:latin typeface="Bahnschrift"/>
              </a:rPr>
              <a:t>_* crates · explicit dependency boundaries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</a:t>
            </a:r>
            <a:endParaRPr lang="en-US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Learning on Structure</a:t>
            </a:r>
            <a:endParaRPr lang="en-US" sz="4800" noProof="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When the graph's own cycles become the model's inductive prior</a:t>
            </a:r>
            <a:endParaRPr lang="en-US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19</a:t>
            </a:r>
            <a:endParaRPr lang="en-US" sz="900" noProof="0" dirty="0"/>
          </a:p>
        </p:txBody>
      </p:sp>
      <p:pic>
        <p:nvPicPr>
          <p:cNvPr id="22" name="Picture 21" descr="deco_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566160" cy="31636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From structure to inductive prior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532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graphs</a:t>
            </a:r>
            <a:endParaRPr lang="en-US" sz="1350" noProof="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trust networks with +/− edges (Bitcoin, Slashdot, 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Epinions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Wikipedia votes).</a:t>
            </a:r>
            <a:endParaRPr lang="en-US" sz="1350" noProof="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structural signal</a:t>
            </a:r>
            <a:endParaRPr lang="en-US" sz="1350" noProof="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balance theory lives in cycles — the product of signs around a cycle predicts a missing edge's sign. Cycles and walks become tuples.</a:t>
            </a:r>
            <a:endParaRPr lang="en-US" sz="1350" noProof="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Kolmogorov–Arnold activations</a:t>
            </a:r>
            <a:endParaRPr lang="en-US" sz="1350" noProof="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/ 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replace 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ReLU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with learnable Catmull–Rom basis activations over those tuples.</a:t>
            </a:r>
            <a:endParaRPr lang="en-US" sz="135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35844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Cycle-arity compass — the mechanism-family fingerprint</a:t>
            </a:r>
            <a:endParaRPr lang="en-US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544068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6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same substrate expresses the model</a:t>
            </a:r>
            <a:endParaRPr lang="en-US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6492240" y="1783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HSiKAN's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architecture and training loop are written in .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— layers are nodes, the dataflow is signed hyperarcs:</a:t>
            </a:r>
            <a:endParaRPr lang="en-US" sz="1200" noProof="0" dirty="0"/>
          </a:p>
        </p:txBody>
      </p:sp>
      <p:sp>
        <p:nvSpPr>
          <p:cNvPr id="11" name="Shape 8"/>
          <p:cNvSpPr/>
          <p:nvPr/>
        </p:nvSpPr>
        <p:spPr>
          <a:xfrm>
            <a:off x="6492240" y="2606040"/>
            <a:ext cx="5029200" cy="1828800"/>
          </a:xfrm>
          <a:prstGeom prst="roundRect">
            <a:avLst>
              <a:gd name="adj" fmla="val 2500"/>
            </a:avLst>
          </a:prstGeom>
          <a:solidFill>
            <a:srgbClr val="241B4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9"/>
          <p:cNvSpPr/>
          <p:nvPr/>
        </p:nvSpPr>
        <p:spPr>
          <a:xfrm>
            <a:off x="6675120" y="27432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sk_k3 : </a:t>
            </a:r>
            <a:r>
              <a:rPr lang="en-US" sz="11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signedkan_layer</a:t>
            </a: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arity 3; }</a:t>
            </a:r>
            <a:endParaRPr lang="en-US" sz="115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sk_k4 : </a:t>
            </a:r>
            <a:r>
              <a:rPr lang="en-US" sz="11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signedkan_layer</a:t>
            </a: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arity 4; }</a:t>
            </a:r>
            <a:endParaRPr lang="en-US" sz="115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mixer : </a:t>
            </a:r>
            <a:r>
              <a:rPr lang="en-US" sz="11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arity_mixer</a:t>
            </a: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1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mix_K</a:t>
            </a: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2; }</a:t>
            </a:r>
            <a:endParaRPr lang="en-US" sz="1150" noProof="0" dirty="0"/>
          </a:p>
          <a:p>
            <a:pPr marL="0" indent="0">
              <a:lnSpc>
                <a:spcPct val="110000"/>
              </a:lnSpc>
              <a:buNone/>
            </a:pPr>
            <a:endParaRPr lang="en-US" sz="115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@flow_k3  (+</a:t>
            </a:r>
            <a:r>
              <a:rPr lang="en-US" sz="11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t_in</a:t>
            </a: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~sk_k3, -t_emb_k3);</a:t>
            </a:r>
            <a:endParaRPr lang="en-US" sz="115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@flow_mix (+t_emb_k3, +t_emb_k4,</a:t>
            </a:r>
            <a:endParaRPr lang="en-US" sz="1150" noProof="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~mixer, -</a:t>
            </a:r>
            <a:r>
              <a:rPr lang="en-US" sz="1150" noProof="0" dirty="0" err="1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t_emb</a:t>
            </a:r>
            <a:r>
              <a:rPr lang="en-US" sz="1150" noProof="0" dirty="0">
                <a:solidFill>
                  <a:srgbClr val="ECE9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noProof="0" dirty="0"/>
          </a:p>
        </p:txBody>
      </p:sp>
      <p:sp>
        <p:nvSpPr>
          <p:cNvPr id="13" name="Text 10"/>
          <p:cNvSpPr/>
          <p:nvPr/>
        </p:nvSpPr>
        <p:spPr>
          <a:xfrm>
            <a:off x="649224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 search even becomes a P-graph feasibility problem on the same IR.</a:t>
            </a:r>
            <a:endParaRPr lang="en-US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</a:t>
            </a:r>
            <a:endParaRPr lang="en-US" sz="900" noProof="0" dirty="0"/>
          </a:p>
        </p:txBody>
      </p:sp>
      <p:pic>
        <p:nvPicPr>
          <p:cNvPr id="16" name="Picture 15" descr="kcycl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56692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model family: </a:t>
            </a:r>
            <a:r>
              <a:rPr lang="en-US" sz="29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SignedKAN</a:t>
            </a: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 → </a:t>
            </a:r>
            <a:r>
              <a:rPr lang="en-US" sz="29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HSiKAN</a:t>
            </a: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 → </a:t>
            </a:r>
            <a:r>
              <a:rPr lang="en-US" sz="29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layers of the same idea — learnable spline activations driven by graph structure</a:t>
            </a:r>
            <a:endParaRPr lang="en-US" sz="145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118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SignedKAN</a:t>
            </a:r>
            <a:endParaRPr lang="en-US" sz="2300" noProof="0" dirty="0"/>
          </a:p>
        </p:txBody>
      </p:sp>
      <p:sp>
        <p:nvSpPr>
          <p:cNvPr id="9" name="Text 7"/>
          <p:cNvSpPr/>
          <p:nvPr/>
        </p:nvSpPr>
        <p:spPr>
          <a:xfrm>
            <a:off x="749808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BASE LAYER</a:t>
            </a:r>
            <a:endParaRPr lang="en-US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749808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Kolmogorov–Arnold layer for signed graphs: learnable Catmull–Rom spline activations replace fixed </a:t>
            </a:r>
            <a:r>
              <a:rPr lang="en-US" sz="12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ReLU</a:t>
            </a: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applied to signed edge / cycle features.</a:t>
            </a:r>
            <a:endParaRPr lang="en-US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KAN activations on signed features</a:t>
            </a:r>
            <a:endParaRPr lang="en-US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4133088" y="3291840"/>
            <a:ext cx="210312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4361688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4361688" y="1783080"/>
            <a:ext cx="3611880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4590288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HSiKAN</a:t>
            </a:r>
            <a:endParaRPr lang="en-US" sz="2300" noProof="0" dirty="0"/>
          </a:p>
        </p:txBody>
      </p:sp>
      <p:sp>
        <p:nvSpPr>
          <p:cNvPr id="17" name="Text 15"/>
          <p:cNvSpPr/>
          <p:nvPr/>
        </p:nvSpPr>
        <p:spPr>
          <a:xfrm>
            <a:off x="4608576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 SIGNED-GRAPH KAN</a:t>
            </a:r>
            <a:endParaRPr lang="en-US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4608576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Lifts </a:t>
            </a:r>
            <a:r>
              <a:rPr lang="en-US" sz="12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SignedKAN</a:t>
            </a: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to hyperedges and mixed arity: per-arity layers (k = 3, 4, …) over cycle &amp; walk tuples, fused by an arity mixer; per-edge CR recipe.</a:t>
            </a:r>
            <a:endParaRPr lang="en-US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608576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4727448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 hyperedges · mixed arity · per-edge CR</a:t>
            </a:r>
            <a:endParaRPr lang="en-US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7991856" y="3291840"/>
            <a:ext cx="210312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Shape 20"/>
          <p:cNvSpPr/>
          <p:nvPr/>
        </p:nvSpPr>
        <p:spPr>
          <a:xfrm>
            <a:off x="8220456" y="178308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Shape 21"/>
          <p:cNvSpPr/>
          <p:nvPr/>
        </p:nvSpPr>
        <p:spPr>
          <a:xfrm>
            <a:off x="8220456" y="1783080"/>
            <a:ext cx="361188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/>
          <p:cNvSpPr/>
          <p:nvPr/>
        </p:nvSpPr>
        <p:spPr>
          <a:xfrm>
            <a:off x="8449056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</a:t>
            </a:r>
            <a:endParaRPr lang="en-US" sz="2300" noProof="0" dirty="0"/>
          </a:p>
        </p:txBody>
      </p:sp>
      <p:sp>
        <p:nvSpPr>
          <p:cNvPr id="25" name="Text 23"/>
          <p:cNvSpPr/>
          <p:nvPr/>
        </p:nvSpPr>
        <p:spPr>
          <a:xfrm>
            <a:off x="8467344" y="2569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STRICT CASCADE</a:t>
            </a:r>
            <a:endParaRPr lang="en-US" sz="1050" noProof="0" dirty="0"/>
          </a:p>
        </p:txBody>
      </p:sp>
      <p:sp>
        <p:nvSpPr>
          <p:cNvPr id="26" name="Text 24"/>
          <p:cNvSpPr/>
          <p:nvPr/>
        </p:nvSpPr>
        <p:spPr>
          <a:xfrm>
            <a:off x="8467344" y="2935224"/>
            <a:ext cx="3118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deployable configuration: Clifford-FIR → </a:t>
            </a:r>
            <a:r>
              <a:rPr lang="en-US" sz="12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2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-CR → CPML, with the cycle pool enumerated over training edges only — SOTA-range, lean, leakage-free.</a:t>
            </a:r>
            <a:endParaRPr lang="en-US" sz="1200" noProof="0" dirty="0"/>
          </a:p>
        </p:txBody>
      </p:sp>
      <p:sp>
        <p:nvSpPr>
          <p:cNvPr id="27" name="Shape 25"/>
          <p:cNvSpPr/>
          <p:nvPr/>
        </p:nvSpPr>
        <p:spPr>
          <a:xfrm>
            <a:off x="8467344" y="4251960"/>
            <a:ext cx="3118104" cy="411480"/>
          </a:xfrm>
          <a:prstGeom prst="roundRect">
            <a:avLst>
              <a:gd name="adj" fmla="val 1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6"/>
          <p:cNvSpPr/>
          <p:nvPr/>
        </p:nvSpPr>
        <p:spPr>
          <a:xfrm>
            <a:off x="8586216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+ 3-shell cascade · strict cycle pool</a:t>
            </a:r>
            <a:endParaRPr lang="en-US" sz="1050" noProof="0" dirty="0"/>
          </a:p>
        </p:txBody>
      </p:sp>
      <p:sp>
        <p:nvSpPr>
          <p:cNvPr id="29" name="Text 27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step strictly contains the previous one and adds structure — never a different code path bolted on.</a:t>
            </a:r>
            <a:endParaRPr lang="en-US" sz="1350" noProof="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Gömb</a:t>
            </a: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: a strict structural-prior cascade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three-shell cascade in which the cycle pool is enumerated over training edges only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2039112" y="2148840"/>
            <a:ext cx="585216" cy="5852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20391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Clifford-FIR: quaternion / </a:t>
            </a: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multivector</a:t>
            </a: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signed filter over the edge </a:t>
            </a:r>
            <a:r>
              <a:rPr lang="en-US" sz="11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neighbourhood</a:t>
            </a:r>
            <a:endParaRPr lang="en-US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4069080" y="2834640"/>
            <a:ext cx="411480" cy="0"/>
          </a:xfrm>
          <a:prstGeom prst="line">
            <a:avLst/>
          </a:prstGeom>
          <a:noFill/>
          <a:ln w="25400">
            <a:solidFill>
              <a:srgbClr val="6B6690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5925312" y="2148840"/>
            <a:ext cx="585216" cy="585216"/>
          </a:xfrm>
          <a:prstGeom prst="ellipse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59253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8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-CR</a:t>
            </a:r>
            <a:endParaRPr lang="en-US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47548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Hyper-signed KAN with per-edge Catmull–Rom activations</a:t>
            </a:r>
            <a:endParaRPr lang="en-US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7955280" y="2834640"/>
            <a:ext cx="411480" cy="0"/>
          </a:xfrm>
          <a:prstGeom prst="line">
            <a:avLst/>
          </a:prstGeom>
          <a:noFill/>
          <a:ln w="25400">
            <a:solidFill>
              <a:srgbClr val="6B6690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6"/>
          <p:cNvSpPr/>
          <p:nvPr/>
        </p:nvSpPr>
        <p:spPr>
          <a:xfrm>
            <a:off x="8412480" y="19202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9811512" y="2148840"/>
            <a:ext cx="585216" cy="58521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98115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noProof="0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200" noProof="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CPML</a:t>
            </a:r>
            <a:endParaRPr lang="en-US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8641080" y="3218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Cycle-pool message layer — the strict structural read-out</a:t>
            </a:r>
            <a:endParaRPr lang="en-US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8686800" cy="1508760"/>
          </a:xfrm>
          <a:prstGeom prst="roundRect">
            <a:avLst>
              <a:gd name="adj" fmla="val 4848"/>
            </a:avLst>
          </a:prstGeom>
          <a:solidFill>
            <a:srgbClr val="E6F6EF"/>
          </a:solidFill>
          <a:ln w="12700">
            <a:solidFill>
              <a:srgbClr val="5FD0A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/>
          <p:cNvSpPr/>
          <p:nvPr/>
        </p:nvSpPr>
        <p:spPr>
          <a:xfrm>
            <a:off x="868680" y="4297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Strict by construction</a:t>
            </a:r>
            <a:endParaRPr lang="en-US" sz="1500" noProof="0" dirty="0"/>
          </a:p>
        </p:txBody>
      </p:sp>
      <p:sp>
        <p:nvSpPr>
          <p:cNvPr id="25" name="Text 23"/>
          <p:cNvSpPr/>
          <p:nvPr/>
        </p:nvSpPr>
        <p:spPr>
          <a:xfrm>
            <a:off x="868680" y="47091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Because the cycle pool never sees a test-edge sign, </a:t>
            </a:r>
            <a:r>
              <a:rPr lang="en-US" sz="13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has </a:t>
            </a:r>
            <a:r>
              <a:rPr lang="en-US" sz="13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</a:t>
            </a:r>
            <a:r>
              <a:rPr lang="en-US" sz="1350" b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transductive</a:t>
            </a:r>
            <a:r>
              <a:rPr lang="en-US" sz="135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σ-leakage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 A label-shuffle test collapses it to chance (0.540 AUC) — proof the architecture is a structural predictor, not a leak.</a:t>
            </a:r>
            <a:endParaRPr lang="en-US" sz="135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</a:t>
            </a:r>
            <a:endParaRPr lang="en-US" sz="900" noProof="0" dirty="0"/>
          </a:p>
        </p:txBody>
      </p:sp>
      <p:pic>
        <p:nvPicPr>
          <p:cNvPr id="28" name="Picture 27" descr="gomb_sphe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11480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i="0" noProof="0" dirty="0">
                <a:solidFill>
                  <a:srgbClr val="201A40"/>
                </a:solidFill>
                <a:latin typeface="Futura"/>
              </a:rPr>
              <a:t>What is k-enumeration? Why </a:t>
            </a:r>
            <a:r>
              <a:rPr lang="en-US" sz="2900" b="1" i="0" noProof="0" dirty="0" err="1">
                <a:solidFill>
                  <a:srgbClr val="201A40"/>
                </a:solidFill>
                <a:latin typeface="Futura"/>
              </a:rPr>
              <a:t>HSiKAN</a:t>
            </a:r>
            <a:r>
              <a:rPr lang="en-US" sz="2900" b="1" i="0" noProof="0" dirty="0">
                <a:solidFill>
                  <a:srgbClr val="201A40"/>
                </a:solidFill>
                <a:latin typeface="Futura"/>
              </a:rPr>
              <a:t> needs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1050" b="1" i="0" noProof="0" dirty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450" b="0" i="1" noProof="0" dirty="0">
                <a:solidFill>
                  <a:srgbClr val="6B6690"/>
                </a:solidFill>
                <a:latin typeface="Bahnschrift"/>
              </a:rPr>
              <a:t>Enumerating the closed cycles (and short walks) of each arity k that become the model's structural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300" b="1" i="0" noProof="0" dirty="0">
                <a:solidFill>
                  <a:srgbClr val="0E9D6E"/>
                </a:solidFill>
                <a:latin typeface="Bahnschrift"/>
              </a:rPr>
              <a:t>Tuples:  </a:t>
            </a:r>
            <a:r>
              <a:rPr lang="en-US" sz="1300" b="0" i="0" noProof="0" dirty="0">
                <a:solidFill>
                  <a:srgbClr val="201A40"/>
                </a:solidFill>
                <a:latin typeface="Bahnschrift"/>
              </a:rPr>
              <a:t>cycles c3 · c4 · c5  and short walks w2 · w3 — one </a:t>
            </a:r>
            <a:r>
              <a:rPr lang="en-US" sz="1300" b="0" i="0" noProof="0" dirty="0" err="1">
                <a:solidFill>
                  <a:srgbClr val="201A40"/>
                </a:solidFill>
                <a:latin typeface="Bahnschrift"/>
              </a:rPr>
              <a:t>SignedKAN</a:t>
            </a:r>
            <a:r>
              <a:rPr lang="en-US" sz="1300" b="0" i="0" noProof="0" dirty="0">
                <a:solidFill>
                  <a:srgbClr val="201A40"/>
                </a:solidFill>
                <a:latin typeface="Bahnschrift"/>
              </a:rPr>
              <a:t> layer per arity, fused by the arity mixer.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358444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82296" cy="2395728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40664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What it enumerates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k-enumeration finds the closed cycles of length k in the signed graph — the k-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ary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tuples c3, c4, c5 (plus short walks w2, w3). Each tuple is a candidate structural feature carrying a sign-product.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331720"/>
            <a:ext cx="358444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315968" y="2331720"/>
            <a:ext cx="82296" cy="23957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53712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Why </a:t>
            </a:r>
            <a:r>
              <a:rPr lang="en-US" sz="1500" b="1" i="0" noProof="0" dirty="0" err="1">
                <a:solidFill>
                  <a:srgbClr val="201A40"/>
                </a:solidFill>
                <a:latin typeface="Bahnschrift"/>
              </a:rPr>
              <a:t>HSiKAN</a:t>
            </a: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 needs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HSiKAN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builds its prediction from these tuples: a 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SignedKAN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layer per arity, fused by the arity mixer. With no enumerated cycles there are no structural features and the network collapses to a blind MLP. Balance theory lives in cycles — a missing edge's sign is read from the σ-products of the cycles that would close through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331720"/>
            <a:ext cx="358444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8129016" y="2331720"/>
            <a:ext cx="82296" cy="2395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How it is bounded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08376"/>
            <a:ext cx="3108960" cy="237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Enumeration is the combinatorial bottleneck. 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HSiKAN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caps it: per-vertex top-k by a scorer (e.g. fraction-negative) and per-arity caps (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max_k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). Strict mode enumerates over training edges only — which is also what prevents the leakage on the previous slide.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90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 · PhD Seminar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23</a:t>
            </a:r>
          </a:p>
        </p:txBody>
      </p:sp>
      <p:pic>
        <p:nvPicPr>
          <p:cNvPr id="21" name="Picture 20" descr="kcycle_k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4846320"/>
            <a:ext cx="9144000" cy="14986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Inside </a:t>
            </a:r>
            <a:r>
              <a:rPr lang="en-US" sz="2900" b="1" noProof="0" dirty="0" err="1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HSiKAN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middle shell — learnable spline activations over signed cycle &amp; walk tuples</a:t>
            </a:r>
            <a:endParaRPr lang="en-US" sz="1450" noProof="0" dirty="0"/>
          </a:p>
        </p:txBody>
      </p:sp>
      <p:sp>
        <p:nvSpPr>
          <p:cNvPr id="30" name="Shape 28"/>
          <p:cNvSpPr/>
          <p:nvPr/>
        </p:nvSpPr>
        <p:spPr>
          <a:xfrm>
            <a:off x="502920" y="3657600"/>
            <a:ext cx="3794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Shape 29"/>
          <p:cNvSpPr/>
          <p:nvPr/>
        </p:nvSpPr>
        <p:spPr>
          <a:xfrm>
            <a:off x="502920" y="3657600"/>
            <a:ext cx="82296" cy="19659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Text 30"/>
          <p:cNvSpPr/>
          <p:nvPr/>
        </p:nvSpPr>
        <p:spPr>
          <a:xfrm>
            <a:off x="713232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Catmull–Rom activation</a:t>
            </a:r>
            <a:endParaRPr lang="en-US" sz="1400" noProof="0" dirty="0"/>
          </a:p>
        </p:txBody>
      </p:sp>
      <p:pic>
        <p:nvPicPr>
          <p:cNvPr id="33" name="Image 0" descr="catmull_r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9664"/>
            <a:ext cx="3310128" cy="1371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262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Shape 32"/>
          <p:cNvSpPr/>
          <p:nvPr/>
        </p:nvSpPr>
        <p:spPr>
          <a:xfrm>
            <a:off x="4526280" y="3657600"/>
            <a:ext cx="82296" cy="196596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6" name="Text 33"/>
          <p:cNvSpPr/>
          <p:nvPr/>
        </p:nvSpPr>
        <p:spPr>
          <a:xfrm>
            <a:off x="4764024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Mixed arity</a:t>
            </a:r>
            <a:endParaRPr lang="en-US" sz="1450" noProof="0" dirty="0"/>
          </a:p>
        </p:txBody>
      </p:sp>
      <p:sp>
        <p:nvSpPr>
          <p:cNvPr id="37" name="Text 34"/>
          <p:cNvSpPr/>
          <p:nvPr/>
        </p:nvSpPr>
        <p:spPr>
          <a:xfrm>
            <a:off x="4764024" y="43342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Independent layers for k = 3 and k = 4 over cycle &amp; walk tuples, fused by an arity mixer.</a:t>
            </a:r>
            <a:endParaRPr lang="en-US" sz="1200" noProof="0" dirty="0"/>
          </a:p>
        </p:txBody>
      </p:sp>
      <p:sp>
        <p:nvSpPr>
          <p:cNvPr id="38" name="Shape 35"/>
          <p:cNvSpPr/>
          <p:nvPr/>
        </p:nvSpPr>
        <p:spPr>
          <a:xfrm>
            <a:off x="8183880" y="3657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Shape 36"/>
          <p:cNvSpPr/>
          <p:nvPr/>
        </p:nvSpPr>
        <p:spPr>
          <a:xfrm>
            <a:off x="8183880" y="3657600"/>
            <a:ext cx="82296" cy="196596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Text 37"/>
          <p:cNvSpPr/>
          <p:nvPr/>
        </p:nvSpPr>
        <p:spPr>
          <a:xfrm>
            <a:off x="8421624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Quaternion sign-attention</a:t>
            </a:r>
            <a:endParaRPr lang="en-US" sz="1450" noProof="0" dirty="0"/>
          </a:p>
        </p:txBody>
      </p:sp>
      <p:sp>
        <p:nvSpPr>
          <p:cNvPr id="41" name="Text 38"/>
          <p:cNvSpPr/>
          <p:nvPr/>
        </p:nvSpPr>
        <p:spPr>
          <a:xfrm>
            <a:off x="8421624" y="43342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Multi-head; hidden / 4 independent quaternions per head; scores anchor, consecutive and pair signs along each cycle.</a:t>
            </a:r>
            <a:endParaRPr lang="en-US" sz="1200" noProof="0" dirty="0"/>
          </a:p>
        </p:txBody>
      </p:sp>
      <p:sp>
        <p:nvSpPr>
          <p:cNvPr id="42" name="Text 3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43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24</a:t>
            </a:r>
            <a:endParaRPr lang="en-US" sz="900" noProof="0" dirty="0"/>
          </a:p>
        </p:txBody>
      </p:sp>
      <p:pic>
        <p:nvPicPr>
          <p:cNvPr id="44" name="Picture 43" descr="hsik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756" y="1755648"/>
            <a:ext cx="4227438" cy="169164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502920" y="5687568"/>
            <a:ext cx="11219688" cy="676656"/>
          </a:xfrm>
          <a:prstGeom prst="roundRect">
            <a:avLst/>
          </a:prstGeom>
          <a:solidFill>
            <a:srgbClr val="F1FAF6"/>
          </a:solidFill>
          <a:ln w="12700">
            <a:solidFill>
              <a:srgbClr val="CB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 45"/>
          <p:cNvSpPr/>
          <p:nvPr/>
        </p:nvSpPr>
        <p:spPr>
          <a:xfrm>
            <a:off x="502920" y="5687568"/>
            <a:ext cx="82296" cy="676656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731520" y="5724144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noProof="0" dirty="0">
                <a:solidFill>
                  <a:srgbClr val="0E9D6E"/>
                </a:solidFill>
                <a:latin typeface="Bahnschrift"/>
              </a:rPr>
              <a:t>Per-edge Catmull–Rom highway (</a:t>
            </a:r>
            <a:r>
              <a:rPr lang="en-US" sz="1300" b="1" noProof="0" dirty="0" err="1">
                <a:solidFill>
                  <a:srgbClr val="0E9D6E"/>
                </a:solidFill>
                <a:latin typeface="Bahnschrift"/>
              </a:rPr>
              <a:t>edge_cr</a:t>
            </a:r>
            <a:r>
              <a:rPr lang="en-US" sz="1300" b="1" noProof="0" dirty="0">
                <a:solidFill>
                  <a:srgbClr val="0E9D6E"/>
                </a:solidFill>
                <a:latin typeface="Bahnschrift"/>
              </a:rPr>
              <a:t>).  </a:t>
            </a:r>
            <a:r>
              <a:rPr lang="en-US" sz="1200" noProof="0" dirty="0">
                <a:solidFill>
                  <a:srgbClr val="454558"/>
                </a:solidFill>
                <a:latin typeface="Bahnschrift"/>
              </a:rPr>
              <a:t>Each signed edge carries its own learnable CR spline as a residual highway — the strong reference cell extension (Slashdot 0.907, </a:t>
            </a:r>
            <a:r>
              <a:rPr lang="en-US" sz="1200" noProof="0" dirty="0" err="1">
                <a:solidFill>
                  <a:srgbClr val="454558"/>
                </a:solidFill>
                <a:latin typeface="Bahnschrift"/>
              </a:rPr>
              <a:t>Epinions</a:t>
            </a:r>
            <a:r>
              <a:rPr lang="en-US" sz="1200" noProof="0" dirty="0">
                <a:solidFill>
                  <a:srgbClr val="454558"/>
                </a:solidFill>
                <a:latin typeface="Bahnschrift"/>
              </a:rPr>
              <a:t> 0.846; 5-seed paired).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700" b="1" i="0" noProof="0" dirty="0" err="1">
                <a:solidFill>
                  <a:srgbClr val="201A40"/>
                </a:solidFill>
                <a:latin typeface="Futura"/>
              </a:rPr>
              <a:t>HSiKAN</a:t>
            </a:r>
            <a:r>
              <a:rPr lang="en-US" sz="2700" b="1" i="0" noProof="0" dirty="0">
                <a:solidFill>
                  <a:srgbClr val="201A40"/>
                </a:solidFill>
                <a:latin typeface="Futura"/>
              </a:rPr>
              <a:t>, learned: αₖ regime and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050" b="1" i="0" noProof="0" dirty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450" b="0" i="1" noProof="0" dirty="0">
                <a:solidFill>
                  <a:srgbClr val="6B6690"/>
                </a:solidFill>
                <a:latin typeface="Bahnschrift"/>
              </a:rPr>
              <a:t>Real output of the link-prediction inference demo on the trained Bitcoin-OTC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82296" cy="4160520"/>
          </a:xfrm>
          <a:prstGeom prst="rect">
            <a:avLst/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Learned αₖ — per-arity weight</a:t>
            </a:r>
          </a:p>
        </p:txBody>
      </p:sp>
      <p:pic>
        <p:nvPicPr>
          <p:cNvPr id="9" name="Picture 8" descr="alpha_k_bitcoin_o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4937760" cy="32499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9632" y="164592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199632" y="1645920"/>
            <a:ext cx="82296" cy="4160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28232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ROC — AUROC 0.9957</a:t>
            </a:r>
          </a:p>
        </p:txBody>
      </p:sp>
      <p:pic>
        <p:nvPicPr>
          <p:cNvPr id="13" name="Picture 12" descr="ROC_bitcoin_o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240280"/>
            <a:ext cx="3301479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The αₖ compass concentrates on c2 / w3; AUROC 0.9957 is the standard </a:t>
            </a:r>
            <a:r>
              <a:rPr lang="en-US" sz="1150" b="0" i="1" noProof="0" dirty="0" err="1">
                <a:solidFill>
                  <a:srgbClr val="6B6690"/>
                </a:solidFill>
                <a:latin typeface="Bahnschrift"/>
              </a:rPr>
              <a:t>transductive</a:t>
            </a: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 convention (</a:t>
            </a:r>
            <a:r>
              <a:rPr lang="en-US" sz="1150" b="0" i="1" noProof="0" dirty="0" err="1">
                <a:solidFill>
                  <a:srgbClr val="6B6690"/>
                </a:solidFill>
                <a:latin typeface="Bahnschrift"/>
              </a:rPr>
              <a:t>optuna_best</a:t>
            </a: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) — the strict-protocol baseline is on the results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 · PhD Seminar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Clifford-FIR and quaternion machinery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Geometric algebra under the cascade — and a visual-cortex analogy</a:t>
            </a:r>
            <a:endParaRPr lang="en-US" sz="145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6263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 filter banks · outer shell</a:t>
            </a:r>
            <a:endParaRPr lang="en-US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 parallel Clifford-FIR banks. The cycle arity sets the FIR filter length; each bank's Clifford coefficients are staggered at </a:t>
            </a:r>
            <a:r>
              <a:rPr lang="en-US" sz="12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initialisation</a:t>
            </a:r>
            <a:r>
              <a:rPr lang="en-US" sz="12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 Built on the </a:t>
            </a:r>
            <a:r>
              <a:rPr lang="en-US" sz="12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hymeko_clifford</a:t>
            </a:r>
            <a:r>
              <a:rPr lang="en-US" sz="12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r>
              <a:rPr lang="en-US" sz="12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autograd</a:t>
            </a:r>
            <a:r>
              <a:rPr lang="en-US" sz="12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backend — </a:t>
            </a:r>
            <a:r>
              <a:rPr lang="en-US" sz="12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multivectors</a:t>
            </a:r>
            <a:r>
              <a:rPr lang="en-US" sz="12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, blade products, a (p, q) metric signature.</a:t>
            </a:r>
            <a:endParaRPr lang="en-US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62636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82296" cy="1783080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4160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Quaternion sign-attention</a:t>
            </a:r>
            <a:endParaRPr lang="en-US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749808" y="457200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sign structure along a cycle is scored with Hamilton-product (quaternion) attention; a multi-head variant runs hidden / 4 independent quaternions per head, and carries the highway gate on the Bitcoin-OTC configuration.</a:t>
            </a:r>
            <a:endParaRPr lang="en-US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69037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shells ≈ a visual-cortex stack</a:t>
            </a:r>
            <a:endParaRPr lang="en-US" sz="1400" noProof="0" dirty="0"/>
          </a:p>
        </p:txBody>
      </p:sp>
      <p:pic>
        <p:nvPicPr>
          <p:cNvPr id="15" name="Image 0" descr="gomb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48840"/>
            <a:ext cx="4846320" cy="29352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51755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Clifford-FIR (V1) → </a:t>
            </a:r>
            <a:r>
              <a:rPr lang="en-US" sz="115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1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-CR (V4) → CPML (IT), wrapped by cognitive information routing.</a:t>
            </a:r>
            <a:endParaRPr lang="en-US" sz="1150" noProof="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26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Signed-graph link prediction results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Held-out test ROC–AUC, mean over 5 seeds · </a:t>
            </a:r>
            <a:r>
              <a:rPr lang="en-US" sz="140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</a:t>
            </a:r>
            <a:r>
              <a:rPr lang="en-US" sz="14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-strict (honest protocol)</a:t>
            </a:r>
            <a:endParaRPr lang="en-US" sz="1400" noProof="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898711"/>
              </p:ext>
            </p:extLst>
          </p:nvPr>
        </p:nvGraphicFramePr>
        <p:xfrm>
          <a:off x="502920" y="1645920"/>
          <a:ext cx="640080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noProof="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Model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Bitcoin α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Bitcoin OTC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Slashdot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 err="1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Epinions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noProof="0" dirty="0" err="1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Gömb</a:t>
                      </a:r>
                      <a:r>
                        <a:rPr lang="en-US" sz="1350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-strict (ours)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0.897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0.915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0.902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0.943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noProof="0" dirty="0" err="1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Gömb</a:t>
                      </a:r>
                      <a:r>
                        <a:rPr lang="en-US" sz="1350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 + fine-tune (ours)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noProof="0" dirty="0">
                          <a:solidFill>
                            <a:srgbClr val="0E9D6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0.953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SGCN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0.929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0.942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0.919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noProof="0" dirty="0" err="1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SiGAT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0.903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0.932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~0.95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MLP (blind)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0.892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0.908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0.888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noProof="0" dirty="0">
                          <a:solidFill>
                            <a:srgbClr val="201A40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—</a:t>
                      </a:r>
                      <a:endParaRPr lang="en-US" sz="1350" noProof="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noProof="0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more SNAP signed graphs</a:t>
            </a:r>
            <a:endParaRPr lang="en-US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4956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wiki_elec</a:t>
            </a: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0.911 ± 0.001   ·   </a:t>
            </a:r>
            <a:r>
              <a:rPr lang="en-US" sz="12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wikisigned</a:t>
            </a:r>
            <a:r>
              <a:rPr lang="en-US" sz="12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0.894 ± 0.002   — same config, no re-tuning.</a:t>
            </a:r>
            <a:endParaRPr lang="en-US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502920" y="5440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Under the field's standard </a:t>
            </a:r>
            <a:r>
              <a:rPr lang="en-US" sz="115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transductive</a:t>
            </a:r>
            <a:r>
              <a:rPr lang="en-US" sz="11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convention, the tuned </a:t>
            </a:r>
            <a:r>
              <a:rPr lang="en-US" sz="115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optuna_best</a:t>
            </a:r>
            <a:r>
              <a:rPr lang="en-US" sz="11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lifts Bitcoin to 0.996 / 0.993.</a:t>
            </a:r>
            <a:endParaRPr lang="en-US" sz="1150" noProof="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460583220"/>
              </p:ext>
            </p:extLst>
          </p:nvPr>
        </p:nvGraphicFramePr>
        <p:xfrm>
          <a:off x="7178040" y="1691640"/>
          <a:ext cx="4572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27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SOTA range — at a fraction of the cost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structural prior does the heavy lifting, so the network can stay small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2697480" cy="109728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noProof="0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30,487</a:t>
            </a:r>
            <a:endParaRPr lang="en-US" sz="36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parameters</a:t>
            </a:r>
            <a:endParaRPr lang="en-US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Bitcoin α </a:t>
            </a:r>
            <a:r>
              <a:rPr lang="en-US" sz="105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optuna_best</a:t>
            </a:r>
            <a:r>
              <a:rPr lang="en-US" sz="10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— about ½ the joint baseline</a:t>
            </a:r>
            <a:endParaRPr lang="en-US" sz="1050" noProof="0" dirty="0"/>
          </a:p>
        </p:txBody>
      </p:sp>
      <p:sp>
        <p:nvSpPr>
          <p:cNvPr id="11" name="Shape 9"/>
          <p:cNvSpPr/>
          <p:nvPr/>
        </p:nvSpPr>
        <p:spPr>
          <a:xfrm>
            <a:off x="3447288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3447288" y="1664208"/>
            <a:ext cx="26974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3584448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noProof="0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11x</a:t>
            </a:r>
            <a:endParaRPr lang="en-US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3584448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faster forward</a:t>
            </a:r>
            <a:endParaRPr lang="en-US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3630168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Bitcoin OTC lean model vs the h=16 joint mix</a:t>
            </a:r>
            <a:endParaRPr lang="en-US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6391656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6391656" y="1664208"/>
            <a:ext cx="2697480" cy="1097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6528816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noProof="0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¼</a:t>
            </a:r>
            <a:endParaRPr lang="en-US" sz="3600" noProof="0" dirty="0"/>
          </a:p>
        </p:txBody>
      </p:sp>
      <p:sp>
        <p:nvSpPr>
          <p:cNvPr id="19" name="Text 17"/>
          <p:cNvSpPr/>
          <p:nvPr/>
        </p:nvSpPr>
        <p:spPr>
          <a:xfrm>
            <a:off x="6528816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parameters</a:t>
            </a:r>
            <a:endParaRPr lang="en-US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657453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OTC at 23,815 params, yet higher AUC</a:t>
            </a:r>
            <a:endParaRPr lang="en-US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9336024" y="166420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Shape 20"/>
          <p:cNvSpPr/>
          <p:nvPr/>
        </p:nvSpPr>
        <p:spPr>
          <a:xfrm>
            <a:off x="9336024" y="1664208"/>
            <a:ext cx="2697480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21"/>
          <p:cNvSpPr/>
          <p:nvPr/>
        </p:nvSpPr>
        <p:spPr>
          <a:xfrm>
            <a:off x="9473184" y="19385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noProof="0" dirty="0">
                <a:solidFill>
                  <a:srgbClr val="A78BF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 seeds</a:t>
            </a:r>
            <a:endParaRPr lang="en-US" sz="3600" noProof="0" dirty="0"/>
          </a:p>
        </p:txBody>
      </p:sp>
      <p:sp>
        <p:nvSpPr>
          <p:cNvPr id="24" name="Text 22"/>
          <p:cNvSpPr/>
          <p:nvPr/>
        </p:nvSpPr>
        <p:spPr>
          <a:xfrm>
            <a:off x="9473184" y="25968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number</a:t>
            </a:r>
            <a:endParaRPr lang="en-US" sz="1400" noProof="0" dirty="0"/>
          </a:p>
        </p:txBody>
      </p:sp>
      <p:sp>
        <p:nvSpPr>
          <p:cNvPr id="25" name="Text 23"/>
          <p:cNvSpPr/>
          <p:nvPr/>
        </p:nvSpPr>
        <p:spPr>
          <a:xfrm>
            <a:off x="951890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paired-Δ significance before any paper promotion</a:t>
            </a:r>
            <a:endParaRPr lang="en-US" sz="105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Forward latency · Bitcoin OTC (lower is better)</a:t>
            </a:r>
            <a:endParaRPr lang="en-US" sz="1300" noProof="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11480" y="4069080"/>
          <a:ext cx="55778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6263640" y="3822192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26"/>
          <p:cNvSpPr/>
          <p:nvPr/>
        </p:nvSpPr>
        <p:spPr>
          <a:xfrm>
            <a:off x="6537960" y="3986784"/>
            <a:ext cx="4983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30.5 </a:t>
            </a:r>
            <a:r>
              <a:rPr lang="en-US" sz="1900" b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ms</a:t>
            </a:r>
            <a:r>
              <a:rPr lang="en-US" sz="19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vs 342 </a:t>
            </a:r>
            <a:r>
              <a:rPr lang="en-US" sz="1900" b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ms</a:t>
            </a:r>
            <a:r>
              <a:rPr lang="en-US" sz="19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
</a:t>
            </a:r>
            <a:endParaRPr lang="en-US" sz="19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lean model runs ~11× faster at forward than the h=16 joint mix, at ¼ the parameters and equal-or-better AUC. Inference cost scales with the structural prior, not with network width.</a:t>
            </a:r>
            <a:endParaRPr lang="en-US" sz="1900" noProof="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28</a:t>
            </a:r>
            <a:endParaRPr lang="en-US" sz="900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noProof="0" dirty="0">
                <a:solidFill>
                  <a:srgbClr val="555566"/>
                </a:solidFill>
                <a:latin typeface="Bahnschrift"/>
              </a:rPr>
              <a:t>Compute: large-scale multi-seed runs use the Komondor supercomputer (KIFÜ, NVIDIA A100); the lean models above also fit a single 8 GB GPU.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noProof="0" dirty="0">
                <a:solidFill>
                  <a:srgbClr val="202035"/>
                </a:solidFill>
                <a:latin typeface="Futura"/>
              </a:rPr>
              <a:t>New result: Cayley-rotor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100" b="1" noProof="0" dirty="0">
                <a:solidFill>
                  <a:srgbClr val="2563EB"/>
                </a:solidFill>
                <a:latin typeface="Bahnschrift"/>
              </a:rPr>
              <a:t>PART II ·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0704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50" i="1" noProof="0" dirty="0">
                <a:solidFill>
                  <a:srgbClr val="505060"/>
                </a:solidFill>
                <a:latin typeface="Bahnschrift"/>
              </a:rPr>
              <a:t>A flat-parameter, inductive, leakage-free embedding — matches a growing-parameter baseline at ~9–16× fewer parameters.</a:t>
            </a:r>
          </a:p>
        </p:txBody>
      </p:sp>
      <p:pic>
        <p:nvPicPr>
          <p:cNvPr id="5" name="Picture 4" descr="rotor_sp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743200" cy="1467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9957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i="1" noProof="0" dirty="0">
                <a:solidFill>
                  <a:srgbClr val="505060"/>
                </a:solidFill>
                <a:latin typeface="Bahnschrift"/>
              </a:rPr>
              <a:t>Embedding = learned rotation of one reference on a sphere (angle θ = similarity); the Cayley map keeps it on the rotor manifold.</a:t>
            </a:r>
          </a:p>
        </p:txBody>
      </p:sp>
      <p:pic>
        <p:nvPicPr>
          <p:cNvPr id="7" name="Picture 6" descr="rotor_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94960" cy="273897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429189"/>
              </p:ext>
            </p:extLst>
          </p:nvPr>
        </p:nvGraphicFramePr>
        <p:xfrm>
          <a:off x="502920" y="4526280"/>
          <a:ext cx="112014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Rotor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Rotor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DADSGNN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FFFFFF"/>
                          </a:solidFill>
                          <a:latin typeface="Bahnschrift"/>
                        </a:rPr>
                        <a:t>DADSGNN params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Bitcoin-α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0.867 ± 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15.8k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0.860 ± 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142k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Bitcoin-OTC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0.894 ± 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15.8k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0.880 ± 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209k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en-US" sz="1300" noProof="0" dirty="0" err="1">
                          <a:solidFill>
                            <a:srgbClr val="202035"/>
                          </a:solidFill>
                          <a:latin typeface="Bahnschrift"/>
                        </a:rPr>
                        <a:t>wiki_elec</a:t>
                      </a:r>
                      <a:endParaRPr lang="en-US" sz="1300" noProof="0" dirty="0">
                        <a:solidFill>
                          <a:srgbClr val="202035"/>
                        </a:solidFill>
                        <a:latin typeface="Bahnschrif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0.885 ± 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noProof="0" dirty="0">
                          <a:solidFill>
                            <a:srgbClr val="0E6B4F"/>
                          </a:solidFill>
                          <a:latin typeface="Bahnschrift"/>
                        </a:rPr>
                        <a:t>15.8k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0.896 ± 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0" dirty="0">
                          <a:solidFill>
                            <a:srgbClr val="202035"/>
                          </a:solidFill>
                          <a:latin typeface="Bahnschrift"/>
                        </a:rPr>
                        <a:t>249k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noProof="0" dirty="0">
                <a:solidFill>
                  <a:srgbClr val="0E6B4F"/>
                </a:solidFill>
                <a:latin typeface="Bahnschrift"/>
              </a:rPr>
              <a:t>Matches/leads on Bitcoin-α &amp; OTC and within ~0.01 on </a:t>
            </a:r>
            <a:r>
              <a:rPr lang="en-US" sz="1100" b="1" noProof="0" dirty="0" err="1">
                <a:solidFill>
                  <a:srgbClr val="0E6B4F"/>
                </a:solidFill>
                <a:latin typeface="Bahnschrift"/>
              </a:rPr>
              <a:t>wiki_elec</a:t>
            </a:r>
            <a:r>
              <a:rPr lang="en-US" sz="1100" b="1" noProof="0" dirty="0">
                <a:solidFill>
                  <a:srgbClr val="0E6B4F"/>
                </a:solidFill>
                <a:latin typeface="Bahnschrift"/>
              </a:rPr>
              <a:t> — at a fraction of the parameters; label-shuffle → ~0.50 (leakage-clean).  5 seeds · reports/rotor_multiseed_20260616.jsonl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noProof="0" dirty="0" err="1">
                <a:solidFill>
                  <a:srgbClr val="9090A0"/>
                </a:solidFill>
                <a:latin typeface="Bahnschrift"/>
              </a:rPr>
              <a:t>HyMeKo</a:t>
            </a:r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 · PhD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29</a:t>
            </a:r>
          </a:p>
        </p:txBody>
      </p:sp>
      <p:pic>
        <p:nvPicPr>
          <p:cNvPr id="12" name="Picture 11" descr="cayley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6684"/>
            <a:ext cx="3520440" cy="6946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2900" b="1" i="0" noProof="0" dirty="0">
                <a:solidFill>
                  <a:srgbClr val="201A40"/>
                </a:solidFill>
                <a:latin typeface="Futura"/>
              </a:rPr>
              <a:t>What is leakage? Why it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1050" b="1" i="0" noProof="0" dirty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450" b="0" i="1" noProof="0" dirty="0">
                <a:solidFill>
                  <a:srgbClr val="6B6690"/>
                </a:solidFill>
                <a:latin typeface="Bahnschrift"/>
              </a:rPr>
              <a:t>Test-set information slipping into training — and why a benchmark can't be trusted until it's ruled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82296" cy="2468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40664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05456"/>
            <a:ext cx="50109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Leakage is when a model gains access — directly or indirectly — to information about the held-out test labels while it trains. The reported score then measures 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memorisation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of that leaked signal, not genuine 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generalisation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to unseen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82296" cy="24688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37376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500" b="1" i="0" noProof="0" dirty="0">
                <a:solidFill>
                  <a:srgbClr val="201A40"/>
                </a:solidFill>
                <a:latin typeface="Bahnschrift"/>
              </a:rPr>
              <a:t>In signed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505456"/>
            <a:ext cx="501091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Under the </a:t>
            </a:r>
            <a:r>
              <a:rPr lang="en-US" sz="1250" b="0" i="0" noProof="0" dirty="0" err="1">
                <a:solidFill>
                  <a:srgbClr val="6B6690"/>
                </a:solidFill>
                <a:latin typeface="Bahnschrift"/>
              </a:rPr>
              <a:t>transductive</a:t>
            </a:r>
            <a:r>
              <a:rPr lang="en-US" sz="1250" b="0" i="0" noProof="0" dirty="0">
                <a:solidFill>
                  <a:srgbClr val="6B6690"/>
                </a:solidFill>
                <a:latin typeface="Bahnschrift"/>
              </a:rPr>
              <a:t> convention a cycle's sign-product σ can include the sign of a test edge. A cycle feature then silently carries the very label being predicted — leakage through structure, not through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4645152"/>
            <a:ext cx="1065276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300" b="1" i="0" noProof="0" dirty="0">
                <a:solidFill>
                  <a:srgbClr val="0E9D6E"/>
                </a:solidFill>
                <a:latin typeface="Bahnschrift"/>
              </a:rPr>
              <a:t>Why it matters.  </a:t>
            </a:r>
            <a:r>
              <a:rPr lang="en-US" sz="1300" b="0" i="0" noProof="0" dirty="0">
                <a:solidFill>
                  <a:srgbClr val="201A40"/>
                </a:solidFill>
                <a:latin typeface="Bahnschrift"/>
              </a:rPr>
              <a:t>Inflated, non-reproducible numbers; a model that looks state-of-the-art but fails on truly unseen edges; unfair comparison between methods; lost trust. Detecting leakage (label-shuffle → AUROC ≈ 0.5) and removing it (a train-only cycle pool) is exactly what makes a result honest.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90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 · PhD Seminar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Honesty as a protocol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Strong numbers are only worth as much as the discipline that audits them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58952" y="1837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Label-shuffle diagnostic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758952" y="2221992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Shuffle training signs: a true structural predictor collapses to chance. 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→ 0.540 (clean); leaky variants stay near 0.99 — the test that separates prior from leakage.</a:t>
            </a:r>
            <a:endParaRPr lang="en-US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6473952" y="1837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Leakage audit</a:t>
            </a:r>
            <a:endParaRPr lang="en-US" sz="1550" noProof="0" dirty="0"/>
          </a:p>
        </p:txBody>
      </p:sp>
      <p:sp>
        <p:nvSpPr>
          <p:cNvPr id="13" name="Text 11"/>
          <p:cNvSpPr/>
          <p:nvPr/>
        </p:nvSpPr>
        <p:spPr>
          <a:xfrm>
            <a:off x="6473952" y="2221992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external audit found σ-leakage in early 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tuned numbers. The strict cycle-pool variant became the honest architectural baseline reported here.</a:t>
            </a:r>
            <a:endParaRPr lang="en-US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3758184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58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Bug-vs-honest correction</a:t>
            </a:r>
            <a:endParaRPr lang="en-US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758952" y="4288536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detection-metric bug had inflated a vision </a:t>
            </a:r>
            <a:r>
              <a:rPr lang="en-US" sz="12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mAP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to 0.723 ± 0.180; the corrected COCO matching gives 0.504 ± 0.039 — published as the honest reference.</a:t>
            </a:r>
            <a:endParaRPr lang="en-US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6217920" y="3758184"/>
            <a:ext cx="548640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E4DFF4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6217920" y="3758184"/>
            <a:ext cx="82296" cy="1810512"/>
          </a:xfrm>
          <a:prstGeom prst="rect">
            <a:avLst/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6473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Evidence discipline</a:t>
            </a:r>
            <a:endParaRPr lang="en-US" sz="1550" noProof="0" dirty="0"/>
          </a:p>
        </p:txBody>
      </p:sp>
      <p:sp>
        <p:nvSpPr>
          <p:cNvPr id="21" name="Text 19"/>
          <p:cNvSpPr/>
          <p:nvPr/>
        </p:nvSpPr>
        <p:spPr>
          <a:xfrm>
            <a:off x="6473952" y="4288536"/>
            <a:ext cx="5029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Every result row maps to an on-disk artifact path; an in-flight claim must cite a growing log file. No number floats free of its file.</a:t>
            </a:r>
            <a:endParaRPr lang="en-US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How we know it isn't leakage</a:t>
            </a:r>
            <a:endParaRPr lang="en-US" sz="2900" noProof="0" dirty="0"/>
          </a:p>
        </p:txBody>
      </p:sp>
      <p:sp>
        <p:nvSpPr>
          <p:cNvPr id="3" name="Shape 1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0E9D6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noProof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PART II · SCIENCE</a:t>
            </a:r>
            <a:endParaRPr lang="en-US" sz="105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label-shuffle test — and what </a:t>
            </a:r>
            <a:r>
              <a:rPr lang="en-US" sz="1450" i="1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transductive</a:t>
            </a:r>
            <a:r>
              <a:rPr lang="en-US" sz="145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σ-leakage looks like</a:t>
            </a:r>
            <a:endParaRPr lang="en-US" sz="1450" noProof="0" dirty="0"/>
          </a:p>
        </p:txBody>
      </p:sp>
      <p:pic>
        <p:nvPicPr>
          <p:cNvPr id="6" name="Image 0" descr="leakage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10515600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4773168"/>
            <a:ext cx="10652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metric.  </a:t>
            </a:r>
            <a:r>
              <a:rPr lang="en-US" sz="13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Re-train with the training-edge signs randomly permuted. A model using only legitimate structure must fall to chance (AUROC ≈ 0.5); one that secretly reads test-edge signs — through the σ-products of cycles that pass through a test edge — stays high.  </a:t>
            </a:r>
            <a:r>
              <a:rPr lang="en-US" sz="1300" b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Gömb</a:t>
            </a:r>
            <a:r>
              <a:rPr lang="en-US" sz="1300" b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collapses to 0.540</a:t>
            </a:r>
            <a:r>
              <a:rPr lang="en-US" sz="13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(strict by construction); early tuned </a:t>
            </a:r>
            <a:r>
              <a:rPr lang="en-US" sz="130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30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stayed near 0.99, exposing σ-leakage — so the strict cycle pool, enumerated over training edges only, is the honest baseline.</a:t>
            </a:r>
            <a:endParaRPr lang="en-US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600" b="1" i="0" noProof="0" dirty="0" err="1">
                <a:solidFill>
                  <a:srgbClr val="201A40"/>
                </a:solidFill>
                <a:latin typeface="Futura"/>
              </a:rPr>
              <a:t>HyMeYOLO</a:t>
            </a:r>
            <a:r>
              <a:rPr lang="en-US" sz="2600" b="1" i="0" noProof="0" dirty="0">
                <a:solidFill>
                  <a:srgbClr val="201A40"/>
                </a:solidFill>
                <a:latin typeface="Futura"/>
              </a:rPr>
              <a:t>: detections on Cluttered MNIST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08592" y="457200"/>
            <a:ext cx="2331720" cy="329184"/>
          </a:xfrm>
          <a:prstGeom prst="roundRect">
            <a:avLst>
              <a:gd name="adj" fmla="val 4000"/>
            </a:avLst>
          </a:prstGeom>
          <a:solidFill>
            <a:srgbClr val="0E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050" b="1" i="0" noProof="0" dirty="0">
                <a:solidFill>
                  <a:srgbClr val="FFFFFF"/>
                </a:solidFill>
                <a:latin typeface="Bahnschrift"/>
              </a:rPr>
              <a:t>PART II ·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400" b="0" i="1" noProof="0" dirty="0">
                <a:solidFill>
                  <a:srgbClr val="6B6690"/>
                </a:solidFill>
                <a:latin typeface="Bahnschrift"/>
              </a:rPr>
              <a:t>Input with ground-truth boxes (cyan) vs the + </a:t>
            </a:r>
            <a:r>
              <a:rPr lang="en-US" sz="1400" b="0" i="1" noProof="0" dirty="0" err="1">
                <a:solidFill>
                  <a:srgbClr val="6B6690"/>
                </a:solidFill>
                <a:latin typeface="Bahnschrift"/>
              </a:rPr>
              <a:t>ricci</a:t>
            </a:r>
            <a:r>
              <a:rPr lang="en-US" sz="1400" b="0" i="1" noProof="0" dirty="0">
                <a:solidFill>
                  <a:srgbClr val="6B6690"/>
                </a:solidFill>
                <a:latin typeface="Bahnschrift"/>
              </a:rPr>
              <a:t>-mod detector's predictions (red / orange, score ≥ 0.30)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6212" y="1591056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 descr="panel_00_se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645920"/>
            <a:ext cx="4114800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8212" y="1591056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panel_01_see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645920"/>
            <a:ext cx="411480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696212" y="3904488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 descr="panel_03_see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076" y="3959352"/>
            <a:ext cx="411480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68212" y="3904488"/>
            <a:ext cx="4224528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3" name="Picture 12" descr="panel_05_see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959352"/>
            <a:ext cx="411480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Single-scale detector, honest mAP_50 ≈ 0.90 (Stage-B </a:t>
            </a:r>
            <a:r>
              <a:rPr lang="en-US" sz="1150" b="0" i="1" noProof="0" dirty="0" err="1">
                <a:solidFill>
                  <a:srgbClr val="6B6690"/>
                </a:solidFill>
                <a:latin typeface="Bahnschrift"/>
              </a:rPr>
              <a:t>HSiKAN</a:t>
            </a: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-CR). The </a:t>
            </a:r>
            <a:r>
              <a:rPr lang="en-US" sz="1150" b="0" i="1" noProof="0" dirty="0" err="1">
                <a:solidFill>
                  <a:srgbClr val="6B6690"/>
                </a:solidFill>
                <a:latin typeface="Bahnschrift"/>
              </a:rPr>
              <a:t>HSiKAN</a:t>
            </a: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-CR activation </a:t>
            </a:r>
            <a:r>
              <a:rPr lang="en-US" sz="1150" b="0" i="1" noProof="0" dirty="0" err="1">
                <a:solidFill>
                  <a:srgbClr val="6B6690"/>
                </a:solidFill>
                <a:latin typeface="Bahnschrift"/>
              </a:rPr>
              <a:t>localises</a:t>
            </a: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 digits in clutter at parity with a </a:t>
            </a:r>
            <a:r>
              <a:rPr lang="en-US" sz="1150" b="0" i="1" noProof="0" dirty="0" err="1">
                <a:solidFill>
                  <a:srgbClr val="6B6690"/>
                </a:solidFill>
                <a:latin typeface="Bahnschrift"/>
              </a:rPr>
              <a:t>ReLU</a:t>
            </a:r>
            <a:r>
              <a:rPr lang="en-US" sz="1150" b="0" i="1" noProof="0" dirty="0">
                <a:solidFill>
                  <a:srgbClr val="6B6690"/>
                </a:solidFill>
                <a:latin typeface="Bahnschrift"/>
              </a:rPr>
              <a:t> backbone.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0" i="0" noProof="0" dirty="0" err="1">
                <a:solidFill>
                  <a:srgbClr val="6B6690"/>
                </a:solidFill>
                <a:latin typeface="Bahnschrift"/>
              </a:rPr>
              <a:t>HyMeKo</a:t>
            </a:r>
            <a:r>
              <a:rPr lang="en-US" sz="900" b="0" i="0" noProof="0" dirty="0">
                <a:solidFill>
                  <a:srgbClr val="6B6690"/>
                </a:solidFill>
                <a:latin typeface="Bahnschrift"/>
              </a:rPr>
              <a:t> · PhD Seminar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 noProof="0" dirty="0">
                <a:solidFill>
                  <a:srgbClr val="6B6690"/>
                </a:solidFill>
                <a:latin typeface="Bahnschrift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The bridge</a:t>
            </a:r>
            <a:endParaRPr lang="en-US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Framework and science are one idea seen at two altitudes</a:t>
            </a:r>
            <a:endParaRPr lang="en-US" sz="1500" noProof="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4980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2563EB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.</a:t>
            </a:r>
            <a:r>
              <a:rPr lang="en-US" sz="1450" b="1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structure</a:t>
            </a:r>
            <a:endParaRPr lang="en-US" sz="145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robot · trust graph · neural dataflow</a:t>
            </a:r>
            <a:endParaRPr lang="en-US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0954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344728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363016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364845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Hypergraph IR</a:t>
            </a:r>
            <a:endParaRPr lang="en-US" sz="1450" noProof="0" dirty="0"/>
          </a:p>
        </p:txBody>
      </p:sp>
      <p:sp>
        <p:nvSpPr>
          <p:cNvPr id="12" name="Text 10"/>
          <p:cNvSpPr/>
          <p:nvPr/>
        </p:nvSpPr>
        <p:spPr>
          <a:xfrm>
            <a:off x="364845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Blake3 identity · star expansion</a:t>
            </a:r>
            <a:endParaRPr lang="en-US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08990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32764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E9D6E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51052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0E9D6E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52881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Sparse incidence tensor</a:t>
            </a:r>
            <a:endParaRPr lang="en-US" sz="1450" noProof="0" dirty="0"/>
          </a:p>
        </p:txBody>
      </p:sp>
      <p:sp>
        <p:nvSpPr>
          <p:cNvPr id="17" name="Text 15"/>
          <p:cNvSpPr/>
          <p:nvPr/>
        </p:nvSpPr>
        <p:spPr>
          <a:xfrm>
            <a:off x="652881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O(|E|·d), zero-copy to </a:t>
            </a:r>
            <a:r>
              <a:rPr lang="en-US" sz="11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PyTorch</a:t>
            </a:r>
            <a:endParaRPr lang="en-US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8970264" y="2400300"/>
            <a:ext cx="201168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7"/>
          <p:cNvSpPr/>
          <p:nvPr/>
        </p:nvSpPr>
        <p:spPr>
          <a:xfrm>
            <a:off x="9208008" y="164592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14300" dist="38100" dir="5400000" algn="bl" rotWithShape="0">
              <a:srgbClr val="6D28D9">
                <a:alpha val="13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9390888" y="17739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6D28D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9409176" y="215798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Structural-prior model</a:t>
            </a:r>
            <a:endParaRPr lang="en-US" sz="1450" noProof="0" dirty="0"/>
          </a:p>
        </p:txBody>
      </p:sp>
      <p:sp>
        <p:nvSpPr>
          <p:cNvPr id="22" name="Text 20"/>
          <p:cNvSpPr/>
          <p:nvPr/>
        </p:nvSpPr>
        <p:spPr>
          <a:xfrm>
            <a:off x="9409176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cycles &amp; walks → KAN activations</a:t>
            </a:r>
            <a:endParaRPr lang="en-US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566928" y="3611880"/>
            <a:ext cx="6446520" cy="2194560"/>
          </a:xfrm>
          <a:prstGeom prst="roundRect">
            <a:avLst>
              <a:gd name="adj" fmla="val 3333"/>
            </a:avLst>
          </a:prstGeom>
          <a:solidFill>
            <a:srgbClr val="F4F1FC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5989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DSL describes the robot and the network that reasons about it.
</a:t>
            </a:r>
            <a:endParaRPr lang="en-US" sz="1450" noProof="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hypergraph that the framework compiles is the same hypergraph whose cycles the model learns from — and the same kinematic structure </a:t>
            </a:r>
            <a:r>
              <a:rPr lang="en-US" sz="14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4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predicts from graph topology alone.</a:t>
            </a:r>
            <a:endParaRPr lang="en-US" sz="1450" noProof="0" dirty="0"/>
          </a:p>
        </p:txBody>
      </p:sp>
      <p:sp>
        <p:nvSpPr>
          <p:cNvPr id="25" name="Text 23"/>
          <p:cNvSpPr/>
          <p:nvPr/>
        </p:nvSpPr>
        <p:spPr>
          <a:xfrm>
            <a:off x="726948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Live demo · </a:t>
            </a:r>
            <a:r>
              <a:rPr lang="en-US" sz="1050" i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HSiKAN</a:t>
            </a:r>
            <a:r>
              <a:rPr lang="en-US" sz="1050" i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graph-only kinematics vs </a:t>
            </a:r>
            <a:r>
              <a:rPr lang="en-US" sz="1050" i="1" noProof="0" dirty="0" err="1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MuJoCo</a:t>
            </a:r>
            <a:r>
              <a:rPr lang="en-US" sz="1050" i="1" noProof="0" dirty="0">
                <a:solidFill>
                  <a:srgbClr val="0E9D6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(~5 cm L2)</a:t>
            </a:r>
            <a:endParaRPr lang="en-US" sz="1050" noProof="0" dirty="0"/>
          </a:p>
        </p:txBody>
      </p:sp>
      <p:pic>
        <p:nvPicPr>
          <p:cNvPr id="26" name="Image 0" descr="mujoco_st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639312"/>
            <a:ext cx="3246120" cy="2432304"/>
          </a:xfrm>
          <a:prstGeom prst="rect">
            <a:avLst/>
          </a:prstGeom>
        </p:spPr>
      </p:pic>
      <p:pic>
        <p:nvPicPr>
          <p:cNvPr id="27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82128" y="3639312"/>
            <a:ext cx="3246120" cy="243230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9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34</a:t>
            </a:r>
            <a:endParaRPr lang="en-US" sz="9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noProof="0" dirty="0">
                <a:solidFill>
                  <a:srgbClr val="202035"/>
                </a:solidFill>
                <a:latin typeface="Futura"/>
              </a:rPr>
              <a:t>Live demo: UR5e grasping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08592" y="45720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100" b="1" noProof="0" dirty="0">
                <a:solidFill>
                  <a:srgbClr val="2563EB"/>
                </a:solidFill>
                <a:latin typeface="Bahnschrift"/>
              </a:rPr>
              <a:t>PART I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i="1" noProof="0" dirty="0">
                <a:solidFill>
                  <a:srgbClr val="555566"/>
                </a:solidFill>
                <a:latin typeface="Bahnschrift"/>
              </a:rPr>
              <a:t>MDPI Technologies Tier-1 — one .</a:t>
            </a:r>
            <a:r>
              <a:rPr lang="en-US" sz="1400" i="1" noProof="0" dirty="0" err="1">
                <a:solidFill>
                  <a:srgbClr val="555566"/>
                </a:solidFill>
                <a:latin typeface="Bahnschrift"/>
              </a:rPr>
              <a:t>hymeko</a:t>
            </a:r>
            <a:r>
              <a:rPr lang="en-US" sz="1400" i="1" noProof="0" dirty="0">
                <a:solidFill>
                  <a:srgbClr val="555566"/>
                </a:solidFill>
                <a:latin typeface="Bahnschrift"/>
              </a:rPr>
              <a:t> evaluated live against ROS 2 topics in Gazebo (built).</a:t>
            </a:r>
          </a:p>
        </p:txBody>
      </p:sp>
      <p:pic>
        <p:nvPicPr>
          <p:cNvPr id="5" name="Picture 4" descr="ur5e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83080"/>
            <a:ext cx="5669280" cy="2304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177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 noProof="0" dirty="0">
                <a:solidFill>
                  <a:srgbClr val="202035"/>
                </a:solidFill>
                <a:latin typeface="Bahnschrift"/>
              </a:rPr>
              <a:t>One command brings up </a:t>
            </a:r>
            <a:r>
              <a:rPr lang="en-US" sz="1200" b="1" noProof="0" dirty="0" err="1">
                <a:solidFill>
                  <a:srgbClr val="202035"/>
                </a:solidFill>
                <a:latin typeface="Bahnschrift"/>
              </a:rPr>
              <a:t>gz</a:t>
            </a:r>
            <a:r>
              <a:rPr lang="en-US" sz="1200" b="1" noProof="0" dirty="0">
                <a:solidFill>
                  <a:srgbClr val="202035"/>
                </a:solidFill>
                <a:latin typeface="Bahnschrift"/>
              </a:rPr>
              <a:t> sim + UR5e + </a:t>
            </a:r>
            <a:r>
              <a:rPr lang="en-US" sz="1200" b="1" noProof="0" dirty="0" err="1">
                <a:solidFill>
                  <a:srgbClr val="202035"/>
                </a:solidFill>
                <a:latin typeface="Bahnschrift"/>
              </a:rPr>
              <a:t>MoveIt</a:t>
            </a:r>
            <a:r>
              <a:rPr lang="en-US" sz="1200" b="1" noProof="0" dirty="0">
                <a:solidFill>
                  <a:srgbClr val="202035"/>
                </a:solidFill>
                <a:latin typeface="Bahnschrift"/>
              </a:rPr>
              <a:t> 2 + RViz 2 + the </a:t>
            </a:r>
            <a:r>
              <a:rPr lang="en-US" sz="1200" b="1" noProof="0" dirty="0" err="1">
                <a:solidFill>
                  <a:srgbClr val="202035"/>
                </a:solidFill>
                <a:latin typeface="Bahnschrift"/>
              </a:rPr>
              <a:t>HyMeKo</a:t>
            </a:r>
            <a:r>
              <a:rPr lang="en-US" sz="1200" b="1" noProof="0" dirty="0">
                <a:solidFill>
                  <a:srgbClr val="202035"/>
                </a:solidFill>
                <a:latin typeface="Bahnschrift"/>
              </a:rPr>
              <a:t> context node — the flow ticks at 10 Hz.</a:t>
            </a:r>
          </a:p>
          <a:p>
            <a:pPr>
              <a:spcAft>
                <a:spcPts val="300"/>
              </a:spcAft>
            </a:pPr>
            <a:r>
              <a:rPr lang="en-US" sz="1100" b="0" noProof="0" dirty="0" err="1">
                <a:solidFill>
                  <a:srgbClr val="555566"/>
                </a:solidFill>
                <a:latin typeface="Bahnschrift"/>
              </a:rPr>
              <a:t>grasping_context_node</a:t>
            </a:r>
            <a:r>
              <a:rPr lang="en-US" sz="1100" b="0" noProof="0" dirty="0">
                <a:solidFill>
                  <a:srgbClr val="555566"/>
                </a:solidFill>
                <a:latin typeface="Bahnschrift"/>
              </a:rPr>
              <a:t> loads </a:t>
            </a:r>
            <a:r>
              <a:rPr lang="en-US" sz="1100" b="0" noProof="0" dirty="0" err="1">
                <a:solidFill>
                  <a:srgbClr val="555566"/>
                </a:solidFill>
                <a:latin typeface="Bahnschrift"/>
              </a:rPr>
              <a:t>hymeko_robot.hymeko</a:t>
            </a:r>
            <a:r>
              <a:rPr lang="en-US" sz="1100" b="0" noProof="0" dirty="0">
                <a:solidFill>
                  <a:srgbClr val="555566"/>
                </a:solidFill>
                <a:latin typeface="Bahnschrift"/>
              </a:rPr>
              <a:t>, evaluates 6 signed hyperedges over 11 vertices, and republishes configuration / contact-force / stability-margin as ROS topics.</a:t>
            </a:r>
          </a:p>
          <a:p>
            <a:pPr>
              <a:spcAft>
                <a:spcPts val="300"/>
              </a:spcAft>
            </a:pPr>
            <a:r>
              <a:rPr lang="en-US" sz="1100" b="0" noProof="0" dirty="0">
                <a:solidFill>
                  <a:srgbClr val="0E6B4F"/>
                </a:solidFill>
                <a:latin typeface="Bahnschrift"/>
              </a:rPr>
              <a:t>Scope: an integration demo — the framework on the robot stack — not a grasping-policy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noProof="0" dirty="0" err="1">
                <a:solidFill>
                  <a:srgbClr val="9090A0"/>
                </a:solidFill>
                <a:latin typeface="Bahnschrift"/>
              </a:rPr>
              <a:t>HyMeKo</a:t>
            </a:r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 · PhD Seminar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000" i="1" noProof="0" dirty="0">
                <a:solidFill>
                  <a:srgbClr val="555566"/>
                </a:solidFill>
                <a:latin typeface="Bahnschrift"/>
              </a:rPr>
              <a:t>Live data flow (schematic)</a:t>
            </a:r>
          </a:p>
        </p:txBody>
      </p:sp>
      <p:pic>
        <p:nvPicPr>
          <p:cNvPr id="10" name="movei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09360" y="1783080"/>
            <a:ext cx="5486400" cy="22974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11708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000" i="1" noProof="0" dirty="0">
                <a:solidFill>
                  <a:srgbClr val="555566"/>
                </a:solidFill>
                <a:latin typeface="Bahnschrift"/>
              </a:rPr>
              <a:t>Live demo — </a:t>
            </a:r>
            <a:r>
              <a:rPr lang="en-US" sz="1000" i="1" noProof="0" dirty="0" err="1">
                <a:solidFill>
                  <a:srgbClr val="555566"/>
                </a:solidFill>
                <a:latin typeface="Bahnschrift"/>
              </a:rPr>
              <a:t>MoveIt</a:t>
            </a:r>
            <a:r>
              <a:rPr lang="en-US" sz="1000" i="1" noProof="0" dirty="0">
                <a:solidFill>
                  <a:srgbClr val="555566"/>
                </a:solidFill>
                <a:latin typeface="Bahnschrift"/>
              </a:rPr>
              <a:t> + Gazebo (video, 42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2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000" b="1" noProof="0" dirty="0">
                <a:solidFill>
                  <a:srgbClr val="4B2E83"/>
                </a:solidFill>
                <a:latin typeface="Century Gothic"/>
              </a:rPr>
              <a:t>Publications &amp; submissions (2026) — 2 accepted at IEEE SMC 2026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097280"/>
            <a:ext cx="3291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b="1" noProof="0" dirty="0">
                <a:solidFill>
                  <a:srgbClr val="0E6B4F"/>
                </a:solidFill>
                <a:latin typeface="Bahnschrift"/>
              </a:rPr>
              <a:t>[accepted ✓] </a:t>
            </a:r>
            <a:r>
              <a:rPr lang="en-US" sz="900" b="1" noProof="0" dirty="0" err="1">
                <a:solidFill>
                  <a:srgbClr val="0E6B4F"/>
                </a:solidFill>
                <a:latin typeface="Bahnschrift"/>
              </a:rPr>
              <a:t>HyMeKo</a:t>
            </a:r>
            <a:r>
              <a:rPr lang="en-US" sz="900" b="1" noProof="0" dirty="0">
                <a:solidFill>
                  <a:srgbClr val="0E6B4F"/>
                </a:solidFill>
                <a:latin typeface="Bahnschrift"/>
              </a:rPr>
              <a:t>: A Canonical-Hypergraph Infrastructure for Cross-View Consistency in CPS Engineering — IEEE SMC 2026 (Regular)</a:t>
            </a:r>
          </a:p>
          <a:p>
            <a:pPr>
              <a:spcAft>
                <a:spcPts val="400"/>
              </a:spcAft>
            </a:pPr>
            <a:r>
              <a:rPr lang="en-US" sz="900" b="1" noProof="0" dirty="0">
                <a:solidFill>
                  <a:srgbClr val="0E6B4F"/>
                </a:solidFill>
                <a:latin typeface="Bahnschrift"/>
              </a:rPr>
              <a:t>[accepted ✓] </a:t>
            </a:r>
            <a:r>
              <a:rPr lang="en-US" sz="900" b="1" noProof="0" dirty="0" err="1">
                <a:solidFill>
                  <a:srgbClr val="0E6B4F"/>
                </a:solidFill>
                <a:latin typeface="Bahnschrift"/>
              </a:rPr>
              <a:t>HSiKAN</a:t>
            </a:r>
            <a:r>
              <a:rPr lang="en-US" sz="900" b="1" noProof="0" dirty="0">
                <a:solidFill>
                  <a:srgbClr val="0E6B4F"/>
                </a:solidFill>
                <a:latin typeface="Bahnschrift"/>
              </a:rPr>
              <a:t>: Mixed-Arity Signed Kolmogorov–Arnold Networks for Signed-Graph Link Prediction — IEEE SMC 2026 (WIP)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[in prep] AC-</a:t>
            </a:r>
            <a:r>
              <a:rPr lang="en-US" sz="900" noProof="0" dirty="0" err="1">
                <a:solidFill>
                  <a:srgbClr val="C97A16"/>
                </a:solidFill>
                <a:latin typeface="Bahnschrift"/>
              </a:rPr>
              <a:t>HSiKAN</a:t>
            </a: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: signed-link prediction — Elsevier journal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1B6CA8"/>
                </a:solidFill>
                <a:latin typeface="Bahnschrift"/>
              </a:rPr>
              <a:t>[submitted] Cycles vs. Walks: two inductive biases in Signed KAN — IEEE SISY 2026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[in prep] </a:t>
            </a:r>
            <a:r>
              <a:rPr lang="en-US" sz="900" noProof="0" dirty="0" err="1">
                <a:solidFill>
                  <a:srgbClr val="C97A16"/>
                </a:solidFill>
                <a:latin typeface="Bahnschrift"/>
              </a:rPr>
              <a:t>HyMeKo</a:t>
            </a: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 (journal extension, independent of SMC conf) — IEEE T-SMC: Systems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[in prep] Spectral-entropy regularization, Lyapunov schedule — IEEE T-SMC: Cybernetics</a:t>
            </a:r>
          </a:p>
          <a:p>
            <a:pPr>
              <a:spcAft>
                <a:spcPts val="400"/>
              </a:spcAft>
            </a:pPr>
            <a:r>
              <a:rPr lang="en-US" sz="900" b="1" noProof="0" dirty="0">
                <a:solidFill>
                  <a:srgbClr val="C97A16"/>
                </a:solidFill>
                <a:latin typeface="Bahnschrift"/>
              </a:rPr>
              <a:t>★ [in prep] Signed-hypergraph structural priors for relational learning — IEEE TPAMI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[in prep] </a:t>
            </a:r>
            <a:r>
              <a:rPr lang="en-US" sz="900" noProof="0" dirty="0" err="1">
                <a:solidFill>
                  <a:srgbClr val="C97A16"/>
                </a:solidFill>
                <a:latin typeface="Bahnschrift"/>
              </a:rPr>
              <a:t>HSiKAN</a:t>
            </a: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 + honest σ-masked protocol for signed-graph link prediction — Nature Communications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C97A16"/>
                </a:solidFill>
                <a:latin typeface="Bahnschrift"/>
              </a:rPr>
              <a:t>[in prep] GPU-kernels journal extension (independent) — IEEE T-SMC: Systems</a:t>
            </a:r>
          </a:p>
          <a:p>
            <a:pPr>
              <a:spcAft>
                <a:spcPts val="400"/>
              </a:spcAft>
            </a:pPr>
            <a:r>
              <a:rPr lang="en-US" sz="900" noProof="0" dirty="0">
                <a:solidFill>
                  <a:srgbClr val="1B6CA8"/>
                </a:solidFill>
                <a:latin typeface="Bahnschrift"/>
              </a:rPr>
              <a:t>[submitted] </a:t>
            </a:r>
            <a:r>
              <a:rPr lang="en-US" sz="900" noProof="0" dirty="0" err="1">
                <a:solidFill>
                  <a:srgbClr val="1B6CA8"/>
                </a:solidFill>
                <a:latin typeface="Bahnschrift"/>
              </a:rPr>
              <a:t>HyMeKo</a:t>
            </a:r>
            <a:r>
              <a:rPr lang="en-US" sz="900" noProof="0" dirty="0">
                <a:solidFill>
                  <a:srgbClr val="1B6CA8"/>
                </a:solidFill>
                <a:latin typeface="Bahnschrift"/>
              </a:rPr>
              <a:t> live demo (built) — MDPI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05332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noProof="0" dirty="0">
                <a:solidFill>
                  <a:srgbClr val="4B2E83"/>
                </a:solidFill>
                <a:latin typeface="Bahnschrift"/>
              </a:rPr>
              <a:t>Co-authors: László Környei · Katalin Kovács · Ádám Csapó · and others</a:t>
            </a:r>
          </a:p>
        </p:txBody>
      </p:sp>
      <p:pic>
        <p:nvPicPr>
          <p:cNvPr id="7" name="Picture 6" descr="pub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028700"/>
            <a:ext cx="8046720" cy="499311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2900"/>
            <a:ext cx="1072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000" b="1" noProof="0" dirty="0">
                <a:solidFill>
                  <a:srgbClr val="4B2E83"/>
                </a:solidFill>
                <a:latin typeface="Century Gothic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700" noProof="0" dirty="0">
                <a:latin typeface="Bahnschrift"/>
              </a:rPr>
              <a:t>•  σ-masked strict protocol — finish the sign-aware leakage audit + 5-seed grid; lock the honest operating point.</a:t>
            </a:r>
          </a:p>
          <a:p>
            <a:pPr>
              <a:spcAft>
                <a:spcPts val="600"/>
              </a:spcAft>
            </a:pPr>
            <a:r>
              <a:rPr lang="en-US" sz="1700" noProof="0" dirty="0">
                <a:latin typeface="Bahnschrift"/>
              </a:rPr>
              <a:t>•  Round-trip .</a:t>
            </a:r>
            <a:r>
              <a:rPr lang="en-US" sz="1700" noProof="0" dirty="0" err="1">
                <a:latin typeface="Bahnschrift"/>
              </a:rPr>
              <a:t>hymeko</a:t>
            </a:r>
            <a:r>
              <a:rPr lang="en-US" sz="1700" noProof="0" dirty="0">
                <a:latin typeface="Bahnschrift"/>
              </a:rPr>
              <a:t> → </a:t>
            </a:r>
            <a:r>
              <a:rPr lang="en-US" sz="1700" noProof="0" dirty="0" err="1">
                <a:latin typeface="Bahnschrift"/>
              </a:rPr>
              <a:t>torch.nn</a:t>
            </a:r>
            <a:r>
              <a:rPr lang="en-US" sz="1700" noProof="0" dirty="0">
                <a:latin typeface="Bahnschrift"/>
              </a:rPr>
              <a:t> — structural parity holds; next: runnable round-trip + faithful Soma vision (Hodge/stim/patch).</a:t>
            </a:r>
          </a:p>
          <a:p>
            <a:pPr>
              <a:spcAft>
                <a:spcPts val="600"/>
              </a:spcAft>
            </a:pPr>
            <a:r>
              <a:rPr lang="en-US" sz="1700" noProof="0" dirty="0">
                <a:latin typeface="Bahnschrift"/>
              </a:rPr>
              <a:t>•  Broader transform targets — task emitters (BehaviorTree.CPP / PDDL / ROS 2 actions) for the .</a:t>
            </a:r>
            <a:r>
              <a:rPr lang="en-US" sz="1700" noProof="0" dirty="0" err="1">
                <a:latin typeface="Bahnschrift"/>
              </a:rPr>
              <a:t>hymeko</a:t>
            </a:r>
            <a:r>
              <a:rPr lang="en-US" sz="1700" noProof="0" dirty="0">
                <a:latin typeface="Bahnschrift"/>
              </a:rPr>
              <a:t> task layer.</a:t>
            </a:r>
          </a:p>
          <a:p>
            <a:pPr>
              <a:spcAft>
                <a:spcPts val="600"/>
              </a:spcAft>
            </a:pPr>
            <a:r>
              <a:rPr lang="en-US" sz="1700" noProof="0" dirty="0">
                <a:latin typeface="Bahnschrift"/>
              </a:rPr>
              <a:t>•  Larger-scale corpora — bigger signed-graph &amp; vision datasets under the 16 GB RSS discipline.</a:t>
            </a:r>
          </a:p>
          <a:p>
            <a:pPr>
              <a:spcAft>
                <a:spcPts val="600"/>
              </a:spcAft>
            </a:pPr>
            <a:r>
              <a:rPr lang="en-US" sz="1700" noProof="0" dirty="0">
                <a:latin typeface="Bahnschrift"/>
              </a:rPr>
              <a:t>•  HSMM → FPGA — </a:t>
            </a:r>
            <a:r>
              <a:rPr lang="en-US" sz="1700" noProof="0" dirty="0" err="1">
                <a:latin typeface="Bahnschrift"/>
              </a:rPr>
              <a:t>Nagare</a:t>
            </a:r>
            <a:r>
              <a:rPr lang="en-US" sz="1700" noProof="0" dirty="0">
                <a:latin typeface="Bahnschrift"/>
              </a:rPr>
              <a:t> dataflow → HSMM abstract machine → Zynq (theory → systems → compiler).</a:t>
            </a:r>
          </a:p>
          <a:p>
            <a:pPr>
              <a:spcAft>
                <a:spcPts val="600"/>
              </a:spcAft>
            </a:pPr>
            <a:r>
              <a:rPr lang="en-US" sz="1700" noProof="0" dirty="0">
                <a:latin typeface="Bahnschrift"/>
              </a:rPr>
              <a:t>•  Authoring surface — in-browser editor: multi-file imports &amp; profiles, parametric generators, arc-value editing.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892040"/>
            <a:ext cx="2510028" cy="969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i="1" noProof="0" dirty="0">
                <a:solidFill>
                  <a:srgbClr val="4B2E83"/>
                </a:solidFill>
                <a:latin typeface="Bahnschrift"/>
              </a:rPr>
              <a:t>broader transform targets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48" y="4892040"/>
            <a:ext cx="2510028" cy="633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0148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i="1" noProof="0" dirty="0">
                <a:solidFill>
                  <a:srgbClr val="4B2E83"/>
                </a:solidFill>
                <a:latin typeface="Bahnschrift"/>
              </a:rPr>
              <a:t>runnable .</a:t>
            </a:r>
            <a:r>
              <a:rPr lang="en-US" sz="900" i="1" noProof="0" dirty="0" err="1">
                <a:solidFill>
                  <a:srgbClr val="4B2E83"/>
                </a:solidFill>
                <a:latin typeface="Bahnschrift"/>
              </a:rPr>
              <a:t>hymeko</a:t>
            </a:r>
            <a:r>
              <a:rPr lang="en-US" sz="900" i="1" noProof="0" dirty="0">
                <a:solidFill>
                  <a:srgbClr val="4B2E83"/>
                </a:solidFill>
                <a:latin typeface="Bahnschrift"/>
              </a:rPr>
              <a:t> → </a:t>
            </a:r>
            <a:r>
              <a:rPr lang="en-US" sz="900" i="1" noProof="0" dirty="0" err="1">
                <a:solidFill>
                  <a:srgbClr val="4B2E83"/>
                </a:solidFill>
                <a:latin typeface="Bahnschrift"/>
              </a:rPr>
              <a:t>torch.nn</a:t>
            </a:r>
            <a:endParaRPr lang="en-US" sz="900" i="1" noProof="0" dirty="0">
              <a:solidFill>
                <a:srgbClr val="4B2E83"/>
              </a:solidFill>
              <a:latin typeface="Bahnschrift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43" y="4892040"/>
            <a:ext cx="1730692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08776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i="1" noProof="0" dirty="0">
                <a:solidFill>
                  <a:srgbClr val="4B2E83"/>
                </a:solidFill>
                <a:latin typeface="Bahnschrift"/>
              </a:rPr>
              <a:t>faithful Soma vision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424" y="4892040"/>
            <a:ext cx="1099987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47404" y="5989320"/>
            <a:ext cx="25100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i="1" noProof="0" dirty="0">
                <a:solidFill>
                  <a:srgbClr val="4B2E83"/>
                </a:solidFill>
                <a:latin typeface="Bahnschrift"/>
              </a:rPr>
              <a:t>parametric generators / authoring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622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900" b="1" noProof="0" dirty="0">
                <a:solidFill>
                  <a:srgbClr val="202035"/>
                </a:solidFill>
                <a:latin typeface="Futura"/>
              </a:rPr>
              <a:t>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8300720" cy="492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en-US" sz="1600" b="0" noProof="0" dirty="0">
                <a:solidFill>
                  <a:srgbClr val="404055"/>
                </a:solidFill>
                <a:latin typeface="Bahnschrift"/>
              </a:rPr>
              <a:t>With thanks to Kato Laboratory (Prof. Shohei Kato) for hosting this seminar.</a:t>
            </a:r>
          </a:p>
          <a:p>
            <a:pPr>
              <a:spcAft>
                <a:spcPts val="1000"/>
              </a:spcAft>
            </a:pPr>
            <a:r>
              <a:rPr lang="en-US" sz="1600" b="1" noProof="0" dirty="0">
                <a:solidFill>
                  <a:srgbClr val="2563EB"/>
                </a:solidFill>
                <a:latin typeface="Bahnschrift"/>
              </a:rPr>
              <a:t>Supervisor:  </a:t>
            </a:r>
            <a:r>
              <a:rPr lang="hu-HU" sz="1600" noProof="0" dirty="0">
                <a:solidFill>
                  <a:srgbClr val="9A90B5"/>
                </a:solidFill>
                <a:latin typeface="Bahnschrift"/>
              </a:rPr>
              <a:t>Prof. D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r. Ádám Csapó (Budapest Corvinus University)</a:t>
            </a:r>
            <a:endParaRPr lang="en-US" sz="1600" b="0" noProof="0" dirty="0">
              <a:solidFill>
                <a:srgbClr val="9A90B5"/>
              </a:solidFill>
              <a:latin typeface="Bahnschrift"/>
            </a:endParaRPr>
          </a:p>
          <a:p>
            <a:pPr>
              <a:spcAft>
                <a:spcPts val="1000"/>
              </a:spcAft>
            </a:pPr>
            <a:r>
              <a:rPr lang="en-US" sz="1600" b="1" noProof="0" dirty="0">
                <a:solidFill>
                  <a:srgbClr val="2563EB"/>
                </a:solidFill>
                <a:latin typeface="Bahnschrift"/>
              </a:rPr>
              <a:t>Home laboratory:  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Applied Artificial Intelligence Laboratory</a:t>
            </a:r>
            <a:r>
              <a:rPr lang="hu-HU" sz="1600" noProof="0" dirty="0">
                <a:solidFill>
                  <a:srgbClr val="9A90B5"/>
                </a:solidFill>
                <a:latin typeface="Bahnschrift"/>
              </a:rPr>
              <a:t>, </a:t>
            </a:r>
            <a:r>
              <a:rPr lang="hu-HU" sz="1600" noProof="0" dirty="0" err="1">
                <a:solidFill>
                  <a:srgbClr val="9A90B5"/>
                </a:solidFill>
                <a:latin typeface="Bahnschrift"/>
              </a:rPr>
              <a:t>Department</a:t>
            </a:r>
            <a:r>
              <a:rPr lang="hu-HU" sz="1600" noProof="0" dirty="0">
                <a:solidFill>
                  <a:srgbClr val="9A90B5"/>
                </a:solidFill>
                <a:latin typeface="Bahnschrift"/>
              </a:rPr>
              <a:t> of </a:t>
            </a:r>
            <a:r>
              <a:rPr lang="hu-HU" sz="1600" noProof="0" dirty="0" err="1">
                <a:solidFill>
                  <a:srgbClr val="9A90B5"/>
                </a:solidFill>
                <a:latin typeface="Bahnschrift"/>
              </a:rPr>
              <a:t>Informatics</a:t>
            </a:r>
            <a:endParaRPr lang="en-US" sz="1600" b="0" noProof="0" dirty="0">
              <a:solidFill>
                <a:srgbClr val="9A90B5"/>
              </a:solidFill>
              <a:latin typeface="Bahnschrift"/>
            </a:endParaRPr>
          </a:p>
          <a:p>
            <a:pPr>
              <a:spcAft>
                <a:spcPts val="1000"/>
              </a:spcAft>
            </a:pPr>
            <a:r>
              <a:rPr lang="en-US" sz="1600" b="1" noProof="0" dirty="0">
                <a:solidFill>
                  <a:srgbClr val="2563EB"/>
                </a:solidFill>
                <a:latin typeface="Bahnschrift"/>
              </a:rPr>
              <a:t>Collaborators &amp; co-authors:  </a:t>
            </a:r>
            <a:r>
              <a:rPr lang="hu-HU" sz="1600" b="0" noProof="0" dirty="0">
                <a:solidFill>
                  <a:srgbClr val="404055"/>
                </a:solidFill>
                <a:latin typeface="Bahnschrift"/>
              </a:rPr>
              <a:t>Dr. L</a:t>
            </a:r>
            <a:r>
              <a:rPr lang="en-US" sz="1600" b="0" noProof="0" dirty="0" err="1">
                <a:solidFill>
                  <a:srgbClr val="404055"/>
                </a:solidFill>
                <a:latin typeface="Bahnschrift"/>
              </a:rPr>
              <a:t>ászló</a:t>
            </a:r>
            <a:r>
              <a:rPr lang="en-US" sz="1600" b="0" noProof="0" dirty="0">
                <a:solidFill>
                  <a:srgbClr val="404055"/>
                </a:solidFill>
                <a:latin typeface="Bahnschrift"/>
              </a:rPr>
              <a:t> Környei, </a:t>
            </a:r>
            <a:r>
              <a:rPr lang="hu-HU" sz="1600" b="0" noProof="0" dirty="0">
                <a:solidFill>
                  <a:srgbClr val="404055"/>
                </a:solidFill>
                <a:latin typeface="Bahnschrift"/>
              </a:rPr>
              <a:t>Dr. </a:t>
            </a:r>
            <a:r>
              <a:rPr lang="en-US" sz="1600" b="0" noProof="0" dirty="0">
                <a:solidFill>
                  <a:srgbClr val="404055"/>
                </a:solidFill>
                <a:latin typeface="Bahnschrift"/>
              </a:rPr>
              <a:t>Katalin Kovács, </a:t>
            </a:r>
            <a:r>
              <a:rPr lang="hu-HU" sz="1600" b="0" noProof="0" dirty="0">
                <a:solidFill>
                  <a:srgbClr val="404055"/>
                </a:solidFill>
                <a:latin typeface="Bahnschrift"/>
              </a:rPr>
              <a:t>Prof. Dr. </a:t>
            </a:r>
            <a:r>
              <a:rPr lang="en-US" sz="1600" b="0" noProof="0" dirty="0">
                <a:solidFill>
                  <a:srgbClr val="404055"/>
                </a:solidFill>
                <a:latin typeface="Bahnschrift"/>
              </a:rPr>
              <a:t>Ádám Csapó, </a:t>
            </a:r>
            <a:r>
              <a:rPr lang="hu-HU" sz="1600" b="0" noProof="0" dirty="0">
                <a:solidFill>
                  <a:srgbClr val="404055"/>
                </a:solidFill>
                <a:latin typeface="Bahnschrift"/>
              </a:rPr>
              <a:t>Prof. Dr. </a:t>
            </a:r>
            <a:r>
              <a:rPr lang="en-US" sz="1600" b="0" noProof="0" dirty="0">
                <a:solidFill>
                  <a:srgbClr val="404055"/>
                </a:solidFill>
                <a:latin typeface="Bahnschrift"/>
              </a:rPr>
              <a:t>Péter Galambos</a:t>
            </a:r>
            <a:r>
              <a:rPr lang="hu-HU" sz="1600" b="0" noProof="0" dirty="0">
                <a:solidFill>
                  <a:srgbClr val="404055"/>
                </a:solidFill>
                <a:latin typeface="Bahnschrift"/>
              </a:rPr>
              <a:t>, Zoltán Szilágyi</a:t>
            </a:r>
            <a:endParaRPr lang="en-US" sz="1600" b="0" noProof="0" dirty="0">
              <a:solidFill>
                <a:srgbClr val="404055"/>
              </a:solidFill>
              <a:latin typeface="Bahnschrift"/>
            </a:endParaRPr>
          </a:p>
          <a:p>
            <a:pPr>
              <a:spcAft>
                <a:spcPts val="1000"/>
              </a:spcAft>
            </a:pPr>
            <a:r>
              <a:rPr lang="en-US" sz="1600" b="1" noProof="0" dirty="0">
                <a:solidFill>
                  <a:srgbClr val="2563EB"/>
                </a:solidFill>
                <a:latin typeface="Bahnschrift"/>
              </a:rPr>
              <a:t>Students &amp; teammates:  </a:t>
            </a:r>
            <a:endParaRPr lang="en-US" sz="1600" noProof="0" dirty="0">
              <a:solidFill>
                <a:srgbClr val="9A90B5"/>
              </a:solidFill>
              <a:latin typeface="Bahnschrift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Lecturers: Dr. Katalin Kovács, Dr. Boldizsár </a:t>
            </a:r>
            <a:r>
              <a:rPr lang="en-US" sz="1600" noProof="0" dirty="0" err="1">
                <a:solidFill>
                  <a:srgbClr val="9A90B5"/>
                </a:solidFill>
                <a:latin typeface="Bahnschrift"/>
              </a:rPr>
              <a:t>Tüű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-Szabó, Dr. Brigitta </a:t>
            </a:r>
            <a:r>
              <a:rPr lang="en-US" sz="1600" noProof="0" dirty="0" err="1">
                <a:solidFill>
                  <a:srgbClr val="9A90B5"/>
                </a:solidFill>
                <a:latin typeface="Bahnschrift"/>
              </a:rPr>
              <a:t>Szí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,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Contributors: Dr. László Környei, dr. Éva </a:t>
            </a:r>
            <a:r>
              <a:rPr lang="en-US" sz="1600" noProof="0" dirty="0" err="1">
                <a:solidFill>
                  <a:srgbClr val="9A90B5"/>
                </a:solidFill>
                <a:latin typeface="Bahnschrift"/>
              </a:rPr>
              <a:t>Rampasek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, </a:t>
            </a:r>
            <a:r>
              <a:rPr lang="hu-HU" sz="1600" noProof="0" dirty="0">
                <a:solidFill>
                  <a:srgbClr val="9A90B5"/>
                </a:solidFill>
                <a:latin typeface="Bahnschrift"/>
              </a:rPr>
              <a:t>Prof. Dr. János Tőzsér, Dr. Károly </a:t>
            </a:r>
            <a:r>
              <a:rPr lang="hu-HU" sz="1600" noProof="0" dirty="0" err="1">
                <a:solidFill>
                  <a:srgbClr val="9A90B5"/>
                </a:solidFill>
                <a:latin typeface="Bahnschrift"/>
              </a:rPr>
              <a:t>Tempfl</a:t>
            </a:r>
            <a:r>
              <a:rPr lang="hu-HU" sz="1600" noProof="0" dirty="0">
                <a:solidFill>
                  <a:srgbClr val="9A90B5"/>
                </a:solidFill>
                <a:latin typeface="Bahnschrift"/>
              </a:rPr>
              <a:t>, 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Dr. Dávid Törőcsik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External contributors: Dr. Károly Széll (</a:t>
            </a:r>
            <a:r>
              <a:rPr lang="en-US" sz="1600" noProof="0" dirty="0" err="1">
                <a:solidFill>
                  <a:srgbClr val="9A90B5"/>
                </a:solidFill>
                <a:latin typeface="Bahnschrift"/>
              </a:rPr>
              <a:t>Óbuda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 University), Zoltán Szilágyi (</a:t>
            </a:r>
            <a:r>
              <a:rPr lang="en-US" sz="1600" noProof="0" dirty="0" err="1">
                <a:solidFill>
                  <a:srgbClr val="9A90B5"/>
                </a:solidFill>
                <a:latin typeface="Bahnschrift"/>
              </a:rPr>
              <a:t>Óbuda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 University)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Doctoral students: Samy Borsos, Barnabás </a:t>
            </a:r>
            <a:r>
              <a:rPr lang="en-US" sz="1600" noProof="0" dirty="0" err="1">
                <a:solidFill>
                  <a:srgbClr val="9A90B5"/>
                </a:solidFill>
                <a:latin typeface="Bahnschrift"/>
              </a:rPr>
              <a:t>Kopcsándi</a:t>
            </a:r>
            <a:r>
              <a:rPr lang="en-US" sz="1600" noProof="0" dirty="0">
                <a:solidFill>
                  <a:srgbClr val="9A90B5"/>
                </a:solidFill>
                <a:latin typeface="Bahnschrift"/>
              </a:rPr>
              <a:t>, Márk Gaál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9A90B5"/>
                </a:solidFill>
                <a:latin typeface="Bahnschrift"/>
              </a:rPr>
              <a:t>Students: Kata Horváth, Attila Ötvös, Ádám </a:t>
            </a:r>
            <a:r>
              <a:rPr lang="en-US" sz="1600" b="0" noProof="0" dirty="0" err="1">
                <a:solidFill>
                  <a:srgbClr val="9A90B5"/>
                </a:solidFill>
                <a:latin typeface="Bahnschrift"/>
              </a:rPr>
              <a:t>Ragasits</a:t>
            </a:r>
            <a:r>
              <a:rPr lang="en-US" sz="1600" b="0" noProof="0" dirty="0">
                <a:solidFill>
                  <a:srgbClr val="9A90B5"/>
                </a:solidFill>
                <a:latin typeface="Bahnschrift"/>
              </a:rPr>
              <a:t>, Gyula Szakál, Gilgames Kiss</a:t>
            </a:r>
          </a:p>
          <a:p>
            <a:pPr>
              <a:spcAft>
                <a:spcPts val="1000"/>
              </a:spcAft>
            </a:pPr>
            <a:r>
              <a:rPr lang="en-US" sz="1800" b="1" noProof="0" dirty="0">
                <a:solidFill>
                  <a:srgbClr val="4B2E83"/>
                </a:solidFill>
                <a:latin typeface="Bahnschrift"/>
              </a:rPr>
              <a:t>Thank you.  </a:t>
            </a:r>
            <a:r>
              <a:rPr lang="en-US" sz="1800" b="1" noProof="0" dirty="0" err="1">
                <a:solidFill>
                  <a:srgbClr val="4B2E83"/>
                </a:solidFill>
                <a:latin typeface="Bahnschrift"/>
              </a:rPr>
              <a:t>ありがとうございました</a:t>
            </a:r>
            <a:r>
              <a:rPr lang="en-US" sz="1800" b="1" noProof="0" dirty="0">
                <a:solidFill>
                  <a:srgbClr val="4B2E83"/>
                </a:solidFill>
                <a:latin typeface="Bahnschrift"/>
              </a:rPr>
              <a:t>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28600"/>
            <a:ext cx="1554480" cy="1379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noProof="0" dirty="0" err="1">
                <a:solidFill>
                  <a:srgbClr val="9090A0"/>
                </a:solidFill>
                <a:latin typeface="Bahnschrift"/>
              </a:rPr>
              <a:t>HyMeKo</a:t>
            </a:r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 · PhD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noProof="0" dirty="0">
                <a:solidFill>
                  <a:srgbClr val="9090A0"/>
                </a:solidFill>
                <a:latin typeface="Bahnschrift"/>
              </a:rPr>
              <a:t>39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C791BF14-73F2-0EF4-81C8-B9DBF87C2BB6}"/>
              </a:ext>
            </a:extLst>
          </p:cNvPr>
          <p:cNvSpPr/>
          <p:nvPr/>
        </p:nvSpPr>
        <p:spPr>
          <a:xfrm>
            <a:off x="9125712" y="1607618"/>
            <a:ext cx="2898648" cy="46770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noProof="0" dirty="0">
                <a:latin typeface="Futura Lt BT" panose="020B0402020204020303" pitchFamily="34" charset="0"/>
              </a:rPr>
              <a:t>Main research themes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latin typeface="Futura Lt BT" panose="020B0402020204020303" pitchFamily="34" charset="0"/>
              </a:rPr>
              <a:t>Behavior analysis (human and animal motion):</a:t>
            </a:r>
            <a:r>
              <a:rPr lang="en-US" noProof="0" dirty="0">
                <a:latin typeface="Futura Lt BT" panose="020B0402020204020303" pitchFamily="34" charset="0"/>
              </a:rPr>
              <a:t> healthcare and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latin typeface="Futura Lt BT" panose="020B0402020204020303" pitchFamily="34" charset="0"/>
              </a:rPr>
              <a:t>Perception: </a:t>
            </a:r>
            <a:r>
              <a:rPr lang="en-US" noProof="0" dirty="0">
                <a:latin typeface="Futura Lt BT" panose="020B0402020204020303" pitchFamily="34" charset="0"/>
              </a:rPr>
              <a:t>computer vision tasks, transfer learning, pose detection &amp;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>
                <a:latin typeface="Futura Lt BT" panose="020B0402020204020303" pitchFamily="34" charset="0"/>
              </a:rPr>
              <a:t>Robotics: </a:t>
            </a:r>
            <a:r>
              <a:rPr lang="en-US" noProof="0" dirty="0">
                <a:latin typeface="Futura Lt BT" panose="020B0402020204020303" pitchFamily="34" charset="0"/>
              </a:rPr>
              <a:t>mobile manipulators, industrial robotics, HRI,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Futura Lt BT" panose="020B0402020204020303" pitchFamily="34" charset="0"/>
              </a:rPr>
              <a:t>Systems engineering and Information systems engineering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881C14C7-7761-D596-2372-345B3F30A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221" y="39334"/>
            <a:ext cx="2842139" cy="1423706"/>
          </a:xfrm>
          <a:prstGeom prst="rect">
            <a:avLst/>
          </a:prstGeom>
        </p:spPr>
      </p:pic>
      <p:pic>
        <p:nvPicPr>
          <p:cNvPr id="9" name="Kép 8" descr="Egyetem vezetése | Széchenyi Egyetem">
            <a:extLst>
              <a:ext uri="{FF2B5EF4-FFF2-40B4-BE49-F238E27FC236}">
                <a16:creationId xmlns:a16="http://schemas.microsoft.com/office/drawing/2014/main" id="{60645C5A-7550-E98E-7439-B5C6F2696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143" y="39333"/>
            <a:ext cx="4028657" cy="134234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1" descr="deco_hg.png">
            <a:extLst>
              <a:ext uri="{FF2B5EF4-FFF2-40B4-BE49-F238E27FC236}">
                <a16:creationId xmlns:a16="http://schemas.microsoft.com/office/drawing/2014/main" id="{CAAF3238-5AA3-BBE3-4CBF-4A71E9CD4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0" y="1733699"/>
            <a:ext cx="3566160" cy="316363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EB742E2-4DDD-C178-AAD0-88D682613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55" y="1293518"/>
            <a:ext cx="3699411" cy="37356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201A4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Conclusion &amp; outlook</a:t>
            </a:r>
            <a:endParaRPr lang="en-US" sz="320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1600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5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is one hypergraph substrate with two payoffs: a production-grade Rust framework for representing and transforming hypergraphs, and a family of structural-prior models that turn a graph's own cycles into an inductive bias.</a:t>
            </a:r>
            <a:endParaRPr lang="en-US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 directions</a:t>
            </a:r>
            <a:endParaRPr lang="en-US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960120" y="33832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σ-masked strict protocol that fixes the over-aggressive filter artifact</a:t>
            </a:r>
            <a:endParaRPr lang="en-US" sz="1350" noProof="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under-explored above-1.0 Ricci-modulation regime</a:t>
            </a:r>
            <a:endParaRPr lang="en-US" sz="1350" noProof="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Round-trip </a:t>
            </a:r>
            <a:r>
              <a:rPr lang="en-US" sz="13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codegen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: compile a .</a:t>
            </a:r>
            <a:r>
              <a:rPr lang="en-US" sz="13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architecture straight to a </a:t>
            </a:r>
            <a:r>
              <a:rPr lang="en-US" sz="1350" noProof="0" dirty="0" err="1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torch.nn</a:t>
            </a: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module</a:t>
            </a:r>
            <a:endParaRPr lang="en-US" sz="1350" noProof="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noProof="0" dirty="0">
                <a:solidFill>
                  <a:srgbClr val="201A4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Broader transform targets and larger signed-graph corpora</a:t>
            </a:r>
            <a:endParaRPr lang="en-US" sz="1350" noProof="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6D28D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 — questions welcome.    </a:t>
            </a:r>
            <a:r>
              <a:rPr lang="en-US" sz="12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Csaba Hajdu · Kato Laboratory seminar · June 2026</a:t>
            </a:r>
            <a:endParaRPr lang="en-US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 err="1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HyMeKo</a:t>
            </a: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PhD Seminar</a:t>
            </a:r>
            <a:endParaRPr lang="en-US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6B669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</a:t>
            </a:r>
            <a:endParaRPr lang="en-US" sz="900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i="1" noProof="0" dirty="0">
                <a:solidFill>
                  <a:srgbClr val="4B2E83"/>
                </a:solidFill>
                <a:latin typeface="Bahnschrift"/>
              </a:rPr>
              <a:t>I would be especially interested in discussing how this representation could connect to ongoing work in cognitive robotics and learning systems at Kato Laboratory.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63056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 noProof="0" dirty="0">
                <a:solidFill>
                  <a:srgbClr val="1B6CA8"/>
                </a:solidFill>
                <a:latin typeface="Bahnschrift"/>
              </a:rPr>
              <a:t>Code &amp; docs:  github.com/</a:t>
            </a:r>
            <a:r>
              <a:rPr lang="en-US" sz="1200" b="1" noProof="0" dirty="0" err="1">
                <a:solidFill>
                  <a:srgbClr val="1B6CA8"/>
                </a:solidFill>
                <a:latin typeface="Bahnschrift"/>
              </a:rPr>
              <a:t>kyberszittya</a:t>
            </a:r>
            <a:r>
              <a:rPr lang="en-US" sz="1200" b="1" noProof="0" dirty="0">
                <a:solidFill>
                  <a:srgbClr val="1B6CA8"/>
                </a:solidFill>
                <a:latin typeface="Bahnschrift"/>
              </a:rPr>
              <a:t>/</a:t>
            </a:r>
            <a:r>
              <a:rPr lang="en-US" sz="1200" b="1" noProof="0" dirty="0" err="1">
                <a:solidFill>
                  <a:srgbClr val="1B6CA8"/>
                </a:solidFill>
                <a:latin typeface="Bahnschrift"/>
              </a:rPr>
              <a:t>hymeko_framework_rust</a:t>
            </a:r>
            <a:endParaRPr lang="en-US" sz="1200" b="1" noProof="0" dirty="0">
              <a:solidFill>
                <a:srgbClr val="1B6CA8"/>
              </a:solidFill>
              <a:latin typeface="Bahnschrift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82880"/>
            <a:ext cx="1554480" cy="13790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6. egyéni séma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158FEB"/>
      </a:accent1>
      <a:accent2>
        <a:srgbClr val="28D080"/>
      </a:accent2>
      <a:accent3>
        <a:srgbClr val="02BED2"/>
      </a:accent3>
      <a:accent4>
        <a:srgbClr val="5B35FD"/>
      </a:accent4>
      <a:accent5>
        <a:srgbClr val="828288"/>
      </a:accent5>
      <a:accent6>
        <a:srgbClr val="8F26E6"/>
      </a:accent6>
      <a:hlink>
        <a:srgbClr val="005DBA"/>
      </a:hlink>
      <a:folHlink>
        <a:srgbClr val="6C60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5241</Words>
  <Application>Microsoft Office PowerPoint</Application>
  <PresentationFormat>Szélesvásznú</PresentationFormat>
  <Paragraphs>629</Paragraphs>
  <Slides>40</Slides>
  <Notes>26</Notes>
  <HiddenSlides>0</HiddenSlides>
  <MMClips>2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40</vt:i4>
      </vt:variant>
    </vt:vector>
  </HeadingPairs>
  <TitlesOfParts>
    <vt:vector size="48" baseType="lpstr">
      <vt:lpstr>Arial</vt:lpstr>
      <vt:lpstr>Bahnschrift</vt:lpstr>
      <vt:lpstr>Cambria Math</vt:lpstr>
      <vt:lpstr>Century Gothic</vt:lpstr>
      <vt:lpstr>Consolas</vt:lpstr>
      <vt:lpstr>Futura</vt:lpstr>
      <vt:lpstr>Futura Lt BT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Hajdu Csaba</cp:lastModifiedBy>
  <cp:revision>8</cp:revision>
  <dcterms:modified xsi:type="dcterms:W3CDTF">2026-06-17T07:30:48Z</dcterms:modified>
</cp:coreProperties>
</file>