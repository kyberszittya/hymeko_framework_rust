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91" r:id="rId3"/>
    <p:sldId id="290" r:id="rId4"/>
    <p:sldId id="257" r:id="rId5"/>
    <p:sldId id="28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96" r:id="rId17"/>
    <p:sldId id="268" r:id="rId18"/>
    <p:sldId id="269" r:id="rId19"/>
    <p:sldId id="270" r:id="rId20"/>
    <p:sldId id="271" r:id="rId21"/>
    <p:sldId id="272" r:id="rId22"/>
    <p:sldId id="285" r:id="rId23"/>
    <p:sldId id="273" r:id="rId24"/>
    <p:sldId id="286" r:id="rId25"/>
    <p:sldId id="274" r:id="rId26"/>
    <p:sldId id="275" r:id="rId27"/>
    <p:sldId id="276" r:id="rId28"/>
    <p:sldId id="284" r:id="rId29"/>
    <p:sldId id="277" r:id="rId30"/>
    <p:sldId id="281" r:id="rId31"/>
    <p:sldId id="288" r:id="rId32"/>
    <p:sldId id="279" r:id="rId33"/>
    <p:sldId id="293" r:id="rId34"/>
    <p:sldId id="294" r:id="rId35"/>
    <p:sldId id="295" r:id="rId36"/>
    <p:sldId id="292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1A40"/>
                </a:solidFill>
                <a:latin typeface="Bahnschrift"/>
              </a:defRPr>
            </a:pPr>
            <a:r>
              <a:rPr lang="hu-HU" sz="1200" b="0" i="0" u="none" strike="noStrike">
                <a:solidFill>
                  <a:srgbClr val="201A40"/>
                </a:solidFill>
                <a:latin typeface="Bahnschrift"/>
              </a:rPr>
              <a:t>Gömb-strict vs supervised baselines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Gömb-strict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0.89700000000000002</c:v>
                </c:pt>
                <c:pt idx="1">
                  <c:v>0.91500000000000004</c:v>
                </c:pt>
                <c:pt idx="2">
                  <c:v>0.90200000000000002</c:v>
                </c:pt>
                <c:pt idx="3">
                  <c:v>0.94299999999999995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2-4724-A24E-77121406FF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SGCN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0.92900000000000005</c:v>
                </c:pt>
                <c:pt idx="1">
                  <c:v>0.94199999999999995</c:v>
                </c:pt>
                <c:pt idx="2">
                  <c:v>0.91900000000000004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2-4724-A24E-77121406FF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SiGAT</c:v>
                </c:pt>
              </c:strCache>
            </c:strRef>
          </c:tx>
          <c:spPr>
            <a:solidFill>
              <a:srgbClr val="6FA0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0.90300000000000002</c:v>
                </c:pt>
                <c:pt idx="1">
                  <c:v>0.93200000000000005</c:v>
                </c:pt>
                <c:pt idx="2">
                  <c:v>0</c:v>
                </c:pt>
                <c:pt idx="3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D2-4724-A24E-77121406F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4D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1A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B5-439F-9C86-BA42540B8FBF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B5-439F-9C86-BA42540B8FBF}"/>
              </c:ext>
            </c:extLst>
          </c:dPt>
          <c:cat>
            <c:strRef>
              <c:f>Sheet1!$A$2:$A$3</c:f>
              <c:strCache>
                <c:ptCount val="2"/>
                <c:pt idx="0">
                  <c:v>optuna-best (lean, h=4)
30.5 ms</c:v>
                </c:pt>
                <c:pt idx="1">
                  <c:v>joint mix (h=16)
342 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342.3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B5-439F-9C86-BA42540B8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1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18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PhD SEMINAR · KATO LABORATORY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15544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HyMeKo</a:t>
            </a:r>
            <a:endParaRPr lang="en-US" sz="880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Hypergraph Model Cognition Framework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4008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From declarative hypergraph structure to structural-prior learning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" y="484632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systems · signed-graph learning · June 2026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900" dirty="0"/>
          </a:p>
        </p:txBody>
      </p:sp>
      <p:pic>
        <p:nvPicPr>
          <p:cNvPr id="33" name="Picture 32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3383280" cy="3001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Contributions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DSL + Rust compiler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hypergraph language with a SIMD-lexed, LALRPOP-parsed pipeline to a hashed hypergraph 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456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7488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4568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O(|E|·d) incidence path that streams hypergraphs into PyTorch with sub-100-µs, topology-gated updates.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9016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57616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761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0536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codegen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57616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query+template mechanism emits URDF, SDF, MJCF, DOT, ROS 2 launch and torch modules — no recompile.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 family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/ Gömb: cycle-pool priors with KAN activations at SOTA-range AUC and lean parameters.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15968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44568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4456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7488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Honest-protocol methodology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44568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leakage audits, 5-seed paired significance, and artifact-backed evidence discipline.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9016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57616" y="373075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57616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0536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unified substrate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57616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hypergraph IR underlies both the engineering and the learning — structure as a first-class prior.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01A40"/>
                </a:solidFill>
                <a:latin typeface="Futura"/>
              </a:rPr>
              <a:t>HyMeKo,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Hypergraph Model Cognition — one substrate for representing and learning from structured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201A40"/>
                </a:solidFill>
                <a:latin typeface="Bahnschrift"/>
              </a:rPr>
              <a:t>HyMeKo treats the hypergraph as a first-class object. A small declarative language describes a system's parts and the signed, hierarchical, many-to-many relations among them; one engine both renders that structure to many target formats and exposes it to models that learn from the graph's own cycles — so the structure the framework compiles is the structure the model reasons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3611880"/>
            <a:ext cx="2706624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Declarative DSL +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.hymeko → canonical hypergraph IR with Blake3 content-hash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0712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Cross-view codegen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one query + template engine → URDF · SDF · MJCF · SysML v2 · PyTorch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3611880"/>
            <a:ext cx="2706624" cy="9144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Zero-copy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O(|E|·d) star expansion streamed to PyTorch via Arrow / DLPack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26296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9176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1A40"/>
                </a:solidFill>
                <a:latin typeface="Bahnschrift"/>
              </a:rPr>
              <a:t>Structural-prior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690"/>
                </a:solidFill>
                <a:latin typeface="Bahnschrift"/>
              </a:rPr>
              <a:t>SignedKAN → HSiKAN → Gömb; cycles as a KAN inductive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Why hypergraphs?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 systems are n-ary, not pairwise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robot joint couples a parent and child link and an axis; a trust vote ties voter, target and sign; a chemical unit binds many reactants; a neural layer fuses many input tensors.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Forcing these relations into pairwise edges means clique projection — every k-ary relation becomes a fully-connected subgraph.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cost is twofold: the projected adjacency explodes as O(|E|·d²), and the identity of the relation itself is lost.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needs follow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230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represent and operate on hypergraphs faithfully    ·    learn from their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1887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pic>
        <p:nvPicPr>
          <p:cNvPr id="32" name="Picture 31" descr="motiv_5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517" y="1348740"/>
            <a:ext cx="363648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201A40"/>
                </a:solidFill>
                <a:latin typeface="Futura"/>
              </a:rPr>
              <a:t>Typical hypergraphs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690"/>
                </a:solidFill>
                <a:latin typeface="Bahnschrift"/>
              </a:rPr>
              <a:t>From the textbook to the engine — each is a .hymeko fixture in data/typical_graphs/, drawn here as hyperedge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7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36207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Fano plane (Steiner triple S(2,3,7))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8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fano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n0 n1 n2 n3 n4 n5 n6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@e0 (~n0,~n1,~n3);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@e1 (~n0,~n2,~n6);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@e2 (~n0,~n4,~n5);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@e3 (~n1,~n2,~n4);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@e4 (~n2,~n3,~n5);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@e5 (~n3,~n4,~n6);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@e6 (~n1,~n5,~n6);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Generic hypergraph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86215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generic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a b c d e f g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@e0 (~a,~b,~c);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@e1 (~c,~d,~f);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@e2 (~d,~e);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@e3 (~c,~g,~f);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Complete 3-uniform  K4(3)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k4_3uniform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v1 v2 v3 v4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@f123 (~v1,~v2,~v3);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@f124 (~v1,~v2,~v4);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@f134 (~v1,~v3,~v4);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@f234 (~v2,~v3,~v4);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1A40"/>
                </a:solidFill>
                <a:latin typeface="Bahnschrift"/>
              </a:rPr>
              <a:t>Sunflower (Δ-system)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86215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sunflower {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core_a core_b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p1a p1b p2a p2b p3a p3b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@petal1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~p1a,~p1b);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@petal2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~p2a,~p2b);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@petal3 (~core_a,~core_b,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           ~p3a,~p3b);</a:t>
            </a:r>
          </a:p>
          <a:p>
            <a:pPr algn="l">
              <a:lnSpc>
                <a:spcPct val="96000"/>
              </a:lnSpc>
            </a:pPr>
            <a:r>
              <a:rPr sz="850" b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4" y="2066543"/>
            <a:ext cx="1958491" cy="175564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0714"/>
            <a:ext cx="2002536" cy="158901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67" y="4645152"/>
            <a:ext cx="1705825" cy="1755648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817" y="4645152"/>
            <a:ext cx="183650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hyperedge and its signed incidence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star expansion is the bipartite Levi / Berge incidence — one hub per hyperedge, with signed + / − arcs to its member vertices</a:t>
            </a:r>
            <a:endParaRPr lang="en-US" sz="1450" dirty="0"/>
          </a:p>
        </p:txBody>
      </p:sp>
      <p:pic>
        <p:nvPicPr>
          <p:cNvPr id="4" name="Image 0" descr="levi_hyper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874520"/>
            <a:ext cx="7863840" cy="3858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87044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Left: the hypergraph (hyperedges e_a, e_b over vertices). Right: each hyperedge becomes a hub; + / − arcs encode the signed incidence — the O(|E|·d) star tensor the engine streams to PyTorch.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7038AE4-DCFE-CD42-378D-BA231B5E40C5}"/>
              </a:ext>
            </a:extLst>
          </p:cNvPr>
          <p:cNvSpPr/>
          <p:nvPr/>
        </p:nvSpPr>
        <p:spPr>
          <a:xfrm>
            <a:off x="8121178" y="367357"/>
            <a:ext cx="3801291" cy="67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Same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underlying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graph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,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different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views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!</a:t>
            </a:r>
            <a:endParaRPr lang="en-US" dirty="0">
              <a:latin typeface="Futura" panose="02020800000000000000" pitchFamily="18" charset="0"/>
              <a:ea typeface="Futura" panose="02020800000000000000" pitchFamily="18" charset="0"/>
              <a:cs typeface="Futura" panose="02020800000000000000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One substrate, two payoffs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thesis in a single picture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17036" y="169164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4F1FC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17036" y="1691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hypergraph substrate
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· one IR · structure as a first-class object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48556" y="2743200"/>
            <a:ext cx="0" cy="11430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40396" y="2743200"/>
            <a:ext cx="1645920" cy="1143000"/>
          </a:xfrm>
          <a:prstGeom prst="line">
            <a:avLst/>
          </a:prstGeom>
          <a:noFill/>
          <a:ln w="31750">
            <a:solidFill>
              <a:srgbClr val="0E9D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91440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Declarative DSL + Rust compiler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 → PyTorch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robotics codegen (URDF/SDF/MJCF/ROS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3931920"/>
            <a:ext cx="91440" cy="21031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 priors: cycles &amp; walks as tuples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/ Gömb architectures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SOTA-range signed-graph link prediction, lean params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HyMeKo describes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model of structured systems as signed, hierarchical hypergraphs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captures a system's parts and the n-ary, signed, hierarchical relations among them in one canonical hypergraph IR with content-hash identity — then renders that single description into many views.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2624328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990088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Robotic &amp; cyber-physical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links · joints · axes · signs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URDF · SDF · MJCF · Gazebo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5848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2697480"/>
            <a:ext cx="2624328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84448" y="2990088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57016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 engineering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57016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components · ports · flows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57016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SysML v2 · MBSE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8776" y="2697480"/>
            <a:ext cx="2624328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990088"/>
            <a:ext cx="310896" cy="31089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9944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relational graphs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9944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votes · balance · cycles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9944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link prediction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61704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1704" y="2697480"/>
            <a:ext cx="26243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90304" y="2990088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62872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Neural dataflow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62872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tensors · layers · signed hyperarcs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62872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torch module · NAS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25780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canonical hypergraph IR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 ·   Blake3 structural identity   ·   cross-view consistency across every emitted target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Goals at two levels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the language aims to do, and what the infrastructure underneath aims to deliver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language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MODELLING GOALS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declarative source of truth for n-ary, signed, hierarchical structure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Cross-view consistency — many targets, one IR, provably the same system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Canonical hashing for structural identity and equality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Bridge model-based systems engineering (SysML) with executable robotics &amp; 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8640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infrastructure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 GOALS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65392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High-performance Rust engine — SIMD lexer, ~15 crates, 500+ passing tests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Real-time zero-copy streaming to PyTorch — O(|E|·d) star, sub-100-µs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Multi-surface: PyO3 wheel · WebAssembly editor · MCP server · REST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Reproducibility: benchmark harness, paired-seed evidence, 16 GB memory budget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HyMeKo Framework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domain-specific language and a high-performance Rust engine for hypergraphs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0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declarative language for hypergraphs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Hyperedges are first-class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edges connect arbitrary numbers of nodes, not just pairs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Hierarchical paths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nodes nest; references resolve through dot-paths like Root.A.B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arc bindings</a:t>
            </a:r>
            <a:endParaRPr lang="en-US" sz="15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+/− mark the orientation of a relation (parent/child, in/out)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Tags = roles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&lt;link&gt;, &lt;input&gt;, &lt;dataflow&gt; classify a node's semantics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234440"/>
            <a:ext cx="5897880" cy="4434840"/>
          </a:xfrm>
          <a:prstGeom prst="roundRect">
            <a:avLst>
              <a:gd name="adj" fmla="val 1237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robot.hymeko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5257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{}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  : link  { mass 2.0;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arm    : link  { mass 0.6;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wheel  : link  { mass 0.3;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@shoulder : rev_joint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(+base, -arm);       // parent + / child -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axis [0, 0, 1];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@hub : conti_joint {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(+base, -wheel);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source text to a hypergraph IR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complete compiler pipeline, written in Rust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content-hash node identity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29768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628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Symbol interning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memory-efficient paths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9244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7824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/ clique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tensor expansions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00" dirty="0"/>
          </a:p>
        </p:txBody>
      </p:sp>
      <p:pic>
        <p:nvPicPr>
          <p:cNvPr id="36" name="Picture 3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045" y="1874519"/>
            <a:ext cx="86948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Star vs clique: the efficiency argument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50-node / 50-edge / 0.30-density hypergraph, two materialisations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91440" cy="10972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777240" y="1783080"/>
                <a:ext cx="49377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0E9D6E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STAR · incidence   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𝑂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(|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𝐸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|·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𝑑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783080"/>
                <a:ext cx="4937760" cy="365760"/>
              </a:xfrm>
              <a:prstGeom prst="rect">
                <a:avLst/>
              </a:prstGeom>
              <a:blipFill>
                <a:blip r:embed="rId3"/>
                <a:stretch>
                  <a:fillRect l="-2346" b="-1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77724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1,498 NNZ      </a:t>
            </a:r>
            <a:r>
              <a:rPr lang="en-US" sz="17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79.7 ms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9144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6583680" y="1783080"/>
                <a:ext cx="49377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2563EB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CLIQUE · projected adjacency   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𝑂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(|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𝐸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|·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𝑑</m:t>
                    </m:r>
                    <m:r>
                      <a:rPr lang="en-US" sz="1300" i="1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²)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783080"/>
                <a:ext cx="4937760" cy="365760"/>
              </a:xfrm>
              <a:prstGeom prst="rect">
                <a:avLst/>
              </a:prstGeom>
              <a:blipFill>
                <a:blip r:embed="rId4"/>
                <a:stretch>
                  <a:fillRect l="-2346" b="-1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658368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10,991 NNZ      </a:t>
            </a:r>
            <a:r>
              <a:rPr lang="en-US" sz="17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496 ms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expansion is what keeps hypergraph neural networks scalable.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00" dirty="0"/>
          </a:p>
        </p:txBody>
      </p:sp>
      <p:pic>
        <p:nvPicPr>
          <p:cNvPr id="21" name="Picture 20" descr="tensor_pan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950" y="2880360"/>
            <a:ext cx="6247051" cy="2926080"/>
          </a:xfrm>
          <a:prstGeom prst="rect">
            <a:avLst/>
          </a:prstGeom>
        </p:spPr>
      </p:pic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56719F5F-2448-2DEA-B75F-10D808F1F7BA}"/>
              </a:ext>
            </a:extLst>
          </p:cNvPr>
          <p:cNvSpPr/>
          <p:nvPr/>
        </p:nvSpPr>
        <p:spPr>
          <a:xfrm>
            <a:off x="401320" y="3863340"/>
            <a:ext cx="23876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Still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: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same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graph</a:t>
            </a:r>
            <a:endParaRPr lang="hu-HU" dirty="0">
              <a:latin typeface="Futura" panose="02020800000000000000" pitchFamily="18" charset="0"/>
              <a:ea typeface="Futura" panose="02020800000000000000" pitchFamily="18" charset="0"/>
              <a:cs typeface="Futura" panose="02020800000000000000" pitchFamily="18" charset="0"/>
            </a:endParaRP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24AA25C6-5824-8DB9-97FF-654A96CAF050}"/>
              </a:ext>
            </a:extLst>
          </p:cNvPr>
          <p:cNvSpPr/>
          <p:nvPr/>
        </p:nvSpPr>
        <p:spPr>
          <a:xfrm>
            <a:off x="9308593" y="3863340"/>
            <a:ext cx="2331720" cy="9144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Different tensor view</a:t>
            </a:r>
            <a:endParaRPr lang="en-US" dirty="0">
              <a:latin typeface="Futura" panose="02020800000000000000" pitchFamily="18" charset="0"/>
              <a:ea typeface="Futura" panose="02020800000000000000" pitchFamily="18" charset="0"/>
              <a:cs typeface="Futura" panose="02020800000000000000" pitchFamily="18" charset="0"/>
            </a:endParaRP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FC30C8A4-4C70-8CD8-EC1C-D9239ED5A523}"/>
              </a:ext>
            </a:extLst>
          </p:cNvPr>
          <p:cNvSpPr/>
          <p:nvPr/>
        </p:nvSpPr>
        <p:spPr>
          <a:xfrm>
            <a:off x="401320" y="5257800"/>
            <a:ext cx="2387600" cy="914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Star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expansion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keeps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structure</a:t>
            </a:r>
            <a:endParaRPr lang="en-US" dirty="0">
              <a:latin typeface="Futura" panose="02020800000000000000" pitchFamily="18" charset="0"/>
              <a:ea typeface="Futura" panose="02020800000000000000" pitchFamily="18" charset="0"/>
              <a:cs typeface="Futura" panose="02020800000000000000" pitchFamily="18" charset="0"/>
            </a:endParaRPr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BB6077D4-65FD-BBD1-F818-FABA95ED9CA1}"/>
              </a:ext>
            </a:extLst>
          </p:cNvPr>
          <p:cNvSpPr/>
          <p:nvPr/>
        </p:nvSpPr>
        <p:spPr>
          <a:xfrm>
            <a:off x="9280652" y="5257800"/>
            <a:ext cx="2387600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Clique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expansion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algebraic</a:t>
            </a:r>
            <a:r>
              <a:rPr lang="hu-HU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 </a:t>
            </a:r>
            <a:r>
              <a:rPr lang="hu-HU" dirty="0" err="1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analysis</a:t>
            </a:r>
            <a:endParaRPr lang="en-US" dirty="0">
              <a:latin typeface="Futura" panose="02020800000000000000" pitchFamily="18" charset="0"/>
              <a:ea typeface="Futura" panose="02020800000000000000" pitchFamily="18" charset="0"/>
              <a:cs typeface="Futura" panose="02020800000000000000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zero-copy bridge to the GPU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 plane and data plane are separated; topology changes and weight streams take different paths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82296" cy="1417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Rust core + daemon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topology hash · Iceoryx2 service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033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044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Shared memory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Apache Arrow record batches in /dev/shm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019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037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048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PyO3 + DLPack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 pointer · zero-copy handshake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023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04120" y="19202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04120" y="1920240"/>
            <a:ext cx="82296" cy="14173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05288" y="2084832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 GPU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11201400" cy="1783080"/>
          </a:xfrm>
          <a:prstGeom prst="roundRect">
            <a:avLst>
              <a:gd name="adj" fmla="val 4103"/>
            </a:avLst>
          </a:prstGeom>
          <a:solidFill>
            <a:srgbClr val="F4F1FC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topology-hash gate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hash changed → 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 update: re-emit Arrow mapping (k, i, j), subscriber re-maps memory.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hash same → 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 path: stream raw f32 weights only — no re-allocation, no serialization.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464040" y="4069080"/>
            <a:ext cx="2011680" cy="13716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64040" y="42245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 100 µs
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9E2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 injection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is modelled in SysML 2 — control-plane / data-plane, sequence, and state views.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Query-driven transforms: one graph, many targets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compiled hypergraph becomes any text output through a </a:t>
            </a: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 + template</a:t>
            </a: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pair.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Rust, no recompile — the engine stays domain-neutral.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486400" cy="3017520"/>
          </a:xfrm>
          <a:prstGeom prst="roundRect">
            <a:avLst>
              <a:gd name="adj" fmla="val 2121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queries.hymeko  +  template.urdf.xml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            link        {}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@revolute_joints: rev_joint   {}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{{#each revolute_joints}}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&lt;joint name="{{name}}" type="revolute"&gt;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&lt;parent link="{{bind:+:0}}"/&gt;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&lt;child  link="{{bind:-:0}}"/&gt;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&lt;/joint&gt;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{{/each}}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hymeko transform robot.hymeko -t urdf -o robot.urdf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IR, many targets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664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Pair-wise converters (N×M) collapse to a hub-and-spoke (N+M) around the canonical IR.</a:t>
            </a:r>
            <a:endParaRPr lang="en-US" sz="1150" dirty="0"/>
          </a:p>
        </p:txBody>
      </p:sp>
      <p:pic>
        <p:nvPicPr>
          <p:cNvPr id="12" name="Image 0" descr="pairwise_vs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31720"/>
            <a:ext cx="5285232" cy="18653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30352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i="1">
                <a:solidFill>
                  <a:srgbClr val="6B6690"/>
                </a:solidFill>
                <a:latin typeface="Bahnschrift"/>
              </a:rPr>
              <a:t>Cross-format invariant: one source → consistent outputs, one canonical hash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36" y="4498848"/>
            <a:ext cx="4213887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202035"/>
                </a:solidFill>
                <a:latin typeface="Futura"/>
              </a:rPr>
              <a:t>How compact is the DSL?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Bahnschrift"/>
              </a:rPr>
              <a:t>PART I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06070"/>
                </a:solidFill>
                <a:latin typeface="Bahnschrift"/>
              </a:rPr>
              <a:t>Same robot, full description — HyMeKo (one source) vs what each ecosystem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6B4F"/>
                </a:solidFill>
                <a:latin typeface="Bahnschrift"/>
              </a:rPr>
              <a:t>HyMeKo says the whole deployable system once — in one file, with reuse.</a:t>
            </a:r>
          </a:p>
          <a:p>
            <a:r>
              <a:rPr sz="1200" b="0">
                <a:solidFill>
                  <a:srgbClr val="505060"/>
                </a:solidFill>
                <a:latin typeface="Bahnschrift"/>
              </a:rPr>
              <a:t>The 6-DoF source carries mechanism + control interfaces + limits + sensors + Gazebo sim + a trajectory controller, with a single control definition reused across all six joints and one geometry per link (visual + collision). The ROS/Gazebo equivalent is a bundle — URDF + world SDF + launch + ros2_control YAML (~10 kB, ~4 hand-synced files).</a:t>
            </a:r>
          </a:p>
          <a:p>
            <a:r>
              <a:rPr sz="1200" b="0">
                <a:solidFill>
                  <a:srgbClr val="505060"/>
                </a:solidFill>
                <a:latin typeface="Bahnschrift"/>
              </a:rPr>
              <a:t>MuJoCo's MJCF can't express the ros2_control interfaces, controller or plugins at all; even approximating the interfaces takes 18 actuators + 12 sensors — one per joint per interface, no reuse.  (PhD defense, Thesis I.)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A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0A0"/>
                </a:solidFill>
                <a:latin typeface="Bahnschrift"/>
              </a:rPr>
              <a:t>16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011680"/>
            <a:ext cx="2788920" cy="2091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0" y="415823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06070"/>
                </a:solidFill>
                <a:latin typeface="Bahnschrift"/>
              </a:rPr>
              <a:t>The generated robot, simulated in MuJoCo — compiled from the same .hymeko source.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28800"/>
          <a:ext cx="8229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Kinematic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HyMeKo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URDF + ROS/Gazebo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MuJoCo (MJCF)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2-joint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6B4F"/>
                          </a:solidFill>
                          <a:latin typeface="Bahnschrift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SCARA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E6B4F"/>
                          </a:solidFill>
                          <a:latin typeface="Bahnschrift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02035"/>
                          </a:solidFill>
                          <a:latin typeface="Bahnschrift"/>
                        </a:rPr>
                        <a:t>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35"/>
                          </a:solidFill>
                          <a:latin typeface="Bahnschrift"/>
                        </a:rPr>
                        <a:t>6-DoF arm + control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6B4F"/>
                          </a:solidFill>
                          <a:latin typeface="Bahnschrift"/>
                        </a:rPr>
                        <a:t>6,134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0E6B4F"/>
                          </a:solidFill>
                          <a:latin typeface="Bahnschrift"/>
                        </a:rPr>
                        <a:t>(1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35"/>
                          </a:solidFill>
                          <a:latin typeface="Bahnschrift"/>
                        </a:rPr>
                        <a:t>≈10 k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202035"/>
                          </a:solidFill>
                          <a:latin typeface="Bahnschrift"/>
                        </a:rPr>
                        <a:t>(4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35"/>
                          </a:solidFill>
                          <a:latin typeface="Bahnschrift"/>
                        </a:rPr>
                        <a:t>can't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202035"/>
                          </a:solidFill>
                          <a:latin typeface="Bahnschrift"/>
                        </a:rPr>
                        <a:t>(mech.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Built like a system, not a script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Systems-engineering discipline is part of the contribution, not an afterthought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 2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2585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architecture view — use-case, sequence, state, layered — has a formal SysML 2 companion beside its Mermaid rendering.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Workspace of crates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CORE.YAML contract marks load-bearing modules read-only; any core change requires a written plan and migration path first.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Plan-first protocol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Non-trivial changes ship a four-format plan (LaTeX, PDF, TikZ, Mermaid) before code — an audit trail, not improvisation.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17</a:t>
            </a:r>
            <a:endParaRPr lang="en-US" sz="900"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304288"/>
            <a:ext cx="5074920" cy="103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73952" y="3376624"/>
            <a:ext cx="50292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i="1">
                <a:solidFill>
                  <a:srgbClr val="6B6690"/>
                </a:solidFill>
                <a:latin typeface="Bahnschrift"/>
              </a:rPr>
              <a:t>~25 hymeko_* crates · explicit dependency boundaries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Learning on Structure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When the graph's own cycles become the model's inductive prior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</a:t>
            </a:r>
            <a:endParaRPr lang="en-US" sz="90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structure to inductive prior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532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graphs</a:t>
            </a:r>
            <a:endParaRPr lang="en-US" sz="135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networks with +/− edges (Bitcoin, Slashdot, Epinions, Wikipedia votes).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signal</a:t>
            </a:r>
            <a:endParaRPr lang="en-US" sz="135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balance theory lives in cycles — the product of signs around a cycle predicts a missing edge's sign. Cycles and walks become tuples.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Kolmogorov–Arnold activations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 / HSiKAN replace ReLU with learnable Catmull–Rom basis activations over those tuples.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5844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Cycle-arity compass — the mechanism-family fingerprint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substrate expresses the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HSiKAN's architecture and training loop are written in .hymeko — layers are nodes, the dataflow is signed hyperarcs: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2606040"/>
            <a:ext cx="5029200" cy="1828800"/>
          </a:xfrm>
          <a:prstGeom prst="roundRect">
            <a:avLst>
              <a:gd name="adj" fmla="val 2500"/>
            </a:avLst>
          </a:prstGeom>
          <a:solidFill>
            <a:srgbClr val="241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7432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sk_k3 : signedkan_layer { arity 3;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sk_k4 : signedkan_layer { arity 4;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mixer : arity_mixer { mix_K 2;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@flow_k3  (+t_in, ~sk_k3, -t_emb_k3);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@flow_mix (+t_emb_k3, +t_emb_k4,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~mixer, -t_emb);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9224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search even becomes a P-graph feasibility problem on the same IR.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</a:t>
            </a:r>
            <a:endParaRPr lang="en-US" sz="900" dirty="0"/>
          </a:p>
        </p:txBody>
      </p:sp>
      <p:pic>
        <p:nvPicPr>
          <p:cNvPr id="16" name="Picture 15" descr="kcycl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56692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model family: SignedKAN → HSiKAN → Gömb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layers of the same idea — learnable spline activations driven by graph structure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118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SignedKAN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9808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BASE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Kolmogorov–Arnold layer for signed graphs: learnable Catmull–Rom spline activations replace fixed ReLU, applied to signed edge / cycle features.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KAN activations on signed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33088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6118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0288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HSiKAN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08576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 SIGNED-GRAPH KAN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08576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Lifts SignedKAN to hyperedges and mixed arity: per-arity layers (k = 3, 4, …) over cycle &amp; walk tuples, fused by an arity mixer; per-edge CR recipe.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08576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27448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hyperedges · mixed arity · per-edge CR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1856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0456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0456" y="1783080"/>
            <a:ext cx="36118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49056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467344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STRICT CASCADE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deployable configuration: FIR → HSiKAN-CR → CPML, with the cycle pool enumerated over training edges only — SOTA-range, lean, leakage-free.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67344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862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+ 3-shell cascade · strict cycle pool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step strictly contains the previous one and adds structure — never a different code path bolted on.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Gömb: a strict structural-prior cascade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three-shell cascade in which the cycle pool is enumerated over training edges only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39112" y="214884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391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Finite-impulse signed filter over the edge neighbourhood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25312" y="2148840"/>
            <a:ext cx="585216" cy="58521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253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HSiKAN-CR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Hyper-signed KAN with per-edge Catmull–Rom activations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11512" y="2148840"/>
            <a:ext cx="585216" cy="5852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115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CPML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410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Cycle-pool message layer — the strict structural read-out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8686800" cy="1508760"/>
          </a:xfrm>
          <a:prstGeom prst="roundRect">
            <a:avLst>
              <a:gd name="adj" fmla="val 4848"/>
            </a:avLst>
          </a:prstGeom>
          <a:solidFill>
            <a:srgbClr val="E6F6EF"/>
          </a:solidFill>
          <a:ln w="12700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297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Strict by construction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Because the cycle pool never sees a test-edge sign, Gömb has </a:t>
            </a:r>
            <a:r>
              <a:rPr lang="en-US" sz="135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transductive σ-leakage</a:t>
            </a: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 A label-shuffle test collapses it to chance (0.540 AUC) — proof the architecture is a structural predictor, not a leak.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endParaRPr lang="en-US" sz="900" dirty="0"/>
          </a:p>
        </p:txBody>
      </p:sp>
      <p:pic>
        <p:nvPicPr>
          <p:cNvPr id="28" name="Picture 27" descr="gomb_sphe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11480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201A40"/>
                </a:solidFill>
                <a:latin typeface="Futura"/>
              </a:rPr>
              <a:t>What is k-enumeration? Why HSiKAN needs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Enumerating the closed cycles (and short walks) of each arity k that become the model's structural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E9D6E"/>
                </a:solidFill>
                <a:latin typeface="Bahnschrift"/>
              </a:rPr>
              <a:t>Tuples:  </a:t>
            </a:r>
            <a:r>
              <a:rPr sz="1300" b="0" i="0">
                <a:solidFill>
                  <a:srgbClr val="201A40"/>
                </a:solidFill>
                <a:latin typeface="Bahnschrift"/>
              </a:rPr>
              <a:t>cycles c3 · c4 · c5  and short walks w2 · w3 — one SignedKAN layer per arity, fused by the arity mixer.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82296" cy="324612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What it enumerates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k-enumeration finds the closed cycles of length k in the signed graph — the k-ary tuples c3, c4, c5 (plus short walks w2, w3). Each tuple is a candidate structural feature carrying a sign-product.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2331720"/>
            <a:ext cx="82296" cy="3246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Why HSiKAN needs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HSiKAN builds its prediction from these tuples: a SignedKAN layer per arity, fused by the arity mixer. With no enumerated cycles there are no structural features and the network collapses to a blind MLP. Balance theory lives in cycles — a missing edge's sign is read from the σ-products of the cycles that would close through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3317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2331720"/>
            <a:ext cx="82296" cy="3246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How it is bounded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Enumeration is the combinatorial bottleneck. HSiKAN caps it: per-vertex top-k by a scorer (e.g. fraction-negative) and per-arity caps (max_k). Strict mode enumerates over training edges only — which is also what prevents the leakage on the previous slide.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Inside HSiKAN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middle shell — learnable spline activations over signed cycle &amp; walk tuples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82296" cy="1965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Catmull–Rom activation</a:t>
            </a:r>
            <a:endParaRPr lang="en-US" sz="1400" dirty="0"/>
          </a:p>
        </p:txBody>
      </p:sp>
      <p:pic>
        <p:nvPicPr>
          <p:cNvPr id="33" name="Image 0" descr="catmull_r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9664"/>
            <a:ext cx="3310128" cy="1371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262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262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640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Mixed arity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47640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Independent layers for k = 3 and k = 4 over cycle &amp; walk tuples, fused by an arity mixer.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1838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1838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4216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84216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Multi-head; hidden / 4 independent quaternions per head; scores anchor, consecutive and pair signs along each cycle.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23</a:t>
            </a:r>
            <a:endParaRPr lang="en-US" sz="900" dirty="0"/>
          </a:p>
        </p:txBody>
      </p:sp>
      <p:pic>
        <p:nvPicPr>
          <p:cNvPr id="44" name="Picture 43" descr="hsik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56" y="1755648"/>
            <a:ext cx="4227438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201A40"/>
                </a:solidFill>
                <a:latin typeface="Futura"/>
              </a:rPr>
              <a:t>HSiKAN, learned: αₖ regime and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Real output of the link-prediction inference demo on the trained Bitcoin-OTC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82296" cy="416052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Learned αₖ — per-arity weight</a:t>
            </a:r>
          </a:p>
        </p:txBody>
      </p:sp>
      <p:pic>
        <p:nvPicPr>
          <p:cNvPr id="9" name="Picture 8" descr="alpha_k_bitcoin_o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4937760" cy="32499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2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645920"/>
            <a:ext cx="82296" cy="4160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ROC — AUROC 0.9957</a:t>
            </a:r>
          </a:p>
        </p:txBody>
      </p:sp>
      <p:pic>
        <p:nvPicPr>
          <p:cNvPr id="13" name="Picture 12" descr="ROC_bitcoin_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240280"/>
            <a:ext cx="3301479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6690"/>
                </a:solidFill>
                <a:latin typeface="Bahnschrift"/>
              </a:rPr>
              <a:t>The αₖ compass concentrates on c2 / w3; AUROC 0.9957 is the standard transductive convention (optuna_best) — the strict-protocol baseline is on the results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Clifford-FIR and quaternion machinery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Geometric algebra under the cascade — and a visual-cortex analogy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263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filter banks · outer shell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 parallel Clifford-FIR banks. The cycle arity sets the FIR filter length; each bank's Clifford coefficients are staggered at initialisation. Built on the hymeko_clifford autograd backend — multivectors, blade products, a (p, q) metric signature.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62636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2296" cy="17830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457200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sign structure along a cycle is scored with Hamilton-product (quaternion) attention; a multi-head variant runs hidden / 4 independent quaternions per head, and carries the highway gate on the Bitcoin-OTC configuration.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shells ≈ a visual-cortex stack</a:t>
            </a:r>
            <a:endParaRPr lang="en-US" sz="1400" dirty="0"/>
          </a:p>
        </p:txBody>
      </p:sp>
      <p:pic>
        <p:nvPicPr>
          <p:cNvPr id="15" name="Image 0" descr="gomb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48840"/>
            <a:ext cx="4846320" cy="29352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1755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(V1) → HSiKAN-CR (V4) → CPML (IT), wrapped by cognitive information routing.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Signed-graph link prediction results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Held-out test ROC–AUC, mean over 5 seeds · Gömb-strict (honest protocol)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4008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Model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α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OTC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Slashdot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Epinions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Gömb-strict (ours)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0.897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0.915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 + fine-tune (ours)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0.953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SGCN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0.929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0.919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SiGAT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0.903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0.932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~0.95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MLP (blind)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0.892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0.908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0.888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more SNAP signed graphs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4956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wiki_elec  0.911 ± 0.001   ·   wikisigned  0.894 ± 0.002   — same config, no re-tuning.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5440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Under the field's standard transductive convention, the tuned optuna_best lifts Bitcoin to 0.996 / 0.993.</a:t>
            </a:r>
            <a:endParaRPr lang="en-US" sz="11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178040" y="1691640"/>
          <a:ext cx="4572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SOTA range — at a fraction of the cost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prior does the heavy lifting, so the network can stay small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26974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30,487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α optuna_best — about ½ the joint baseline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288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47288" y="1664208"/>
            <a:ext cx="26974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11</a:t>
            </a:r>
            <a:r>
              <a:rPr lang="hu-HU" sz="3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84448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faster forward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168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OTC lean model vs the h=16 joint mix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91656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91656" y="1664208"/>
            <a:ext cx="26974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8816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¼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528816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parameters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7453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OTC at 23,815 params, yet higher AUC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36024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36024" y="1664208"/>
            <a:ext cx="2697480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73184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 seeds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473184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number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1890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paired-Δ significance before any paper promotion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Forward latency · Bitcoin OTC (lower is better)</a:t>
            </a:r>
            <a:endParaRPr lang="en-US" sz="13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" y="4069080"/>
          <a:ext cx="55778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263640" y="3822192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37960" y="3986784"/>
            <a:ext cx="4983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30.5 ms vs 342 ms
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lean model runs ~11× faster at forward than the h=16 joint mix, at ¼ the parameters and equal-or-better AUC. Inference cost scales with the structural prior, not with network width.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27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66"/>
                </a:solidFill>
                <a:latin typeface="Bahnschrift"/>
              </a:rPr>
              <a:t>Compute: large-scale multi-seed runs use the Komondor supercomputer (KIFÜ, NVIDIA A100); the lean models above also fit a single 8 GB GPU.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201A40"/>
                </a:solidFill>
                <a:latin typeface="Futura"/>
              </a:rPr>
              <a:t>What is leakage? Why it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1">
                <a:solidFill>
                  <a:srgbClr val="6B6690"/>
                </a:solidFill>
                <a:latin typeface="Bahnschrift"/>
              </a:rPr>
              <a:t>Test-set information slipping into training — and why a benchmark can't be trusted until it's ruled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2296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Leakage is when a model gains access — directly or indirectly — to information about the held-out test labels while it trains. The reported score then measures memorisation of that leaked signal, not genuine generalisation to unseen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82296" cy="24688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201A40"/>
                </a:solidFill>
                <a:latin typeface="Bahnschrift"/>
              </a:rPr>
              <a:t>In signed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6B6690"/>
                </a:solidFill>
                <a:latin typeface="Bahnschrift"/>
              </a:rPr>
              <a:t>Under the transductive convention a cycle's sign-product σ can include the sign of a test edge. A cycle feature then silently carries the very label being predicted — leakage through structure, not through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645152"/>
            <a:ext cx="10652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9D6E"/>
                </a:solidFill>
                <a:latin typeface="Bahnschrift"/>
              </a:rPr>
              <a:t>Why it matters.  </a:t>
            </a:r>
            <a:r>
              <a:rPr sz="1300" b="0" i="0">
                <a:solidFill>
                  <a:srgbClr val="201A40"/>
                </a:solidFill>
                <a:latin typeface="Bahnschrift"/>
              </a:rPr>
              <a:t>Inflated, non-reproducible numbers; a model that looks state-of-the-art but fails on truly unseen edges; unfair comparison between methods; lost trust. Detecting leakage (label-shuffle → AUROC ≈ 0.5) and removing it (a train-only cycle pool) is exactly what makes a result honest.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Honesty as a protocol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Strong numbers are only worth as much as the discipline that audits them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diagnostic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Shuffle training signs: a true structural predictor collapses to chance. Gömb → 0.540 (clean); leaky variants stay near 0.99 — the test that separates prior from leakage.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Leakage audit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3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external audit found σ-leakage in early HSiKAN tuned numbers. The strict cycle-pool variant became the honest architectural baseline reported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Bug-vs-honest correction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8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detection-metric bug had inflated a vision mAP to 0.723 ± 0.180; the corrected COCO matching gives 0.504 ± 0.039 — published as the honest reference.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3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 discipline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73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result row maps to an on-disk artifact path; an in-flight claim must cite a growing log file. No number floats free of its file.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How we know it isn't leakage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label-shuffle test — and what transductive σ-leakage looks like</a:t>
            </a:r>
            <a:endParaRPr lang="en-US" sz="1450" dirty="0"/>
          </a:p>
        </p:txBody>
      </p:sp>
      <p:pic>
        <p:nvPicPr>
          <p:cNvPr id="6" name="Image 0" descr="leakage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0515600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773168"/>
            <a:ext cx="10652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metric.  </a:t>
            </a:r>
            <a:r>
              <a:rPr lang="en-US" sz="13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Re-train with the training-edge signs randomly permuted. A model using only legitimate structure must fall to chance (AUROC ≈ 0.5); one that secretly reads test-edge signs — through the σ-products of cycles that pass through a test edge — stays high.  </a:t>
            </a:r>
            <a:r>
              <a:rPr lang="en-US" sz="1300" b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 collapses to 0.540</a:t>
            </a:r>
            <a:r>
              <a:rPr lang="en-US" sz="130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(strict by construction); early tuned HSiKAN stayed near 0.99, exposing σ-leakage — so the strict cycle pool, enumerated over training edges only, is the honest baseline.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01A40"/>
                </a:solidFill>
                <a:latin typeface="Futura"/>
              </a:rPr>
              <a:t>HyMeYOLO: detections on Cluttered MNIST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4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6B6690"/>
                </a:solidFill>
                <a:latin typeface="Bahnschrift"/>
              </a:rPr>
              <a:t>Input with ground-truth boxes (cyan) vs the + ricci-mod detector's predictions (red / orange, score ≥ 0.30)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6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nel_00_se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645920"/>
            <a:ext cx="411480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8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nel_01_se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645920"/>
            <a:ext cx="411480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696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anel_03_see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6" y="3959352"/>
            <a:ext cx="411480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8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anel_05_see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959352"/>
            <a:ext cx="41148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B6690"/>
                </a:solidFill>
                <a:latin typeface="Bahnschrift"/>
              </a:rPr>
              <a:t>Single-scale detector, honest mAP_50 ≈ 0.90 (Stage-B HSiKAN-CR). The HSiKAN-CR activation localises digits in clutter at parity with a ReLU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690"/>
                </a:solidFill>
                <a:latin typeface="Bahnschrift"/>
              </a:rPr>
              <a:t>HyMeKo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6690"/>
                </a:solidFill>
                <a:latin typeface="Bahnschrif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bridge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Framework and science are one idea seen at two altitudes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.hymeko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 · trust graph · neural dataflow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4728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016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4845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IR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4845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identity · star expansion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2764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052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2881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Sparse incidence tensor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81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O(|E|·d), zero-copy to PyTorch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026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0800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9088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0917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0917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cycles &amp; walks → KAN activations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611880"/>
            <a:ext cx="6446520" cy="2194560"/>
          </a:xfrm>
          <a:prstGeom prst="roundRect">
            <a:avLst>
              <a:gd name="adj" fmla="val 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describes the robot and the network that reasons about it.
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hypergraph that the framework compiles is the same hypergraph whose cycles the model learns from — and the same kinematic structure HSiKAN predicts from graph topology alone.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94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Live demo · HSiKAN graph-only kinematics vs MuJoCo (~5 cm L2)</a:t>
            </a:r>
            <a:endParaRPr lang="en-US" sz="1050" dirty="0"/>
          </a:p>
        </p:txBody>
      </p:sp>
      <p:pic>
        <p:nvPicPr>
          <p:cNvPr id="26" name="Image 0" descr="mujoco_st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pic>
        <p:nvPicPr>
          <p:cNvPr id="27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B2E83"/>
                </a:solidFill>
                <a:latin typeface="Century Gothic"/>
              </a:rPr>
              <a:t>Publications &amp; submissions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097280"/>
            <a:ext cx="3291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B6CA8"/>
                </a:solidFill>
                <a:latin typeface="Bahnschrift"/>
              </a:rPr>
              <a:t>[submitted] HyMeKo: Canonical-Hypergraph Infrastructure for CPS engineering — IEEE SMC 2026 (conf)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B6CA8"/>
                </a:solidFill>
                <a:latin typeface="Bahnschrift"/>
              </a:rPr>
              <a:t>[submitted] HSiKAN: Mixed-Arity Signed Kolmogorov–Arnold Networks — IEEE SMC 2026 (WIP)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97A16"/>
                </a:solidFill>
                <a:latin typeface="Bahnschrift"/>
              </a:rPr>
              <a:t>[in prep] AC-HSiKAN: signed-link prediction — Elsevier journal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B6CA8"/>
                </a:solidFill>
                <a:latin typeface="Bahnschrift"/>
              </a:rPr>
              <a:t>[submitted] Cycles vs. Walks: two inductive biases in Signed KAN — IEEE SISY 2026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97A16"/>
                </a:solidFill>
                <a:latin typeface="Bahnschrift"/>
              </a:rPr>
              <a:t>[in prep] HyMeKo (journal extension, independent of SMC conf) — IEEE T-SMC: Systems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97A16"/>
                </a:solidFill>
                <a:latin typeface="Bahnschrift"/>
              </a:rPr>
              <a:t>[in prep] Spectral-entropy regularization, Lyapunov schedule — IEEE T-SMC: Cybernetics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C97A16"/>
                </a:solidFill>
                <a:latin typeface="Bahnschrift"/>
              </a:rPr>
              <a:t>★ [in prep] Signed-hypergraph structural priors for relational learning — IEEE TPAMI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97A16"/>
                </a:solidFill>
                <a:latin typeface="Bahnschrift"/>
              </a:rPr>
              <a:t>[in prep] HSiKAN + honest σ-masked protocol for signed-graph link prediction — Nature Communications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97A16"/>
                </a:solidFill>
                <a:latin typeface="Bahnschrift"/>
              </a:rPr>
              <a:t>[in prep] GPU-kernels journal extension (independent) — IEEE T-SMC: Systems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B6CA8"/>
                </a:solidFill>
                <a:latin typeface="Bahnschrift"/>
              </a:rPr>
              <a:t>[submitted] HyMeKo live demo (built) — MDPI Technologies</a:t>
            </a:r>
          </a:p>
        </p:txBody>
      </p:sp>
      <p:pic>
        <p:nvPicPr>
          <p:cNvPr id="5" name="Picture 4" descr="pub_ne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28700"/>
            <a:ext cx="8046720" cy="4993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05332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B2E83"/>
                </a:solidFill>
                <a:latin typeface="Bahnschrift"/>
              </a:rPr>
              <a:t>Co-authors: László Környei · Katalin Kovács · Ádám Csapó · and others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2900"/>
            <a:ext cx="1072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B2E83"/>
                </a:solidFill>
                <a:latin typeface="Century Gothic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σ-masked strict protocol — finish the sign-aware leakage audit + 5-seed grid; lock the honest operating point.</a:t>
            </a:r>
          </a:p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Round-trip .hymeko → torch.nn — structural parity holds; next: runnable round-trip + faithful Soma vision (Hodge/stim/patch).</a:t>
            </a:r>
          </a:p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Broader transform targets — task emitters (BehaviorTree.CPP / PDDL / ROS 2 actions) for the .hymeko task layer.</a:t>
            </a:r>
          </a:p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Larger-scale corpora — bigger signed-graph &amp; vision datasets under the 16 GB RSS discipline.</a:t>
            </a:r>
          </a:p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HSMM → FPGA — Nagare dataflow → HSMM abstract machine → Zynq (theory → systems → compiler).</a:t>
            </a:r>
          </a:p>
          <a:p>
            <a:pPr>
              <a:spcAft>
                <a:spcPts val="600"/>
              </a:spcAft>
            </a:pPr>
            <a:r>
              <a:rPr sz="1700">
                <a:latin typeface="Bahnschrift"/>
              </a:rPr>
              <a:t>•  Authoring surface — in-browser editor: multi-file imports &amp; profiles, parametric generators, arc-value editing.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92040"/>
            <a:ext cx="2510028" cy="969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B2E83"/>
                </a:solidFill>
                <a:latin typeface="Bahnschrift"/>
              </a:rPr>
              <a:t>broader transform targets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8" y="4892040"/>
            <a:ext cx="2510028" cy="633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0148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B2E83"/>
                </a:solidFill>
                <a:latin typeface="Bahnschrift"/>
              </a:rPr>
              <a:t>runnable .hymeko → torch.nn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43" y="4892040"/>
            <a:ext cx="1730692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8776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B2E83"/>
                </a:solidFill>
                <a:latin typeface="Bahnschrift"/>
              </a:rPr>
              <a:t>faithful Soma vision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424" y="4892040"/>
            <a:ext cx="1099987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47404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B2E83"/>
                </a:solidFill>
                <a:latin typeface="Bahnschrift"/>
              </a:rPr>
              <a:t>parametric generators / authoring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2900"/>
            <a:ext cx="1072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B2E83"/>
                </a:solidFill>
                <a:latin typeface="Century Gothic"/>
              </a:rPr>
              <a:t>Minimum demo &amp;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629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latin typeface="Bahnschrift"/>
              </a:rPr>
              <a:t>•  Minimum working demo: .hymeko → IR → star expansion → PyTorch / URDF; plus a HSiKAN graph-only kinematics demo.</a:t>
            </a:r>
          </a:p>
          <a:p>
            <a:pPr>
              <a:spcAft>
                <a:spcPts val="600"/>
              </a:spcAft>
            </a:pPr>
            <a:r>
              <a:rPr sz="1600">
                <a:latin typeface="Bahnschrift"/>
              </a:rPr>
              <a:t>•  One source, many targets: URDF / SDF / MJCF / SysML / PyTorch from a single IR.</a:t>
            </a:r>
          </a:p>
          <a:p>
            <a:pPr>
              <a:spcAft>
                <a:spcPts val="600"/>
              </a:spcAft>
            </a:pPr>
            <a:r>
              <a:rPr sz="1600">
                <a:latin typeface="Bahnschrift"/>
              </a:rPr>
              <a:t>•  Efficiency anchor: star vs clique = 1,498 vs 10,991 NNZ; 79.7 ms vs 496 ms.</a:t>
            </a:r>
          </a:p>
          <a:p>
            <a:pPr>
              <a:spcAft>
                <a:spcPts val="600"/>
              </a:spcAft>
            </a:pPr>
            <a:r>
              <a:rPr sz="1600">
                <a:latin typeface="Bahnschrift"/>
              </a:rPr>
              <a:t>•  Collaboration: robot-structure learning — encode morphology + task in HyMeKo; test whether structural priors improve sample efficiency / generalization in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3800" y="187451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B2E83"/>
                </a:solidFill>
                <a:latin typeface="Bahnschrift"/>
              </a:rPr>
              <a:t>Live demo · HSiKAN graph-only kinematics vs MuJoCo</a:t>
            </a:r>
          </a:p>
        </p:txBody>
      </p:sp>
      <p:pic>
        <p:nvPicPr>
          <p:cNvPr id="5" name="mjc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26679" y="2514600"/>
            <a:ext cx="3931920" cy="2948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Conclusion &amp; outlook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is one hypergraph substrate with two payoffs: a production-grade Rust framework for representing and transforming hypergraphs, and a family of structural-prior models that turn a graph's own cycles into an inductive bias.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 directions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σ-masked strict protocol that fixes the over-aggressive filter artifact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under-explored above-1.0 Ricci-modulation regime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Round-trip codegen: compile a .hymeko architecture straight to a torch.nn module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Broader transform targets and larger signed-graph corpora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 — questions welcome.    </a:t>
            </a:r>
            <a:r>
              <a:rPr lang="en-US" sz="12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 · Kato Laboratory seminar · June 2026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 · PhD Seminar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</a:t>
            </a:r>
            <a:endParaRPr lang="en-US" sz="900" dirty="0"/>
          </a:p>
        </p:txBody>
      </p:sp>
      <p:pic>
        <p:nvPicPr>
          <p:cNvPr id="26" name="Picture 21" descr="deco_hg.png">
            <a:extLst>
              <a:ext uri="{FF2B5EF4-FFF2-40B4-BE49-F238E27FC236}">
                <a16:creationId xmlns:a16="http://schemas.microsoft.com/office/drawing/2014/main" id="{CAAF3238-5AA3-BBE3-4CBF-4A71E9CD4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50292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4B2E83"/>
                </a:solidFill>
                <a:latin typeface="Bahnschrift"/>
              </a:rPr>
              <a:t>I would be especially interested in discussing how this representation could connect to ongoing work in cognitive robotics and learning systems at Kato Laboratory.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63056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6CA8"/>
                </a:solidFill>
                <a:latin typeface="Bahnschrift"/>
              </a:rPr>
              <a:t>Code &amp; docs:  github.com/kyberszittya/hymeko_framework_rust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82880"/>
            <a:ext cx="1554480" cy="13790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6. egyéni séma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158FEB"/>
      </a:accent1>
      <a:accent2>
        <a:srgbClr val="28D080"/>
      </a:accent2>
      <a:accent3>
        <a:srgbClr val="02BED2"/>
      </a:accent3>
      <a:accent4>
        <a:srgbClr val="5B35FD"/>
      </a:accent4>
      <a:accent5>
        <a:srgbClr val="828288"/>
      </a:accent5>
      <a:accent6>
        <a:srgbClr val="8F26E6"/>
      </a:accent6>
      <a:hlink>
        <a:srgbClr val="005DBA"/>
      </a:hlink>
      <a:folHlink>
        <a:srgbClr val="6C60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4568</Words>
  <Application>Microsoft Office PowerPoint</Application>
  <PresentationFormat>Szélesvásznú</PresentationFormat>
  <Paragraphs>565</Paragraphs>
  <Slides>36</Slides>
  <Notes>26</Notes>
  <HiddenSlides>0</HiddenSlides>
  <MMClips>2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36</vt:i4>
      </vt:variant>
    </vt:vector>
  </HeadingPairs>
  <TitlesOfParts>
    <vt:vector size="43" baseType="lpstr">
      <vt:lpstr>Arial</vt:lpstr>
      <vt:lpstr>Bahnschrift</vt:lpstr>
      <vt:lpstr>Cambria Math</vt:lpstr>
      <vt:lpstr>Century Gothic</vt:lpstr>
      <vt:lpstr>Consolas</vt:lpstr>
      <vt:lpstr>Futura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HyMeKo — A Hypergraph Model Cognition Framework</dc:title>
  <dc:subject>PptxGenJS Presentation</dc:subject>
  <dc:creator>Csaba Hajdu</dc:creator>
  <cp:lastModifiedBy>Hajdu Csaba</cp:lastModifiedBy>
  <cp:revision>5</cp:revision>
  <dcterms:created xsi:type="dcterms:W3CDTF">2026-06-09T17:50:31Z</dcterms:created>
  <dcterms:modified xsi:type="dcterms:W3CDTF">2026-06-16T03:06:38Z</dcterms:modified>
</cp:coreProperties>
</file>