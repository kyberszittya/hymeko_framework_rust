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4.xml" ContentType="application/vnd.openxmlformats-officedocument.drawingml.chart+xml"/>
  <Override PartName="/ppt/notesSlides/notesSlide21.xml" ContentType="application/vnd.openxmlformats-officedocument.presentationml.notesSlide+xml"/>
  <Override PartName="/ppt/charts/chart5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6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90" r:id="rId3"/>
    <p:sldId id="257" r:id="rId4"/>
    <p:sldId id="28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85" r:id="rId21"/>
    <p:sldId id="273" r:id="rId22"/>
    <p:sldId id="286" r:id="rId23"/>
    <p:sldId id="274" r:id="rId24"/>
    <p:sldId id="275" r:id="rId25"/>
    <p:sldId id="276" r:id="rId26"/>
    <p:sldId id="284" r:id="rId27"/>
    <p:sldId id="277" r:id="rId28"/>
    <p:sldId id="281" r:id="rId29"/>
    <p:sldId id="278" r:id="rId30"/>
    <p:sldId id="288" r:id="rId31"/>
    <p:sldId id="287" r:id="rId32"/>
    <p:sldId id="279" r:id="rId33"/>
    <p:sldId id="280" r:id="rId34"/>
    <p:sldId id="283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NNZ</c:v>
                </c:pt>
              </c:strCache>
            </c:strRef>
          </c:tx>
          <c:spPr>
            <a:solidFill>
              <a:srgbClr val="0E9D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BA-4626-AFE6-7C88C0BA7E81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BA-4626-AFE6-7C88C0BA7E8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01A40"/>
                    </a:solidFill>
                    <a:latin typeface="Bahnschrift"/>
                  </a:defRPr>
                </a:pPr>
                <a:endParaRPr lang="hu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Star</c:v>
                </c:pt>
                <c:pt idx="1">
                  <c:v>Clique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1498</c:v>
                </c:pt>
                <c:pt idx="1">
                  <c:v>10991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3BA-4626-AFE6-7C88C0BA7E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0E9D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555-431E-A7BF-E2D5E3837B39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55-431E-A7BF-E2D5E3837B3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01A40"/>
                    </a:solidFill>
                    <a:latin typeface="Bahnschrift"/>
                  </a:defRPr>
                </a:pPr>
                <a:endParaRPr lang="hu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Star</c:v>
                </c:pt>
                <c:pt idx="1">
                  <c:v>Clique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79.7</c:v>
                </c:pt>
                <c:pt idx="1">
                  <c:v>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55-431E-A7BF-E2D5E3837B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Four-bar</c:v>
                </c:pt>
              </c:strCache>
            </c:strRef>
          </c:tx>
          <c:spPr>
            <a:solidFill>
              <a:srgbClr val="0E9D6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k=3</c:v>
                </c:pt>
                <c:pt idx="1">
                  <c:v>k=4</c:v>
                </c:pt>
                <c:pt idx="2">
                  <c:v>k=5</c:v>
                </c:pt>
                <c:pt idx="3">
                  <c:v>k=6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D8-4C6C-B1C5-8C31C8AA13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Delta (3-arm)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k=3</c:v>
                </c:pt>
                <c:pt idx="1">
                  <c:v>k=4</c:v>
                </c:pt>
                <c:pt idx="2">
                  <c:v>k=5</c:v>
                </c:pt>
                <c:pt idx="3">
                  <c:v>k=6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D8-4C6C-B1C5-8C31C8AA13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Serial arm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k=3</c:v>
                </c:pt>
                <c:pt idx="1">
                  <c:v>k=4</c:v>
                </c:pt>
                <c:pt idx="2">
                  <c:v>k=5</c:v>
                </c:pt>
                <c:pt idx="3">
                  <c:v>k=6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D8-4C6C-B1C5-8C31C8AA13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1A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4D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6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201A4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01A40"/>
                </a:solidFill>
                <a:latin typeface="Bahnschrift"/>
              </a:defRPr>
            </a:pPr>
            <a:r>
              <a:rPr lang="hu-HU" sz="1200" b="0" i="0" u="none" strike="noStrike">
                <a:solidFill>
                  <a:srgbClr val="201A40"/>
                </a:solidFill>
                <a:latin typeface="Bahnschrift"/>
              </a:rPr>
              <a:t>Gömb-strict vs supervised baselines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Gömb-strict</c:v>
                </c:pt>
              </c:strCache>
            </c:strRef>
          </c:tx>
          <c:spPr>
            <a:solidFill>
              <a:srgbClr val="0E9D6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Bitcoin α</c:v>
                </c:pt>
                <c:pt idx="1">
                  <c:v>Bitcoin OTC</c:v>
                </c:pt>
                <c:pt idx="2">
                  <c:v>Slashdot</c:v>
                </c:pt>
                <c:pt idx="3">
                  <c:v>Epinions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0.89700000000000002</c:v>
                </c:pt>
                <c:pt idx="1">
                  <c:v>0.91500000000000004</c:v>
                </c:pt>
                <c:pt idx="2">
                  <c:v>0.90200000000000002</c:v>
                </c:pt>
                <c:pt idx="3">
                  <c:v>0.94299999999999995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D2-4724-A24E-77121406FF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SGCN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Bitcoin α</c:v>
                </c:pt>
                <c:pt idx="1">
                  <c:v>Bitcoin OTC</c:v>
                </c:pt>
                <c:pt idx="2">
                  <c:v>Slashdot</c:v>
                </c:pt>
                <c:pt idx="3">
                  <c:v>Epinions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0.92900000000000005</c:v>
                </c:pt>
                <c:pt idx="1">
                  <c:v>0.94199999999999995</c:v>
                </c:pt>
                <c:pt idx="2">
                  <c:v>0.91900000000000004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D2-4724-A24E-77121406FF0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SiGAT</c:v>
                </c:pt>
              </c:strCache>
            </c:strRef>
          </c:tx>
          <c:spPr>
            <a:solidFill>
              <a:srgbClr val="6FA0F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Bitcoin α</c:v>
                </c:pt>
                <c:pt idx="1">
                  <c:v>Bitcoin OTC</c:v>
                </c:pt>
                <c:pt idx="2">
                  <c:v>Slashdot</c:v>
                </c:pt>
                <c:pt idx="3">
                  <c:v>Epinions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0.90300000000000002</c:v>
                </c:pt>
                <c:pt idx="1">
                  <c:v>0.93200000000000005</c:v>
                </c:pt>
                <c:pt idx="2">
                  <c:v>0</c:v>
                </c:pt>
                <c:pt idx="3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0D2-4724-A24E-77121406FF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6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6"/>
          <c:min val="0.85"/>
        </c:scaling>
        <c:delete val="0"/>
        <c:axPos val="l"/>
        <c:majorGridlines>
          <c:spPr>
            <a:ln w="6350" cap="flat">
              <a:solidFill>
                <a:srgbClr val="E4D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6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01A4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0E9D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B5-439F-9C86-BA42540B8FBF}"/>
              </c:ext>
            </c:extLst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B5-439F-9C86-BA42540B8FBF}"/>
              </c:ext>
            </c:extLst>
          </c:dPt>
          <c:cat>
            <c:strRef>
              <c:f>Sheet1!$A$2:$A$3</c:f>
              <c:strCache>
                <c:ptCount val="2"/>
                <c:pt idx="0">
                  <c:v>optuna-best (lean, h=4)
30.5 ms</c:v>
                </c:pt>
                <c:pt idx="1">
                  <c:v>joint mix (h=16)
342 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</c:v>
                </c:pt>
                <c:pt idx="1">
                  <c:v>342.3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B5-439F-9C86-BA42540B8F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01A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01A40"/>
                </a:solidFill>
                <a:latin typeface="Bahnschrift"/>
              </a:defRPr>
            </a:pPr>
            <a:r>
              <a:rPr lang="hu-HU" sz="1200" b="0" i="0" u="none" strike="noStrike">
                <a:solidFill>
                  <a:srgbClr val="201A40"/>
                </a:solidFill>
                <a:latin typeface="Bahnschrift"/>
              </a:rPr>
              <a:t>Cluttered MNIST mAP_50, honest metric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mAP_50</c:v>
                </c:pt>
              </c:strCache>
            </c:strRef>
          </c:tx>
          <c:spPr>
            <a:solidFill>
              <a:srgbClr val="6FA0F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F39-441B-A58A-46FF5149D8F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F39-441B-A58A-46FF5149D8F4}"/>
              </c:ext>
            </c:extLst>
          </c:dPt>
          <c:dPt>
            <c:idx val="2"/>
            <c:invertIfNegative val="0"/>
            <c:bubble3D val="0"/>
            <c:spPr>
              <a:solidFill>
                <a:srgbClr val="5FD0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39-441B-A58A-46FF5149D8F4}"/>
              </c:ext>
            </c:extLst>
          </c:dPt>
          <c:dPt>
            <c:idx val="3"/>
            <c:invertIfNegative val="0"/>
            <c:bubble3D val="0"/>
            <c:spPr>
              <a:solidFill>
                <a:srgbClr val="0E9D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F39-441B-A58A-46FF5149D8F4}"/>
              </c:ext>
            </c:extLst>
          </c:dPt>
          <c:cat>
            <c:strRef>
              <c:f>Sheet1!$A$2:$A$5</c:f>
              <c:strCache>
                <c:ptCount val="4"/>
                <c:pt idx="0">
                  <c:v>ricci baseline
0.504</c:v>
                </c:pt>
                <c:pt idx="1">
                  <c:v>+warm start
0.628</c:v>
                </c:pt>
                <c:pt idx="2">
                  <c:v>+ levers (A-2)
0.746</c:v>
                </c:pt>
                <c:pt idx="3">
                  <c:v>HSiKAN-CR
0.903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0.504</c:v>
                </c:pt>
                <c:pt idx="1">
                  <c:v>0.628</c:v>
                </c:pt>
                <c:pt idx="2">
                  <c:v>0.746</c:v>
                </c:pt>
                <c:pt idx="3">
                  <c:v>0.90300000000000002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F39-441B-A58A-46FF5149D8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01A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4D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6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9182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23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PhD SEMINAR · KATO LABORATORY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15544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6D28D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HyMeKo</a:t>
            </a:r>
            <a:endParaRPr lang="en-US" sz="8800" dirty="0"/>
          </a:p>
        </p:txBody>
      </p:sp>
      <p:sp>
        <p:nvSpPr>
          <p:cNvPr id="27" name="Text 25"/>
          <p:cNvSpPr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9D6E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Hypergraph Model Cognition Framework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640080" y="3703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From declarative hypergraph structure to structural-prior learning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8368" y="484632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4800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Csaba Hajdu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Hypergraph systems · signed-graph learning · June 2026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900" dirty="0"/>
          </a:p>
        </p:txBody>
      </p:sp>
      <p:pic>
        <p:nvPicPr>
          <p:cNvPr id="33" name="Picture 32" descr="deco_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783080"/>
            <a:ext cx="3383280" cy="30013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01A40"/>
                </a:solidFill>
                <a:latin typeface="Futura"/>
              </a:rPr>
              <a:t>HyMeKo, in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1">
                <a:solidFill>
                  <a:srgbClr val="6B6690"/>
                </a:solidFill>
                <a:latin typeface="Bahnschrift"/>
              </a:rPr>
              <a:t>Hypergraph Model Cognition — one substrate for representing and learning from structured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247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 i="0">
                <a:solidFill>
                  <a:srgbClr val="201A40"/>
                </a:solidFill>
                <a:latin typeface="Bahnschrift"/>
              </a:rPr>
              <a:t>HyMeKo treats the hypergraph as a first-class object. A small declarative language describes a system's parts and the signed, hierarchical, many-to-many relations among them; one engine both renders that structure to many target formats and exposes it to models that learn from the graph's own cycles — so the structure the framework compiles is the structure the model reasons 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61188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3611880"/>
            <a:ext cx="2706624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867912"/>
            <a:ext cx="23408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1A40"/>
                </a:solidFill>
                <a:latin typeface="Bahnschrift"/>
              </a:rPr>
              <a:t>Declarative DSL + 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6344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690"/>
                </a:solidFill>
                <a:latin typeface="Bahnschrift"/>
              </a:rPr>
              <a:t>.hymeko → canonical hypergraph IR with Blake3 content-hash 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361188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10712" y="3611880"/>
            <a:ext cx="2706624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3867912"/>
            <a:ext cx="23408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1A40"/>
                </a:solidFill>
                <a:latin typeface="Bahnschrift"/>
              </a:rPr>
              <a:t>Cross-view codegen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466344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690"/>
                </a:solidFill>
                <a:latin typeface="Bahnschrift"/>
              </a:rPr>
              <a:t>one query + template engine → URDF · SDF · MJCF · SysML v2 · PyTorch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361188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18504" y="3611880"/>
            <a:ext cx="2706624" cy="91440"/>
          </a:xfrm>
          <a:prstGeom prst="rect">
            <a:avLst/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3867912"/>
            <a:ext cx="23408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1A40"/>
                </a:solidFill>
                <a:latin typeface="Bahnschrift"/>
              </a:rPr>
              <a:t>Zero-copy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66344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690"/>
                </a:solidFill>
                <a:latin typeface="Bahnschrift"/>
              </a:rPr>
              <a:t>O(|E|·d) star expansion streamed to PyTorch via Arrow / DLPack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26296" y="361188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26296" y="3611880"/>
            <a:ext cx="2706624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09176" y="3867912"/>
            <a:ext cx="23408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1A40"/>
                </a:solidFill>
                <a:latin typeface="Bahnschrift"/>
              </a:rPr>
              <a:t>Structural-prior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466344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690"/>
                </a:solidFill>
                <a:latin typeface="Bahnschrift"/>
              </a:rPr>
              <a:t>SignedKAN → HSiKAN → Gömb; cycles as a KAN inductive prior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6690"/>
                </a:solidFill>
                <a:latin typeface="Bahnschrif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Why hypergraphs?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Real systems are n-ary, not pairwise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robot joint couples a parent and child link and an axis; a trust vote ties voter, target and sign; a chemical unit binds many reactants; a neural layer fuses many input tensors.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Forcing these relations into pairwise edges means clique projection — every k-ary relation becomes a fully-connected subgraph.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cost is twofold: the projected adjacency explodes as O(|E|·d²), and the identity of the relation itself is lost.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4892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Two needs follow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230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represent and operate on hypergraphs faithfully    ·    learn from their 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60920" y="118872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pic>
        <p:nvPicPr>
          <p:cNvPr id="32" name="Picture 31" descr="motiv_5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517" y="1348740"/>
            <a:ext cx="3636485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 i="0">
                <a:solidFill>
                  <a:srgbClr val="201A40"/>
                </a:solidFill>
                <a:latin typeface="Futura"/>
              </a:rPr>
              <a:t>Typical hypergraphs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690"/>
                </a:solidFill>
                <a:latin typeface="Bahnschrift"/>
              </a:rPr>
              <a:t>From the textbook to the engine — each is a .hymeko fixture in data/typical_graphs/, drawn here as hyperedge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6207" y="160020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4187952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36207" y="4187952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669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6690"/>
                </a:solidFill>
                <a:latin typeface="Bahnschrift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91640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01A40"/>
                </a:solidFill>
                <a:latin typeface="Bahnschrift"/>
              </a:rPr>
              <a:t>Fano plane (Steiner triple S(2,3,7))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057400"/>
            <a:ext cx="3127247" cy="1755648"/>
          </a:xfrm>
          <a:prstGeom prst="roundRect">
            <a:avLst>
              <a:gd name="adj" fmla="val 6000"/>
            </a:avLst>
          </a:prstGeom>
          <a:solidFill>
            <a:srgbClr val="24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52928" y="2112264"/>
            <a:ext cx="2944367" cy="1691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fano {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n0 n1 n2 n3 n4 n5 n6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@e0 (~n0,~n1,~n3);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@e1 (~n0,~n2,~n6);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@e2 (~n0,~n4,~n5);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@e3 (~n1,~n2,~n4);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@e4 (~n2,~n3,~n5);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@e5 (~n3,~n4,~n6);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@e6 (~n1,~n5,~n6);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691640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01A40"/>
                </a:solidFill>
                <a:latin typeface="Bahnschrift"/>
              </a:rPr>
              <a:t>Generic hypergraph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76488" y="2057400"/>
            <a:ext cx="3127247" cy="1755648"/>
          </a:xfrm>
          <a:prstGeom prst="roundRect">
            <a:avLst>
              <a:gd name="adj" fmla="val 6000"/>
            </a:avLst>
          </a:prstGeom>
          <a:solidFill>
            <a:srgbClr val="24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86215" y="2112264"/>
            <a:ext cx="2944367" cy="1691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generic {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a b c d e f g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@e0 (~a,~b,~c);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@e1 (~c,~d,~f);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@e2 (~d,~e);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@e3 (~c,~g,~f);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79392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01A40"/>
                </a:solidFill>
                <a:latin typeface="Bahnschrift"/>
              </a:rPr>
              <a:t>Complete 3-uniform  K4(3)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645152"/>
            <a:ext cx="3127247" cy="1755648"/>
          </a:xfrm>
          <a:prstGeom prst="roundRect">
            <a:avLst>
              <a:gd name="adj" fmla="val 6000"/>
            </a:avLst>
          </a:prstGeom>
          <a:solidFill>
            <a:srgbClr val="24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52928" y="4700016"/>
            <a:ext cx="2944367" cy="1691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k4_3uniform {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v1 v2 v3 v4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@f123 (~v1,~v2,~v3);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@f124 (~v1,~v2,~v4);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@f134 (~v1,~v3,~v4);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@f234 (~v2,~v3,~v4);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279392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01A40"/>
                </a:solidFill>
                <a:latin typeface="Bahnschrift"/>
              </a:rPr>
              <a:t>Sunflower (Δ-system)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4645152"/>
            <a:ext cx="3127247" cy="1755648"/>
          </a:xfrm>
          <a:prstGeom prst="roundRect">
            <a:avLst>
              <a:gd name="adj" fmla="val 6000"/>
            </a:avLst>
          </a:prstGeom>
          <a:solidFill>
            <a:srgbClr val="24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86215" y="4700016"/>
            <a:ext cx="2944367" cy="1691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sunflower {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core_a core_b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p1a p1b p2a p2b p3a p3b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@petal1 (~core_a,~core_b,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         ~p1a,~p1b);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@petal2 (~core_a,~core_b,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         ~p2a,~p2b);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@petal3 (~core_a,~core_b,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         ~p3a,~p3b);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}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34" y="2066543"/>
            <a:ext cx="1958491" cy="1755648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40714"/>
            <a:ext cx="2002536" cy="1589019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67" y="4645152"/>
            <a:ext cx="1705825" cy="1755648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817" y="4645152"/>
            <a:ext cx="183650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hyperedge and its signed incidence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star expansion is the bipartite Levi / Berge incidence — one hub per hyperedge, with signed + / − arcs to its member vertices</a:t>
            </a:r>
            <a:endParaRPr lang="en-US" sz="1450" dirty="0"/>
          </a:p>
        </p:txBody>
      </p:sp>
      <p:pic>
        <p:nvPicPr>
          <p:cNvPr id="4" name="Image 0" descr="levi_hyper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984" y="1874520"/>
            <a:ext cx="7863840" cy="3858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87044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Left: the hypergraph (hyperedges e_a, e_b over vertices). Right: each hyperedge becomes a hub; + / − arcs encode the signed incidence — the O(|E|·d) star tensor the engine streams to PyTorch.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One substrate, two payoffs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thesis in a single picture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17036" y="1691640"/>
            <a:ext cx="4754880" cy="1051560"/>
          </a:xfrm>
          <a:prstGeom prst="roundRect">
            <a:avLst>
              <a:gd name="adj" fmla="val 8696"/>
            </a:avLst>
          </a:prstGeom>
          <a:solidFill>
            <a:srgbClr val="F4F1FC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17036" y="16916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hypergraph substrate
</a:t>
            </a:r>
            <a:endParaRPr lang="en-US" sz="17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DSL · one IR · structure as a first-class object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48556" y="2743200"/>
            <a:ext cx="0" cy="114300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40396" y="2743200"/>
            <a:ext cx="1645920" cy="1143000"/>
          </a:xfrm>
          <a:prstGeom prst="line">
            <a:avLst/>
          </a:prstGeom>
          <a:noFill/>
          <a:ln w="31750">
            <a:solidFill>
              <a:srgbClr val="0E9D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4937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91440" cy="2103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4480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Declarative DSL + Rust compiler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Star-expansion zero-copy pipeline → PyTorch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Query-driven robotics codegen (URDF/SDF/MJCF/ROS 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46520" y="3931920"/>
            <a:ext cx="4937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46520" y="3931920"/>
            <a:ext cx="91440" cy="210312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4480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Structural priors: cycles &amp; walks as tuples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SignedKAN / HSiKAN / Gömb architectures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SOTA-range signed-graph link prediction, lean params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What HyMeKo describes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declarative model of structured systems as signed, hierarchical hypergraphs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20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captures a system's parts and the n-ary, signed, hierarchical relations among them in one canonical hypergraph IR with content-hash identity — then renders that single description into many views.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2624328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990088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" y="341071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Robotic &amp; cyber-physical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4088" y="40690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links · joints · axes · signs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4088" y="45720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URDF · SDF · MJCF · Gazebo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55848" y="269748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55848" y="2697480"/>
            <a:ext cx="2624328" cy="1097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84448" y="2990088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57016" y="341071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Systems engineering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57016" y="40690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components · ports · flows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57016" y="45720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SysML v2 · MBSE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269748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08776" y="2697480"/>
            <a:ext cx="2624328" cy="109728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37376" y="2990088"/>
            <a:ext cx="310896" cy="310896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9944" y="341071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 relational graphs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9944" y="40690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trust votes · balance · cycles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9944" y="45720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link prediction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61704" y="269748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61704" y="2697480"/>
            <a:ext cx="26243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290304" y="2990088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62872" y="341071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Neural dataflow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62872" y="40690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tensors · layers · signed hyperarcs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62872" y="45720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torch module · NAS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525780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525780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canonical hypergraph IR</a:t>
            </a: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 ·   Blake3 structural identity   ·   cross-view consistency across every emitted target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Goals at two levels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What the language aims to do, and what the infrastructure underneath aims to deliver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8640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84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language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2478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MODELLING GOALS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declarative source of truth for n-ary, signed, hierarchical structure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Cross-view consistency — many targets, one IR, provably the same system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Canonical hashing for structural identity and equality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Bridge model-based systems engineering (SysML) with executable robotics &amp; ML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169164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486400" cy="109728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19672" y="1984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infrastructure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2478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ENGINE GOALS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65392" y="297180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High-performance Rust engine — SIMD lexer, ~15 crates, 500+ passing tests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Real-time zero-copy streaming to PyTorch — O(|E|·d) star, sub-100-µs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Multi-surface: PyO3 wheel · WebAssembly editor · MCP server · REST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Reproducibility: benchmark harness, paired-seed evidence, 16 GB memory budget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HyMeKo Framework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6868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domain-specific language and a high-performance Rust engine for hypergraphs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9</a:t>
            </a:r>
            <a:endParaRPr lang="en-US" sz="900" dirty="0"/>
          </a:p>
        </p:txBody>
      </p:sp>
      <p:pic>
        <p:nvPicPr>
          <p:cNvPr id="22" name="Picture 21" descr="deco_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3566160" cy="31636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declarative language for hypergraphs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Hyperedges are first-class</a:t>
            </a:r>
            <a:endParaRPr lang="en-US" sz="1500" dirty="0"/>
          </a:p>
          <a:p>
            <a:pPr marL="0" indent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edges connect arbitrary numbers of nodes, not just pairs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Hierarchical paths</a:t>
            </a:r>
            <a:endParaRPr lang="en-US" sz="1500" dirty="0"/>
          </a:p>
          <a:p>
            <a:pPr marL="0" indent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nodes nest; references resolve through dot-paths like Root.A.B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 arc bindings</a:t>
            </a:r>
            <a:endParaRPr lang="en-US" sz="1500" dirty="0"/>
          </a:p>
          <a:p>
            <a:pPr marL="0" indent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+/− mark the orientation of a relation (parent/child, in/out)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Tags = roles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&lt;link&gt;, &lt;input&gt;, &lt;dataflow&gt; classify a node's semantics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06440" y="1234440"/>
            <a:ext cx="5897880" cy="4434840"/>
          </a:xfrm>
          <a:prstGeom prst="roundRect">
            <a:avLst>
              <a:gd name="adj" fmla="val 1237"/>
            </a:avLst>
          </a:prstGeom>
          <a:solidFill>
            <a:srgbClr val="241B4A"/>
          </a:solidFill>
          <a:ln/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0" y="14173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robot.hymeko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1783080"/>
            <a:ext cx="5257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 {}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{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   : link  { mass 2.0; 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arm    : link  { mass 0.6; 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wheel  : link  { mass 0.3; 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@shoulder : rev_joint {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(+base, -arm);       // parent + / child -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axis [0, 0, 1];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@hub : conti_joint {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(+base, -wheel);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From source text to a hypergraph IR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complete compiler pipeline, written in Rust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41605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4389120"/>
            <a:ext cx="292608" cy="29260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88720" y="43159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Blake3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content-hash node identity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297680" y="41605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26280" y="4389120"/>
            <a:ext cx="292608" cy="29260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83480" y="43159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Symbol interning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memory-efficient paths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092440" y="41605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321040" y="4389120"/>
            <a:ext cx="292608" cy="29260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778240" y="43159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 / clique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two tensor expansions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11</a:t>
            </a:r>
            <a:endParaRPr lang="en-US" sz="900" dirty="0"/>
          </a:p>
        </p:txBody>
      </p:sp>
      <p:pic>
        <p:nvPicPr>
          <p:cNvPr id="36" name="Picture 35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045" y="1874519"/>
            <a:ext cx="86948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Star vs clique: the efficiency argument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Same 50-node / 50-edge / 0.30-density hypergraph, two materialisations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91440" cy="109728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 · incidence   </a:t>
            </a:r>
            <a:r>
              <a:rPr lang="en-US" sz="13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O(|E|·d)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1,498 NNZ      </a:t>
            </a:r>
            <a:r>
              <a:rPr lang="en-US" sz="17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79.7 ms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91440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CLIQUE · projected adjacency   </a:t>
            </a:r>
            <a:r>
              <a:rPr lang="en-US" sz="13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O(|E|·d²)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2128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10,991 NNZ      </a:t>
            </a:r>
            <a:r>
              <a:rPr lang="en-US" sz="17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496 ms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Non-zero entries</a:t>
            </a:r>
            <a:endParaRPr lang="en-US" sz="12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40080" y="320040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/>
          <p:nvPr/>
        </p:nvSpPr>
        <p:spPr>
          <a:xfrm>
            <a:off x="6309360" y="2926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Extraction latency (ms)</a:t>
            </a:r>
            <a:endParaRPr lang="en-US" sz="1200" dirty="0"/>
          </a:p>
        </p:txBody>
      </p:sp>
      <p:graphicFrame>
        <p:nvGraphicFramePr>
          <p:cNvPr id="17" name="Chart 1"/>
          <p:cNvGraphicFramePr/>
          <p:nvPr/>
        </p:nvGraphicFramePr>
        <p:xfrm>
          <a:off x="6446520" y="320040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 14"/>
          <p:cNvSpPr/>
          <p:nvPr/>
        </p:nvSpPr>
        <p:spPr>
          <a:xfrm>
            <a:off x="50292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 expansion is what keeps hypergraph neural networks scalable.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zero-copy bridge to the GPU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Control plane and data plane are separated; topology changes and weight streams take different paths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82296" cy="1417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" y="208483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Rust core + daemon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Blake3 topology hash · Iceoryx2 service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01568" y="2628900"/>
            <a:ext cx="283464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03320" y="192024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03320" y="1920240"/>
            <a:ext cx="82296" cy="14173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04488" y="208483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Shared memory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Apache Arrow record batches in /dev/shm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01968" y="2628900"/>
            <a:ext cx="283464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03720" y="192024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03720" y="1920240"/>
            <a:ext cx="82296" cy="14173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04888" y="208483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PyO3 + DLPack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map pointer · zero-copy handshake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802368" y="2628900"/>
            <a:ext cx="283464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104120" y="19202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104120" y="1920240"/>
            <a:ext cx="82296" cy="141732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305288" y="2084832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PyTorch GPU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training loop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886200"/>
            <a:ext cx="11201400" cy="1783080"/>
          </a:xfrm>
          <a:prstGeom prst="roundRect">
            <a:avLst>
              <a:gd name="adj" fmla="val 4103"/>
            </a:avLst>
          </a:prstGeom>
          <a:solidFill>
            <a:srgbClr val="F4F1FC"/>
          </a:solidFill>
          <a:ln w="12700">
            <a:solidFill>
              <a:srgbClr val="E4D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topology-hash gate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434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hash changed → </a:t>
            </a: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Structural update: re-emit Arrow mapping (k, i, j), subscriber re-maps memory.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" y="4846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hash same → </a:t>
            </a: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Fast path: stream raw f32 weights only — no re-allocation, no serialization.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464040" y="4069080"/>
            <a:ext cx="2011680" cy="13716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64040" y="422452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&lt; 100 µs
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9E2F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memory injection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Architecture is modelled in SysML 2 — control-plane / data-plane, sequence, and state views.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Query-driven transforms: one graph, many targets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compiled hypergraph becomes any text output through a </a:t>
            </a:r>
            <a:r>
              <a:rPr lang="en-US" sz="15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query + template</a:t>
            </a: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pair.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Rust, no recompile — the engine stays domain-neutral.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5486400" cy="3017520"/>
          </a:xfrm>
          <a:prstGeom prst="roundRect">
            <a:avLst>
              <a:gd name="adj" fmla="val 2121"/>
            </a:avLst>
          </a:prstGeom>
          <a:solidFill>
            <a:srgbClr val="241B4A"/>
          </a:solidFill>
          <a:ln/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queries.hymeko  +  template.urdf.xml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links:            link        {}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@revolute_joints: rev_joint   {}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{{#each revolute_joints}}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&lt;joint name="{{name}}" type="revolute"&gt;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&lt;parent link="{{bind:+:0}}"/&gt;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&lt;child  link="{{bind:-:0}}"/&gt;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&lt;/joint&gt;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{{/each}}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5806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hymeko transform robot.hymeko -t urdf -o robot.urdf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4652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IR, many targets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6642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Pair-wise converters (N×M) collapse to a hub-and-spoke (N+M) around the canonical IR.</a:t>
            </a:r>
            <a:endParaRPr lang="en-US" sz="1150" dirty="0"/>
          </a:p>
        </p:txBody>
      </p:sp>
      <p:pic>
        <p:nvPicPr>
          <p:cNvPr id="12" name="Image 0" descr="pairwise_vs_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331720"/>
            <a:ext cx="5285232" cy="18653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</a:t>
            </a:r>
            <a:endParaRPr lang="en-US" sz="900" dirty="0"/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530352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050" i="1">
                <a:solidFill>
                  <a:srgbClr val="6B6690"/>
                </a:solidFill>
                <a:latin typeface="Bahnschrift"/>
              </a:rPr>
              <a:t>Cross-format invariant: one source → consistent outputs, one canonical hash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336" y="4498848"/>
            <a:ext cx="4213887" cy="16276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Built like a system, not a script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Systems-engineering discipline is part of the contribution, not an afterthought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1856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SysML 2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225856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Every architecture view — use-case, sequence, state, layered — has a formal SysML 2 companion beside its Mermaid rendering.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3952" y="1856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Workspace of crates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" y="3913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Core protection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8952" y="431596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CORE.YAML contract marks load-bearing modules read-only; any core change requires a written plan and migration path first.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73952" y="3913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Plan-first protocol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3952" y="431596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Non-trivial changes ship a four-format plan (LaTeX, PDF, TikZ, Mermaid) before code — an audit trail, not improvisation.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15</a:t>
            </a:r>
            <a:endParaRPr lang="en-US" sz="900" dirty="0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2304288"/>
            <a:ext cx="5074920" cy="103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73952" y="3376624"/>
            <a:ext cx="50292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050" i="1">
                <a:solidFill>
                  <a:srgbClr val="6B6690"/>
                </a:solidFill>
                <a:latin typeface="Bahnschrift"/>
              </a:rPr>
              <a:t>~25 hymeko_* crates · explicit dependency boundaries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Learning on Structure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6868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When the graph's own cycles become the model's inductive prior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16</a:t>
            </a:r>
            <a:endParaRPr lang="en-US" sz="900" dirty="0"/>
          </a:p>
        </p:txBody>
      </p:sp>
      <p:pic>
        <p:nvPicPr>
          <p:cNvPr id="22" name="Picture 21" descr="deco_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3566160" cy="31636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From structure to inductive prior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532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 graphs</a:t>
            </a:r>
            <a:endParaRPr lang="en-US" sz="135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trust networks with +/− edges (Bitcoin, Slashdot, Epinions, Wikipedia votes).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structural signal</a:t>
            </a:r>
            <a:endParaRPr lang="en-US" sz="135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balance theory lives in cycles — the product of signs around a cycle predicts a missing edge's sign. Cycles and walks become tuples.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Kolmogorov–Arnold activations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SignedKAN / HSiKAN replace ReLU with learnable Catmull–Rom basis activations over those tuples.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35844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Cycle-arity compass — the mechanism-family fingerprint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3913632"/>
          <a:ext cx="56692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234440"/>
            <a:ext cx="544068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9224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same substrate expresses the model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92240" y="1783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HSiKAN's architecture and training loop are written in .hymeko — layers are nodes, the dataflow is signed hyperarcs: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2606040"/>
            <a:ext cx="5029200" cy="1828800"/>
          </a:xfrm>
          <a:prstGeom prst="roundRect">
            <a:avLst>
              <a:gd name="adj" fmla="val 2500"/>
            </a:avLst>
          </a:prstGeom>
          <a:solidFill>
            <a:srgbClr val="241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75120" y="274320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sk_k3 : signedkan_layer { arity 3;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sk_k4 : signedkan_layer { arity 4;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mixer : arity_mixer { mix_K 2;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@flow_k3  (+t_in, ~sk_k3, -t_emb_k3);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@flow_mix (+t_emb_k3, +t_emb_k4,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~mixer, -t_emb);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92240" y="4572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Architecture search even becomes a P-graph feasibility problem on the same IR.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model family: SignedKAN → HSiKAN → Gömb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Three layers of the same idea — learnable spline activations driven by graph structure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61188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75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SignedKAN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49808" y="25694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BASE LAYER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935224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Kolmogorov–Arnold layer for signed graphs: learnable Catmull–Rom spline activations replace fixed ReLU, applied to signed edge / cycle features.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4251960"/>
            <a:ext cx="3118104" cy="411480"/>
          </a:xfrm>
          <a:prstGeom prst="roundRect">
            <a:avLst>
              <a:gd name="adj" fmla="val 1333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KAN activations on signed features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33088" y="3291840"/>
            <a:ext cx="210312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61688" y="178308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61688" y="1783080"/>
            <a:ext cx="3611880" cy="1097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90288" y="2075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HSiKAN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608576" y="25694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 SIGNED-GRAPH KAN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08576" y="2935224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Lifts SignedKAN to hyperedges and mixed arity: per-arity layers (k = 3, 4, …) over cycle &amp; walk tuples, fused by an arity mixer; per-edge CR recipe.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08576" y="4251960"/>
            <a:ext cx="3118104" cy="411480"/>
          </a:xfrm>
          <a:prstGeom prst="roundRect">
            <a:avLst>
              <a:gd name="adj" fmla="val 1333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27448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 hyperedges · mixed arity · per-edge CR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91856" y="3291840"/>
            <a:ext cx="210312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0456" y="178308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0E9D6E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0456" y="1783080"/>
            <a:ext cx="3611880" cy="109728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49056" y="2075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Gömb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8467344" y="25694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STRICT CASCADE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67344" y="2935224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deployable configuration: FIR → HSiKAN-CR → CPML, with the cycle pool enumerated over training edges only — SOTA-range, lean, leakage-free.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67344" y="4251960"/>
            <a:ext cx="3118104" cy="411480"/>
          </a:xfrm>
          <a:prstGeom prst="roundRect">
            <a:avLst>
              <a:gd name="adj" fmla="val 1333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86216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+ 3-shell cascade · strict cycle pool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Each step strictly contains the previous one and adds structure — never a different code path bolted on.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Gömb: a strict structural-prior cascade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three-shell cascade in which the cycle pool is enumerated over training edges only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39112" y="2148840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391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218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Finite-impulse signed filter over the edge neighbourhood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69080" y="2834640"/>
            <a:ext cx="411480" cy="0"/>
          </a:xfrm>
          <a:prstGeom prst="line">
            <a:avLst/>
          </a:prstGeom>
          <a:noFill/>
          <a:ln w="25400">
            <a:solidFill>
              <a:srgbClr val="6B66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26280" y="19202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0E9D6E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25312" y="2148840"/>
            <a:ext cx="585216" cy="585216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253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HSiKAN-CR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3218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Hyper-signed KAN with per-edge Catmull–Rom activations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55280" y="2834640"/>
            <a:ext cx="411480" cy="0"/>
          </a:xfrm>
          <a:prstGeom prst="line">
            <a:avLst/>
          </a:prstGeom>
          <a:noFill/>
          <a:ln w="25400">
            <a:solidFill>
              <a:srgbClr val="6B66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19202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811512" y="2148840"/>
            <a:ext cx="585216" cy="58521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115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9536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CPML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41080" y="3218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Cycle-pool message layer — the strict structural read-out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8686800" cy="1508760"/>
          </a:xfrm>
          <a:prstGeom prst="roundRect">
            <a:avLst>
              <a:gd name="adj" fmla="val 4848"/>
            </a:avLst>
          </a:prstGeom>
          <a:solidFill>
            <a:srgbClr val="E6F6EF"/>
          </a:solidFill>
          <a:ln w="12700">
            <a:solidFill>
              <a:srgbClr val="5FD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42976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Strict by construction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470916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Because the cycle pool never sees a test-edge sign, Gömb has </a:t>
            </a:r>
            <a:r>
              <a:rPr lang="en-US" sz="13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transductive σ-leakage</a:t>
            </a: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. A label-shuffle test collapses it to chance (0.540 AUC) — proof the architecture is a structural predictor, not a leak.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19</a:t>
            </a:r>
            <a:endParaRPr lang="en-US" sz="900" dirty="0"/>
          </a:p>
        </p:txBody>
      </p:sp>
      <p:pic>
        <p:nvPicPr>
          <p:cNvPr id="28" name="Picture 27" descr="gomb_sphe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4114800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201A40"/>
                </a:solidFill>
                <a:latin typeface="Futura"/>
              </a:rPr>
              <a:t>What is k-enumeration? Why HSiKAN needs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6000"/>
            </a:avLst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FFFFFF"/>
                </a:solidFill>
                <a:latin typeface="Bahnschrift"/>
              </a:rPr>
              <a:t>PART II ·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1">
                <a:solidFill>
                  <a:srgbClr val="6B6690"/>
                </a:solidFill>
                <a:latin typeface="Bahnschrift"/>
              </a:rPr>
              <a:t>Enumerating the closed cycles (and short walks) of each arity k that become the model's structural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0E9D6E"/>
                </a:solidFill>
                <a:latin typeface="Bahnschrift"/>
              </a:rPr>
              <a:t>Tuples:  </a:t>
            </a:r>
            <a:r>
              <a:rPr sz="1300" b="0" i="0">
                <a:solidFill>
                  <a:srgbClr val="201A40"/>
                </a:solidFill>
                <a:latin typeface="Bahnschrift"/>
              </a:rPr>
              <a:t>cycles c3 · c4 · c5  and short walks w2 · w3 — one SignedKAN layer per arity, fused by the arity mixer.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82296" cy="3246120"/>
          </a:xfrm>
          <a:prstGeom prst="rect">
            <a:avLst/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514600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What it enumerates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008376"/>
            <a:ext cx="3108960" cy="237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6B6690"/>
                </a:solidFill>
                <a:latin typeface="Bahnschrift"/>
              </a:rPr>
              <a:t>k-enumeration finds the closed cycles of length k in the signed graph — the k-ary tuples c3, c4, c5 (plus short walks w2, w3). Each tuple is a candidate structural feature carrying a sign-product.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33172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2331720"/>
            <a:ext cx="82296" cy="32461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2514600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Why HSiKAN needs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008376"/>
            <a:ext cx="3108960" cy="237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6B6690"/>
                </a:solidFill>
                <a:latin typeface="Bahnschrift"/>
              </a:rPr>
              <a:t>HSiKAN builds its prediction from these tuples: a SignedKAN layer per arity, fused by the arity mixer. With no enumerated cycles there are no structural features and the network collapses to a blind MLP. Balance theory lives in cycles — a missing edge's sign is read from the σ-products of the cycles that would close through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233172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9016" y="2331720"/>
            <a:ext cx="82296" cy="3246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How it is bounded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008376"/>
            <a:ext cx="3108960" cy="237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6B6690"/>
                </a:solidFill>
                <a:latin typeface="Bahnschrift"/>
              </a:rPr>
              <a:t>Enumeration is the combinatorial bottleneck. HSiKAN caps it: per-vertex top-k by a scorer (e.g. fraction-negative) and per-arity caps (max_k). Strict mode enumerates over training edges only — which is also what prevents the leakage on the previous slide.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Inside HSiKAN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middle shell — learnable spline activations over signed cycle &amp; walk tuples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3657600"/>
            <a:ext cx="3794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2920" y="3657600"/>
            <a:ext cx="82296" cy="19659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3232" y="38039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Catmull–Rom activation</a:t>
            </a:r>
            <a:endParaRPr lang="en-US" sz="1400" dirty="0"/>
          </a:p>
        </p:txBody>
      </p:sp>
      <p:pic>
        <p:nvPicPr>
          <p:cNvPr id="33" name="Image 0" descr="catmull_r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69664"/>
            <a:ext cx="3310128" cy="1371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4526280" y="3657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526280" y="3657600"/>
            <a:ext cx="82296" cy="196596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764024" y="3840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Mixed arity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4764024" y="43342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Independent layers for k = 3 and k = 4 over cycle &amp; walk tuples, fused by an arity mixer.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183880" y="3657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8183880" y="3657600"/>
            <a:ext cx="82296" cy="196596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8421624" y="3840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Quaternion sign-attention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8421624" y="43342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Multi-head; hidden / 4 independent quaternions per head; scores anchor, consecutive and pair signs along each cycle.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21</a:t>
            </a:r>
            <a:endParaRPr lang="en-US" sz="900" dirty="0"/>
          </a:p>
        </p:txBody>
      </p:sp>
      <p:pic>
        <p:nvPicPr>
          <p:cNvPr id="44" name="Picture 43" descr="hsik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756" y="1755648"/>
            <a:ext cx="4227438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201A40"/>
                </a:solidFill>
                <a:latin typeface="Futura"/>
              </a:rPr>
              <a:t>HSiKAN, learned: αₖ regime and ROC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"/>
            </a:avLst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Bahnschrift"/>
              </a:rPr>
              <a:t>PART II ·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1">
                <a:solidFill>
                  <a:srgbClr val="6B6690"/>
                </a:solidFill>
                <a:latin typeface="Bahnschrift"/>
              </a:rPr>
              <a:t>Real output of the link-prediction inference demo on the trained Bitcoin-OTC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548640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82296" cy="4160520"/>
          </a:xfrm>
          <a:prstGeom prst="rect">
            <a:avLst/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Learned αₖ — per-arity weight</a:t>
            </a:r>
          </a:p>
        </p:txBody>
      </p:sp>
      <p:pic>
        <p:nvPicPr>
          <p:cNvPr id="9" name="Picture 8" descr="alpha_k_bitcoin_o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4937760" cy="324994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99632" y="1645920"/>
            <a:ext cx="548640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645920"/>
            <a:ext cx="82296" cy="41605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81051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ROC — AUROC 0.9957</a:t>
            </a:r>
          </a:p>
        </p:txBody>
      </p:sp>
      <p:pic>
        <p:nvPicPr>
          <p:cNvPr id="13" name="Picture 12" descr="ROC_bitcoin_o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240280"/>
            <a:ext cx="3301479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6B6690"/>
                </a:solidFill>
                <a:latin typeface="Bahnschrift"/>
              </a:rPr>
              <a:t>The αₖ compass concentrates on c2 / w3; AUROC 0.9957 is the standard transductive convention (optuna_best) — the strict-protocol baseline is on the results slide.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Clifford-FIR and quaternion machinery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Geometric algebra under the cascade — and a visual-cortex analogy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62636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82296" cy="2103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874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Clifford-FIR filter banks · outer shell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2860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 parallel Clifford-FIR banks. The cycle arity sets the FIR filter length; each bank's Clifford coefficients are staggered at initialisation. Built on the hymeko_clifford autograd backend — multivectors, blade products, a (p, q) metric signature.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62636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3977640"/>
            <a:ext cx="82296" cy="178308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4160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Quaternion sign-attention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457200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sign structure along a cycle is scored with Hamilton-product (quaternion) attention; a multi-head variant runs hidden / 4 independent quaternions per head, and carries the highway gate on the Bitcoin-OTC configuration.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0372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Three shells ≈ a visual-cortex stack</a:t>
            </a:r>
            <a:endParaRPr lang="en-US" sz="1400" dirty="0"/>
          </a:p>
        </p:txBody>
      </p:sp>
      <p:pic>
        <p:nvPicPr>
          <p:cNvPr id="15" name="Image 0" descr="gomb_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148840"/>
            <a:ext cx="4846320" cy="29352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51755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Clifford-FIR (V1) → HSiKAN-CR (V4) → CPML (IT), wrapped by cognitive information routing.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Signed-graph link prediction results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Held-out test ROC–AUC, mean over 5 seeds · Gömb-strict (honest protocol)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640080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Model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Bitcoin α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Bitcoin OTC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Slashdot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Epinions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Gömb-strict (ours)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0.897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0.915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0.902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0.943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Gömb + fine-tune (ours)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0.953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SGCN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0.929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0.942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0.919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SiGAT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0.903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0.932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~0.95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MLP (blind)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0.892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0.908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0.888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Two more SNAP signed graphs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4956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wiki_elec  0.911 ± 0.001   ·   wikisigned  0.894 ± 0.002   — same config, no re-tuning.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5440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Under the field's standard transductive convention, the tuned optuna_best lifts Bitcoin to 0.996 / 0.993.</a:t>
            </a:r>
            <a:endParaRPr lang="en-US" sz="11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7178040" y="1691640"/>
          <a:ext cx="4572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SOTA range — at a fraction of the cost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structural prior does the heavy lifting, so the network can stay small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2697480" cy="109728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E9D6E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30,487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5968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parameters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Bitcoin α optuna_best — about ½ the joint baseline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47288" y="16642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47288" y="1664208"/>
            <a:ext cx="269748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84448" y="1938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11</a:t>
            </a:r>
            <a:r>
              <a:rPr lang="hu-HU" sz="3600" b="1" dirty="0">
                <a:solidFill>
                  <a:srgbClr val="2563E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x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84448" y="25968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faster forward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30168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Bitcoin OTC lean model vs the h=16 joint mix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91656" y="16642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91656" y="1664208"/>
            <a:ext cx="2697480" cy="1097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28816" y="1938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D28D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¼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528816" y="25968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parameters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74536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OTC at 23,815 params, yet higher AUC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36024" y="16642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336024" y="1664208"/>
            <a:ext cx="2697480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473184" y="1938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8BF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 seeds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473184" y="25968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every number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18904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paired-Δ significance before any paper promotion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3703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Forward latency · Bitcoin OTC (lower is better)</a:t>
            </a:r>
            <a:endParaRPr lang="en-US" sz="13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11480" y="4069080"/>
          <a:ext cx="557784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6263640" y="3822192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537960" y="3986784"/>
            <a:ext cx="4983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30.5 ms vs 342 ms
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lean model runs ~11× faster at forward than the h=16 joint mix, at ¼ the parameters and equal-or-better AUC. Inference cost scales with the structural prior, not with network width.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201A40"/>
                </a:solidFill>
                <a:latin typeface="Futura"/>
              </a:rPr>
              <a:t>What is leakage? Why it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6000"/>
            </a:avLst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FFFFFF"/>
                </a:solidFill>
                <a:latin typeface="Bahnschrift"/>
              </a:rPr>
              <a:t>PART II ·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1">
                <a:solidFill>
                  <a:srgbClr val="6B6690"/>
                </a:solidFill>
                <a:latin typeface="Bahnschrift"/>
              </a:rPr>
              <a:t>Test-set information slipping into training — and why a benchmark can't be trusted until it's ruled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82296" cy="2468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20116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505456"/>
            <a:ext cx="501091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6B6690"/>
                </a:solidFill>
                <a:latin typeface="Bahnschrift"/>
              </a:rPr>
              <a:t>Leakage is when a model gains access — directly or indirectly — to information about the held-out test labels while it trains. The reported score then measures memorisation of that leaked signal, not genuine generalisation to unseen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2880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828800"/>
            <a:ext cx="82296" cy="24688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20116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In signed graphs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505456"/>
            <a:ext cx="501091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6B6690"/>
                </a:solidFill>
                <a:latin typeface="Bahnschrift"/>
              </a:rPr>
              <a:t>Under the transductive convention a cycle's sign-product σ can include the sign of a test edge. A cycle feature then silently carries the very label being predicted — leakage through structure, not through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2628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645152"/>
            <a:ext cx="10652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9D6E"/>
                </a:solidFill>
                <a:latin typeface="Bahnschrift"/>
              </a:rPr>
              <a:t>Why it matters.  </a:t>
            </a:r>
            <a:r>
              <a:rPr sz="1300" b="0" i="0">
                <a:solidFill>
                  <a:srgbClr val="201A40"/>
                </a:solidFill>
                <a:latin typeface="Bahnschrift"/>
              </a:rPr>
              <a:t>Inflated, non-reproducible numbers; a model that looks state-of-the-art but fails on truly unseen edges; unfair comparison between methods; lost trust. Detecting leakage (label-shuffle → AUROC ≈ 0.5) and removing it (a train-only cycle pool) is exactly what makes a result honest.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Honesty as a protocol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Strong numbers are only worth as much as the discipline that audits them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82296" cy="1810512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1837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Label-shuffle diagnostic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8952" y="2221992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Shuffle training signs: a true structural predictor collapses to chance. Gömb → 0.540 (clean); leaky variants stay near 0.99 — the test that separates prior from leakage.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82296" cy="1810512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3952" y="1837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Leakage audit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73952" y="2221992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 external audit found σ-leakage in early HSiKAN tuned numbers. The strict cycle-pool variant became the honest architectural baseline reported here.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758184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3758184"/>
            <a:ext cx="82296" cy="1810512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Bug-vs-honest correction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8952" y="4288536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detection-metric bug had inflated a vision mAP to 0.723 ± 0.180; the corrected COCO matching gives 0.504 ± 0.039 — published as the honest reference.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758184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3758184"/>
            <a:ext cx="82296" cy="1810512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73952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Evidence discipline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73952" y="4288536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Every result row maps to an on-disk artifact path; an in-flight claim must cite a growing log file. No number floats free of its file.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How we know it isn't leakage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label-shuffle test — and what transductive σ-leakage looks like</a:t>
            </a:r>
            <a:endParaRPr lang="en-US" sz="1450" dirty="0"/>
          </a:p>
        </p:txBody>
      </p:sp>
      <p:pic>
        <p:nvPicPr>
          <p:cNvPr id="6" name="Image 0" descr="leakage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10515600" cy="2724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66344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773168"/>
            <a:ext cx="10652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metric.  </a:t>
            </a:r>
            <a:r>
              <a:rPr lang="en-US" sz="13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Re-train with the training-edge signs randomly permuted. A model using only legitimate structure must fall to chance (AUROC ≈ 0.5); one that secretly reads test-edge signs — through the σ-products of cycles that pass through a test edge — stays high.  </a:t>
            </a:r>
            <a:r>
              <a:rPr lang="en-US" sz="13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Gömb collapses to 0.540</a:t>
            </a:r>
            <a:r>
              <a:rPr lang="en-US" sz="13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(strict by construction); early tuned HSiKAN stayed near 0.99, exposing σ-leakage — so the strict cycle pool, enumerated over training edges only, is the honest baseline.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HyMeYOLO: hypergraph convolution in vision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HSiKAN-CR (Catmull–Rom) activation as a hypergraph-convolution primitive on the image's signed graph — shown at parity with ReLU, framed as an approach, not a SOTA claim.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5669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Setup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small detector on Cluttered MNIST, with the HSiKAN-CR basis-function activation swapped in for ReLU at iso-topology.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Result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mAP_50 = 0.903 ± 0.009 over 5 seeds — statistically tied with a ResNet-tiny backbone (a +0.008 win at z≈0.6).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Reading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CR primitive reaches parity with ReLU in a second regime — evidence that it is regime-general, not a signed-graph trick.</a:t>
            </a:r>
            <a:endParaRPr lang="en-US" sz="14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92240" y="160020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29</a:t>
            </a:r>
            <a:endParaRPr lang="en-US"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502920" y="5779008"/>
            <a:ext cx="11201400" cy="566928"/>
          </a:xfrm>
          <a:prstGeom prst="roundRect">
            <a:avLst>
              <a:gd name="adj" fmla="val 12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797296"/>
            <a:ext cx="10789920" cy="53035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50" b="1">
                <a:solidFill>
                  <a:srgbClr val="0E9D6E"/>
                </a:solidFill>
                <a:latin typeface="Bahnschrift"/>
              </a:rPr>
              <a:t>Not a SOTA claim.  </a:t>
            </a:r>
            <a:r>
              <a:rPr sz="1150" b="0">
                <a:solidFill>
                  <a:srgbClr val="201A40"/>
                </a:solidFill>
                <a:latin typeface="Bahnschrift"/>
              </a:rPr>
              <a:t>Honest ladder 0.504 → 0.628 → 0.746 → ResNet-tiny 0.896 → HSiKAN-CR 0.903; HSiKAN-CR ties ResNet-tiny (+0.008, z≈0.6) and FPN adds nothing — the point is regime-general hypergraph convolution.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01A40"/>
                </a:solidFill>
                <a:latin typeface="Futura"/>
              </a:rPr>
              <a:t>HyMeYOLO: detections on Cluttered MNIST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4000"/>
            </a:avLst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Bahnschrift"/>
              </a:rPr>
              <a:t>PART II ·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6B6690"/>
                </a:solidFill>
                <a:latin typeface="Bahnschrift"/>
              </a:rPr>
              <a:t>Input with ground-truth boxes (cyan) vs the + ricci-mod detector's predictions (red / orange, score ≥ 0.30)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6212" y="1591056"/>
            <a:ext cx="4224528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nel_00_see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76" y="1645920"/>
            <a:ext cx="4114800" cy="2057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8212" y="1591056"/>
            <a:ext cx="4224528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nel_01_see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645920"/>
            <a:ext cx="411480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696212" y="3904488"/>
            <a:ext cx="4224528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anel_03_see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076" y="3959352"/>
            <a:ext cx="4114800" cy="2057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68212" y="3904488"/>
            <a:ext cx="4224528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anel_05_see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3959352"/>
            <a:ext cx="4114800" cy="2057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6B6690"/>
                </a:solidFill>
                <a:latin typeface="Bahnschrift"/>
              </a:rPr>
              <a:t>Single-scale detector, honest mAP_50 ≈ 0.90 (Stage-B HSiKAN-CR). The HSiKAN-CR activation localises digits in clutter at parity with a ReLU backbone.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6690"/>
                </a:solidFill>
                <a:latin typeface="Bahnschrif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01A40"/>
                </a:solidFill>
                <a:latin typeface="Futura"/>
              </a:rPr>
              <a:t>Ricci curvature &amp; differential topology in HyMeYOLO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6000"/>
            </a:avLst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Bahnschrift"/>
              </a:rPr>
              <a:t>PART II ·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6B6690"/>
                </a:solidFill>
                <a:latin typeface="Bahnschrift"/>
              </a:rPr>
              <a:t>What “+ ricci-mod” means: the scene graph's discrete geometry and topology, turned into the detector's inductive bias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07568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2075688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1947672"/>
            <a:ext cx="1819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01A40"/>
                </a:solidFill>
                <a:latin typeface="Bahnschrift"/>
              </a:rP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404872"/>
            <a:ext cx="181965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6690"/>
                </a:solidFill>
                <a:latin typeface="Bahnschrift"/>
              </a:rPr>
              <a:t>scene pixels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96896" y="2286000"/>
            <a:ext cx="164592" cy="0"/>
          </a:xfrm>
          <a:prstGeom prst="bentConnector3">
            <a:avLst/>
          </a:prstGeom>
          <a:ln w="25400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79776" y="1691640"/>
            <a:ext cx="207568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79776" y="1691640"/>
            <a:ext cx="2075688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07792" y="1947672"/>
            <a:ext cx="1819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01A40"/>
                </a:solidFill>
                <a:latin typeface="Bahnschrift"/>
              </a:rPr>
              <a:t>Adaptive quadtree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404872"/>
            <a:ext cx="181965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6690"/>
                </a:solidFill>
                <a:latin typeface="Bahnschrift"/>
              </a:rPr>
              <a:t>κ-guided subdivision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73752" y="2286000"/>
            <a:ext cx="164592" cy="0"/>
          </a:xfrm>
          <a:prstGeom prst="bentConnector3">
            <a:avLst/>
          </a:prstGeom>
          <a:ln w="25400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56632" y="1691640"/>
            <a:ext cx="207568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56632" y="1691640"/>
            <a:ext cx="2075688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4648" y="1947672"/>
            <a:ext cx="1819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01A40"/>
                </a:solidFill>
                <a:latin typeface="Bahnschrift"/>
              </a:rPr>
              <a:t>Stimulus hypergraph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404872"/>
            <a:ext cx="181965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6690"/>
                </a:solidFill>
                <a:latin typeface="Bahnschrift"/>
              </a:rPr>
              <a:t>walks · 4-cycles · triangles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50608" y="2286000"/>
            <a:ext cx="164592" cy="0"/>
          </a:xfrm>
          <a:prstGeom prst="bentConnector3">
            <a:avLst/>
          </a:prstGeom>
          <a:ln w="25400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33488" y="1691640"/>
            <a:ext cx="207568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33488" y="1691640"/>
            <a:ext cx="2075688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61504" y="1947672"/>
            <a:ext cx="1819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01A40"/>
                </a:solidFill>
                <a:latin typeface="Bahnschrift"/>
              </a:rPr>
              <a:t>Curvature + Hodge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404872"/>
            <a:ext cx="181965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6690"/>
                </a:solidFill>
                <a:latin typeface="Bahnschrift"/>
              </a:rPr>
              <a:t>Bochner conv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27464" y="2286000"/>
            <a:ext cx="164592" cy="0"/>
          </a:xfrm>
          <a:prstGeom prst="bentConnector3">
            <a:avLst/>
          </a:prstGeom>
          <a:ln w="25400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10344" y="1691640"/>
            <a:ext cx="207568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10344" y="1691640"/>
            <a:ext cx="2075688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38360" y="1947672"/>
            <a:ext cx="1819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01A40"/>
                </a:solidFill>
                <a:latin typeface="Bahnschrift"/>
              </a:rPr>
              <a:t>Detector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404872"/>
            <a:ext cx="181965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6690"/>
                </a:solidFill>
                <a:latin typeface="Bahnschrift"/>
              </a:rPr>
              <a:t>class + bbox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200400"/>
            <a:ext cx="358444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200400"/>
            <a:ext cx="82296" cy="27432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6" y="3346704"/>
            <a:ext cx="31638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201A40"/>
                </a:solidFill>
                <a:latin typeface="Bahnschrift"/>
              </a:rPr>
              <a:t>Forman-Ricci curvature 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803904"/>
            <a:ext cx="3145536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50" b="0" i="0">
                <a:solidFill>
                  <a:srgbClr val="6B6690"/>
                </a:solidFill>
                <a:latin typeface="Bahnschrift"/>
              </a:rPr>
              <a:t>κ(e) = 2 − deg(u) − deg(v) + 2|Δ(u,v)|.  Negative κ marks a bottleneck edge, positive κ a dense, clique-like region. It guides quadtree subdivision and weights the hypergraph convolution.</a:t>
            </a:r>
          </a:p>
        </p:txBody>
      </p:sp>
      <p:pic>
        <p:nvPicPr>
          <p:cNvPr id="34" name="Picture 33" descr="forman_kap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17720"/>
            <a:ext cx="3200400" cy="1589215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4315968" y="3200400"/>
            <a:ext cx="358444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15968" y="3200400"/>
            <a:ext cx="82296" cy="27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35424" y="3346704"/>
            <a:ext cx="31638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201A40"/>
                </a:solidFill>
                <a:latin typeface="Bahnschrift"/>
              </a:rPr>
              <a:t>Hodge decomposition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5424" y="3803904"/>
            <a:ext cx="3145536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50" b="0" i="0">
                <a:solidFill>
                  <a:srgbClr val="6B6690"/>
                </a:solidFill>
                <a:latin typeface="Bahnschrift"/>
              </a:rPr>
              <a:t>Signed boundaries ∂₁, ∂₂ with ∂₁∂₂ = 0 yield Hodge Laplacians Δ₀, Δ₁, Δ₂. Δ₁ splits the signed edge-flow into gradient + curl + harmonic — and the harmonic part is the graph's 1-homology: its independent cycles (the holes). ∂² = 0 is what makes the (co)homology well-defined.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9016" y="3200400"/>
            <a:ext cx="358444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29016" y="3200400"/>
            <a:ext cx="82296" cy="2743200"/>
          </a:xfrm>
          <a:prstGeom prst="rect">
            <a:avLst/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48472" y="3346704"/>
            <a:ext cx="31638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201A40"/>
                </a:solidFill>
                <a:latin typeface="Bahnschrift"/>
              </a:rPr>
              <a:t>SDRF — discrete Ricci 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2" y="3803904"/>
            <a:ext cx="3145536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50" b="0" i="0">
                <a:solidFill>
                  <a:srgbClr val="6B6690"/>
                </a:solidFill>
                <a:latin typeface="Bahnschrift"/>
              </a:rPr>
              <a:t>Stochastic Discrete Ricci Flow (Topping et al., 2022): rewire the most strongly negative-curvature edges with signed shortcuts to relieve over-squashing, iterating until the minimum κ clears a target. Discrete Ricci flow as graph surgery.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6B6690"/>
                </a:solidFill>
                <a:latin typeface="Bahnschrift"/>
              </a:rPr>
              <a:t>All three are deterministic geometric / topological invariants of the scene graph — the structural prior, made differential-geometric.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6690"/>
                </a:solidFill>
                <a:latin typeface="Bahnschrif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bridge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Framework and science are one idea seen at two altitudes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773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" y="215798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.hymeko structure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robot · trust graph · neural dataflow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2400300"/>
            <a:ext cx="201168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47288" y="16459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30168" y="1773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8D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48456" y="215798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Hypergraph IR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48456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Blake3 identity · star expansion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2400300"/>
            <a:ext cx="201168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27648" y="16459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0E9D6E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10528" y="1773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D6E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28816" y="215798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Sparse incidence tensor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28816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O(|E|·d), zero-copy to PyTorch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70264" y="2400300"/>
            <a:ext cx="201168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08008" y="16459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90888" y="1773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8D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09176" y="215798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Structural-prior model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409176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cycles &amp; walks → KAN activations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3611880"/>
            <a:ext cx="6446520" cy="2194560"/>
          </a:xfrm>
          <a:prstGeom prst="roundRect">
            <a:avLst>
              <a:gd name="adj" fmla="val 333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3794760"/>
            <a:ext cx="5989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DSL describes the robot and the network that reasons about it.
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hypergraph that the framework compiles is the same hypergraph whose cycles the model learns from — and the same kinematic structure HSiKAN predicts from graph topology alone.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948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Live demo · HSiKAN graph-only kinematics vs MuJoCo (~5 cm L2)</a:t>
            </a:r>
            <a:endParaRPr lang="en-US" sz="1050" dirty="0"/>
          </a:p>
        </p:txBody>
      </p:sp>
      <p:pic>
        <p:nvPicPr>
          <p:cNvPr id="26" name="Image 0" descr="mujoco_sti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3639312"/>
            <a:ext cx="3246120" cy="2432304"/>
          </a:xfrm>
          <a:prstGeom prst="rect">
            <a:avLst/>
          </a:prstGeom>
        </p:spPr>
      </p:pic>
      <p:pic>
        <p:nvPicPr>
          <p:cNvPr id="27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82128" y="3639312"/>
            <a:ext cx="3246120" cy="243230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Contributions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9961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DSL + Rust compiler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declarative hypergraph language with a SIMD-lexed, LALRPOP-parsed pipeline to a hashed hypergraph IR.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280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44568" y="150876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4456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47488" y="149961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Star-expansion zero-copy pipeline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44568" y="22402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 O(|E|·d) incidence path that streams hypergraphs into PyTorch with sub-100-µs, topology-gated updates.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9016" y="1280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57616" y="150876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5761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0536" y="149961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Query-driven codegen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57616" y="22402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query+template mechanism emits URDF, SDF, MJCF, DOT, ROS 2 launch and torch modules — no recompile.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50215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730752"/>
            <a:ext cx="384048" cy="38404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7216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Structural-prior model family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44622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SignedKAN / HSiKAN / Gömb: cycle-pool priors with KAN activations at SOTA-range AUC and lean parameters.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15968" y="350215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44568" y="3730752"/>
            <a:ext cx="384048" cy="38404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44568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47488" y="37216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Honest-protocol methodology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44568" y="44622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Label-shuffle leakage audits, 5-seed paired significance, and artifact-backed evidence discipline.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29016" y="350215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57616" y="3730752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57616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60536" y="37216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unified substrate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357616" y="44622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same hypergraph IR underlies both the engineering and the learning — structure as a first-class prior.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2103120"/>
            <a:ext cx="0" cy="0"/>
          </a:xfrm>
          <a:prstGeom prst="line">
            <a:avLst/>
          </a:prstGeom>
          <a:noFill/>
          <a:ln w="28575">
            <a:solidFill>
              <a:srgbClr val="5FD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424160" y="2103120"/>
            <a:ext cx="998982" cy="578358"/>
          </a:xfrm>
          <a:prstGeom prst="line">
            <a:avLst/>
          </a:prstGeom>
          <a:noFill/>
          <a:ln w="28575">
            <a:solidFill>
              <a:srgbClr val="5FD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424160" y="2103120"/>
            <a:ext cx="0" cy="578358"/>
          </a:xfrm>
          <a:prstGeom prst="line">
            <a:avLst/>
          </a:prstGeom>
          <a:noFill/>
          <a:ln w="28575">
            <a:solidFill>
              <a:srgbClr val="5FD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346436" y="973836"/>
            <a:ext cx="155448" cy="15544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345418" y="2603754"/>
            <a:ext cx="155448" cy="15544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47454" y="2603754"/>
            <a:ext cx="155448" cy="15544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314432" y="1993392"/>
            <a:ext cx="219456" cy="219456"/>
          </a:xfrm>
          <a:prstGeom prst="ellipse">
            <a:avLst/>
          </a:prstGeom>
          <a:solidFill>
            <a:srgbClr val="5FD0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509760" y="4754880"/>
            <a:ext cx="0" cy="0"/>
          </a:xfrm>
          <a:prstGeom prst="line">
            <a:avLst/>
          </a:prstGeom>
          <a:noFill/>
          <a:ln w="28575">
            <a:solidFill>
              <a:srgbClr val="6FA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09760" y="4754880"/>
            <a:ext cx="694944" cy="402336"/>
          </a:xfrm>
          <a:prstGeom prst="line">
            <a:avLst/>
          </a:prstGeom>
          <a:noFill/>
          <a:ln w="28575">
            <a:solidFill>
              <a:srgbClr val="6FA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509760" y="4754880"/>
            <a:ext cx="0" cy="402336"/>
          </a:xfrm>
          <a:prstGeom prst="line">
            <a:avLst/>
          </a:prstGeom>
          <a:noFill/>
          <a:ln w="28575">
            <a:solidFill>
              <a:srgbClr val="6FA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432036" y="3945636"/>
            <a:ext cx="155448" cy="15544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126980" y="5079492"/>
            <a:ext cx="155448" cy="15544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737092" y="5079492"/>
            <a:ext cx="155448" cy="15544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400032" y="4645152"/>
            <a:ext cx="219456" cy="219456"/>
          </a:xfrm>
          <a:prstGeom prst="ellipse">
            <a:avLst/>
          </a:prstGeom>
          <a:solidFill>
            <a:srgbClr val="6FA0F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Conclusion &amp; outlook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2960" y="1600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is one hypergraph substrate with two payoffs: a production-grade Rust framework for representing and transforming hypergraphs, and a family of structural-prior models that turn a graph's own cycles into an inductive bias.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Open directions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38328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σ-masked strict protocol that fixes the over-aggressive filter artifact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under-explored above-1.0 Ricci-modulation regime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Round-trip codegen: compile a .hymeko architecture straight to a torch.nn module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Broader transform targets and larger signed-graph corpora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41248" y="5440680"/>
            <a:ext cx="7589520" cy="0"/>
          </a:xfrm>
          <a:prstGeom prst="line">
            <a:avLst/>
          </a:prstGeom>
          <a:noFill/>
          <a:ln w="12700">
            <a:solidFill>
              <a:srgbClr val="E4D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Thank you — questions welcome.    </a:t>
            </a: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Csaba Hajdu · Kato Laboratory seminar · June 2026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4260</Words>
  <Application>Microsoft Office PowerPoint</Application>
  <PresentationFormat>Szélesvásznú</PresentationFormat>
  <Paragraphs>538</Paragraphs>
  <Slides>34</Slides>
  <Notes>27</Notes>
  <HiddenSlides>0</HiddenSlides>
  <MMClips>1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34</vt:i4>
      </vt:variant>
    </vt:vector>
  </HeadingPairs>
  <TitlesOfParts>
    <vt:vector size="39" baseType="lpstr">
      <vt:lpstr>Arial</vt:lpstr>
      <vt:lpstr>Bahnschrift</vt:lpstr>
      <vt:lpstr>Consolas</vt:lpstr>
      <vt:lpstr>Futura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HyMeKo — A Hypergraph Model Cognition Framework</dc:title>
  <dc:subject>PptxGenJS Presentation</dc:subject>
  <dc:creator>Csaba Hajdu</dc:creator>
  <cp:lastModifiedBy>Hajdu Csaba</cp:lastModifiedBy>
  <cp:revision>3</cp:revision>
  <dcterms:created xsi:type="dcterms:W3CDTF">2026-06-09T17:50:31Z</dcterms:created>
  <dcterms:modified xsi:type="dcterms:W3CDTF">2026-06-15T07:00:44Z</dcterms:modified>
</cp:coreProperties>
</file>